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s. Abertura: 'Vou contar como saímos de uma enzima do intestino de uma lagarta até peptídeos candidatos ordenados — e, principalmente, o que cada número desse caminho sustenta e o que não sustenta.'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s. Gancho. Dizer os dois números grandes e deixar a imagem falar. Não afirmar perda percentual: a literatura consultada não dá um número único de perda para A. gemmatalis.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s. Transição para o alvo. Ser explícito: não estou dizendo que a lagarta já é resistente ao Bt; estou dizendo que as duas táticas atuais carregam custo de manejo. Slide de corte se o tempo apertar.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Explicar, para quem é leigo: a tripsina corta proteína sempre depois de uma lisina ou de uma arginina, porque o bolso S1 tem um aspartato negativo no fundo que atrai essas duas cadeias laterais positivas. Guardar esse fato: ele é o nó da história.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s. O ponto: existe um vão entre a proteína grande que funciona e o peptídeo curto que é barato de produzir. Potência milimolar é fraca — mil vezes mais fraca que um inibidor micromolar.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CLÍMAX DA TENSÃO — falar devagar. Resistir à digestão e ancorar no alvo puxam em sentidos opostos. Um peptídeo clivado no intestino não chega ao alvo. Pausa aqui antes de virar para a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A VIRADA e a mensagem central da palestra. Uma linha por etapa. Frisar: a mesma plataforma roda para as oito espécies, e cada etapa é calibrada antes de ser usada.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O resultado que importa: o escore separa dentro do par, mas não como limiar absoluto — uma isca embaralhada do SFTI-1 chegou a 0,944. Por isso, adiante, cada candidato é comparado com controles pareados contra o mesmo receptor, e nunca lido como 'confiança 0,9 = liga'.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Dizer o que cada ferramenta faz em uma linha. O número que fica: 97,6% do que a IA desenhou é descartado por uma regra biológica, não por um escore.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s. É a consequência direta do paradoxo do slide 6: proibir os resíduos que a enzima corta é proibir justamente os que ancoram melhor. Slide de corte se o tempo apertar.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Autocrítica honesta da plataforma: a simulação de 10 ns verifica se uma pose já proposta sobrevive; ela não dá tempo para o peptídeo achar o bolso. Por isso a ocupância deixou de ser critério e passou a ser descrição.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s. Ponto delicado: a variação entre duas execuções do mesmo pH é do mesmo tamanho que a variação entre os dois pH. Então nenhuma mudança pode ser lida como efeito do pH. NGGRPDAP e GGKPGEP são os únicos que repetem.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Apresentar os quatro. Destacar os dois de A. gemmatalis: NGGRPDAP, linear, com arginina em S1 seguida de prolina, e GGKPGEP, cíclico, com lisina e a menor distância final ao Asp189 (2,71 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s. Fechamento do arco do slide 6: o paradoxo tem uma saída, e ela é geométrica. Ressalva obrigatória: a clivagem antes de prolina é mais lenta, não ausente, e o critério aqui é geométrico, não cinético. A aminopeptidase N continua sendo um furo no peptídeo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s. Take-home: a plataforma existe, roda e é transferível para outro alvo. Terminar na frase: 'um candidato só interessa se o Ki medido nas mesmas condições ficar abaixo da faixa milimolar do GORE2, ou se ele persistir mais tempo no extrato de intestino.' Agradecer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1481328"/>
            <a:ext cx="2011680" cy="508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847088"/>
            <a:ext cx="9692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1F2328"/>
                </a:solidFill>
                <a:latin typeface="Segoe UI"/>
              </a:rPr>
              <a:t>Desenho Racional de Inibidores</a:t>
            </a:r>
          </a:p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1F2328"/>
                </a:solidFill>
                <a:latin typeface="Segoe UI"/>
              </a:rPr>
              <a:t>Peptídicos de Tripsinas contra</a:t>
            </a:r>
          </a:p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1F2328"/>
                </a:solidFill>
                <a:latin typeface="Segoe UI"/>
              </a:rPr>
              <a:t>Lepidoptera por Inteligência</a:t>
            </a:r>
          </a:p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1F2328"/>
                </a:solidFill>
                <a:latin typeface="Segoe UI"/>
              </a:rPr>
              <a:t>Artificial 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49884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A5F66"/>
                </a:solidFill>
                <a:latin typeface="Segoe UI"/>
              </a:rPr>
              <a:t>Da tripsina digestiva ao peptídeo candidato ordenado: uma plataforma computacional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21808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Eulálio Santos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Universidade Federal de Viçosa  ·  eulalio.santos@ufv.br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01023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A9097"/>
                </a:solidFill>
                <a:latin typeface="Segoe UI"/>
              </a:rPr>
              <a:t>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A soja brasileira bateu recorde — e a lagarta come a folha antes da colheita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fol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3392"/>
            <a:ext cx="4776107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7979" y="2029968"/>
            <a:ext cx="544048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072B2"/>
                </a:solidFill>
                <a:latin typeface="Segoe UI"/>
              </a:rPr>
              <a:t>180,4 milhões de toneladas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7979" y="2615184"/>
            <a:ext cx="54404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5F66"/>
                </a:solidFill>
                <a:latin typeface="Segoe UI"/>
              </a:rPr>
              <a:t>de soja na safra 2025/26, a maior da série da Conab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7979" y="3310128"/>
            <a:ext cx="544048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072B2"/>
                </a:solidFill>
                <a:latin typeface="Segoe UI"/>
              </a:rPr>
              <a:t>metade da soja do mundo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7979" y="3895344"/>
            <a:ext cx="54404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5F66"/>
                </a:solidFill>
                <a:latin typeface="Segoe UI"/>
              </a:rPr>
              <a:t>é produzida na América do Sul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7979" y="4626864"/>
            <a:ext cx="544048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1F2328"/>
                </a:solidFill>
                <a:latin typeface="Segoe UI"/>
              </a:rPr>
              <a:t>A lagarta-da-soja </a:t>
            </a:r>
            <a:r>
              <a:rPr sz="1500" i="1">
                <a:solidFill>
                  <a:srgbClr val="1F2328"/>
                </a:solidFill>
                <a:latin typeface="Segoe UI"/>
              </a:rPr>
              <a:t>Anticarsia gemmatalis</a:t>
            </a:r>
            <a:r>
              <a:rPr sz="1500" i="0">
                <a:solidFill>
                  <a:srgbClr val="1F2328"/>
                </a:solidFill>
                <a:latin typeface="Segoe UI"/>
              </a:rPr>
              <a:t> está entre os principais desfolhadores das Américas, e a desfolha pode ser total em alta infestação.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Conab, set. 2026  ·  Carpane et al. 2022, PLOS ONE 17:e0271084  ·  imagem ilustrativa gerada por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O controle depende de Bt e de inseticida, e os dois exigem manejo de resistência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A5F66"/>
                </a:solidFill>
                <a:latin typeface="Segoe UI"/>
              </a:rPr>
              <a:t>É aí que entra uma terceira via: atacar a digestão da própria lagarta.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788920"/>
            <a:ext cx="3283610" cy="3175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035808"/>
            <a:ext cx="32836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55E00"/>
                </a:solidFill>
                <a:latin typeface="Segoe UI"/>
              </a:rPr>
              <a:t>Inseticida químico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21024"/>
            <a:ext cx="328361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Afeta organismos não alvo, pode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provocar surtos de pragas 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seleciona populações resistentes.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4042" y="2788920"/>
            <a:ext cx="3283610" cy="3175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4042" y="3035808"/>
            <a:ext cx="32836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55E00"/>
                </a:solidFill>
                <a:latin typeface="Segoe UI"/>
              </a:rPr>
              <a:t>Soja Bt (Cry1Ac)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042" y="3621024"/>
            <a:ext cx="328361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Evento de alta dose para a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lagarta-da-soja, mas depende de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refúgio e de plano de manejo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para durar.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4852" y="2788920"/>
            <a:ext cx="3283610" cy="3175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4852" y="3035808"/>
            <a:ext cx="32836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72B2"/>
                </a:solidFill>
                <a:latin typeface="Segoe UI"/>
              </a:rPr>
              <a:t>Inibidores de protease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3621024"/>
            <a:ext cx="328361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Inibidores vegetais reduzem a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sobrevivência larval, mas a lagarta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se adapta induzindo proteases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insensíveis.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Ongaratto et al. 2021  ·  Jongsma et al. 1995  ·  sem relato de resistência de campo desta espécie ao Cry1Ac no Brasil em 2025–2026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A digestão da lagarta depende de tripsinas num intestino fortemente alcalino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l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96884"/>
            <a:ext cx="10765231" cy="42986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Dow 1992  ·  Perona &amp; Craik 1995  ·  Hedstrom 2002  ·  dados do painel: Tabelas 1 e S2 do manuscrito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Inibidores naturais funcionam, mas são proteínas grandes — e os peptídeos curtos são fracos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37937"/>
            <a:ext cx="10765231" cy="3816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Almeida Barbosa et al. 2021 (GORE1, GORE2)  ·  Mariano et al. 2026 (peptídeos da pró-região)  ·  faixas de comprimento: Seção 4.2 do manuscrito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E aqui está o nó: o resíduo que ancora é o resíduo que a enzima corta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parad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11591"/>
            <a:ext cx="10765231" cy="4069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Laskowski &amp; Kato 1980  ·  Laskowski &amp; Qasim 2000  ·  Perona &amp; Craik 1995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Montamos uma plataforma de seis etapas, do receptor ao candidato ordenado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A5F66"/>
                </a:solidFill>
                <a:latin typeface="Segoe UI"/>
              </a:rPr>
              <a:t>A não clivabilidade entra como exigência binária, não como critério desejável.</a:t>
            </a:r>
          </a:p>
        </p:txBody>
      </p:sp>
      <p:pic>
        <p:nvPicPr>
          <p:cNvPr id="6" name="Picture 5" descr="fig_platafo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91276"/>
            <a:ext cx="10765231" cy="333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1 do manuscrito  ·  nenhum ensaio enzimático e nenhuma contrasseleção contra proteases não alvo foram feitos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Etapa 2: antes de confiar no escore, calibramos com inibidores reais e iscas embaralhadas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A5F66"/>
                </a:solidFill>
                <a:latin typeface="Segoe UI"/>
              </a:rPr>
              <a:t>O Boltz-2 é uma rede neural que prediz o complexo e devolve uma confiança — não uma afinidade.</a:t>
            </a:r>
          </a:p>
        </p:txBody>
      </p:sp>
      <p:pic>
        <p:nvPicPr>
          <p:cNvPr id="6" name="Picture 5" descr="fig_calib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297" y="2212848"/>
            <a:ext cx="7355101" cy="4096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2 e Tabela 2 do manuscrito  ·  o ApTI entrou na calibração sem isca pareada  ·  duas execuções com entrada idêntica correlacionam só ρ = 0,57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Etapas 3 e 4: de 22.066 sequências desenhadas sobram 527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A5F66"/>
                </a:solidFill>
                <a:latin typeface="Segoe UI"/>
              </a:rPr>
              <a:t>RFdiffusion desenhou 880 esqueletos; o ProteinMPNN escreveu as sequências; o critério duro removeu todas que têm um resíduo que o intestino corta.</a:t>
            </a:r>
          </a:p>
        </p:txBody>
      </p:sp>
      <p:pic>
        <p:nvPicPr>
          <p:cNvPr id="6" name="Picture 5" descr="fig_fun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99368"/>
            <a:ext cx="10765231" cy="3923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3 do manuscrito  ·  critério duro: nenhum dos nove resíduos que as proteases do intestino assumem em P1 (K, R, F, Y, W, L, M, A, 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O preço do filtro: sobram peptídeos curtos e quase metade glicina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7432"/>
            <a:ext cx="10765231" cy="4437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S3 do manuscrito  ·  dos 4.060 resíduos da frente L, só nove são lisina ou arginina (0,22%), cada um deles seguido de prolina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Etapa 5: as simulações mostraram que quem fica no bolso é quem já começou dentro dele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A5F66"/>
                </a:solidFill>
                <a:latin typeface="Segoe UI"/>
              </a:rPr>
              <a:t>48 complexos, 10 ns cada, uma execução por pH.</a:t>
            </a:r>
          </a:p>
        </p:txBody>
      </p:sp>
      <p:pic>
        <p:nvPicPr>
          <p:cNvPr id="6" name="Picture 5" descr="fig_pose_dec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80" y="2011680"/>
            <a:ext cx="857693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5 do manuscrito  ·  teste exato de Fisher, P = 7 × 10⁻⁵  ·  a âncora é definida post hoc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Entre pH 8,2 e pH 10,0 não há diferença — e só dois peptídeos repetem o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A5F66"/>
                </a:solidFill>
                <a:latin typeface="Segoe UI"/>
              </a:rPr>
              <a:t>O intestino da lagarta é alcalino, mas o ensaio enzimático roda em pH 8,2: o candidato precisa funcionar na faixa inteira.</a:t>
            </a:r>
          </a:p>
        </p:txBody>
      </p:sp>
      <p:pic>
        <p:nvPicPr>
          <p:cNvPr id="6" name="Picture 5" descr="fig_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760" y="2212848"/>
            <a:ext cx="7636174" cy="409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7 do manuscrito  ·  Wilcoxon pareado, n = 48  ·  repetir no mesmo pH já mudou a ocupância em mais de 0,5 em 3 de 16 pares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Etapa 6: quatro peptídeos sobreviveram a todos os filtros disponíveis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p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57" y="1783080"/>
            <a:ext cx="829818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8 do manuscrito  ·  poses iniciais preditas pelo Boltz-2  ·  nenhum deles carrega alegação de seletividade ou de atividade inibitória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A prolina depois da lisina ou da arginina protege o sítio nas simulações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A5F66"/>
                </a:solidFill>
                <a:latin typeface="Segoe UI"/>
              </a:rPr>
              <a:t>Um controle embaralhado com a mesma composição do NGGRPDAP dá a linha de base interna.</a:t>
            </a:r>
          </a:p>
        </p:txBody>
      </p:sp>
      <p:pic>
        <p:nvPicPr>
          <p:cNvPr id="6" name="Picture 5" descr="fig_cliv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78" y="2011680"/>
            <a:ext cx="839753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Figura S11 do manuscrito  ·  os dois ocupam S1 igualmente (1,00) e diferem só no resíduo seguinte  ·  não é uma taxa de clivagem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A plataforma entrega candidatos ordenados; quem decide se eles funcionam é o ensaio enzimático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sa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213" y="2148840"/>
            <a:ext cx="428625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057400"/>
            <a:ext cx="59760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72B2"/>
                </a:solidFill>
                <a:latin typeface="Segoe UI"/>
              </a:rPr>
              <a:t>O que a plataforma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597606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Um caminho reprodutível de oito tripsinas até peptídeos</a:t>
            </a:r>
          </a:p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ordenados, com a não clivabilidade como exigência</a:t>
            </a:r>
          </a:p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explícita e cada escore calibrado antes de ser usado.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13632"/>
            <a:ext cx="59760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55E00"/>
                </a:solidFill>
                <a:latin typeface="Segoe UI"/>
              </a:rPr>
              <a:t>O que ela ainda não diz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343400"/>
            <a:ext cx="597606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Tudo é computacional. Não houve ensaio de inibição, de</a:t>
            </a:r>
          </a:p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estabilidade nem contrasseleção contra proteases não alvo.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02352"/>
            <a:ext cx="59760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A9D8F"/>
                </a:solidFill>
                <a:latin typeface="Segoe UI"/>
              </a:rPr>
              <a:t>O próximo passo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04688"/>
            <a:ext cx="597606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Inibição e estabilidade em extrato de intestino de </a:t>
            </a:r>
            <a:r>
              <a:rPr sz="1450" i="1">
                <a:solidFill>
                  <a:srgbClr val="1F2328"/>
                </a:solidFill>
                <a:latin typeface="Segoe UI"/>
              </a:rPr>
              <a:t>A. gemmatalis</a:t>
            </a:r>
            <a:r>
              <a:rPr sz="1450" i="0">
                <a:solidFill>
                  <a:srgbClr val="1F2328"/>
                </a:solidFill>
                <a:latin typeface="Segoe UI"/>
              </a:rPr>
              <a:t>, com o GORE2 como controle positivo.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1012515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9097"/>
                </a:solidFill>
                <a:latin typeface="Segoe UI"/>
              </a:rPr>
              <a:t>github.com/eulaliobqi/design-inibidores  ·  eulalio.santos@ufv.br  ·  imagem ilustrativa gerada por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