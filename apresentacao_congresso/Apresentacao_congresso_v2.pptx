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4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85" autoAdjust="0"/>
  </p:normalViewPr>
  <p:slideViewPr>
    <p:cSldViewPr snapToGrid="0" snapToObjects="1">
      <p:cViewPr varScale="1">
        <p:scale>
          <a:sx n="93" d="100"/>
          <a:sy n="93" d="100"/>
        </p:scale>
        <p:origin x="123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93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15 s. Vou contar como saímos da enzima digestiva de uma lagarta até peptídeos candidatos ordenados, e o que cada número desse caminho sustenta.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Savary 2019: estimativa de especialistas para pragas e patógenos juntos, 21,4% (11,0 a 32,4%) na soja. Oliveira 2014: todas as culturas e todos os insetos, não só lagartas: US$ 17,7 bilhões/ano e 7,7% da produção. Carpane 2022: lepidópteros são fatores limitantes da produtividade da soja na América do Sul. Não afirmar um percentual de perda só por lagartas: a literatura consultada não dá um número único.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35 s. O foco é o problema do manejo. Ser explícito: não estou afirmando que a lagarta-da-soja já é resistente ao Cry1Ac; estou dizendo que as duas táticas carregam custo de manejo (seleção, refúgio) e que, segundo Carpane 2022, as Spodoptera desfolham também a soja Bt IPRO.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Mostrar as três estruturas reais do PDB na mesma escala: o SFTI-1 do girassol tem 14 resíduos e é cíclico; o Bowman-Birk da soja tem 71; o Kunitz da soja tem 172. As larvas se adaptam a inibidores vegetais, induzindo proteases insensíveis (Jongsma 1995): por isso interessa o peptídeo curto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Explicar para leigos: a tripsina corta a proteína depois de lisina ou arginina porque o fundo do bolso S1 tem um aspartato negativo. O inibidor canônico usa o mesmo encaixe, mas a ligação dele resiste ao corte. Guardar este fato: ele é o nó do desenho (o que ancora é o que a enzima corta).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Resultados do grupo com o peptídeo GORE3: esquema do experimento (plantas tratadas, lagartas alimentadas, inibição digestiva, estresse oxidativo, dano celular e queda da sobrevivência), curva de sobrevivência (GORE3 abaixo do controle, da benzamidina e do SKTI) e pupas. Confirmar espécie, concentração e referência da publicação desta figura.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30 s. Três objetivos, na ordem do que será mostrado: alvo, geração com filtro, simulação e ordenação. Frente L = peptídeo linear; frente M = peptídeo cíclico cabeça-cauda. Dois pH: 10,0 (intestino) e 8,2 (ensaio).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Percorrer o fluxo da esquerda para a direita. Mapear o alvo e calibrar; gerar esqueletos com RFdiffusion; escrever sequências com ProteinMPNN; filtrar por regra (nenhum resíduo que as proteases do intestino cortam em P1). O que sobra é lido de duas formas químicas: frente L (linear) e frente M (cíclica). Cada frente leva 24 candidatos a simulação de 10 ns em dois pH e a um ranking por MM-GBSA e PRODIGY.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Números resumidos, sem figuras ainda. Dez receptores (oito alvos e duas referências), 20 de 20 pares receptor–molde aceitos. 880 esqueletos; 22.066 sequências únicas; o critério duro deixou 527 lineares e 543 cíclicas (cerca de 2,4%). Escolhemos 24 por frente para simular; 48 complexos x 2 pH = 96 simulações de 10 ns; quatro candidatos sobreviveram a todos os filtros disponíveis.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45 s. O Boltz-2 devolve uma confiança, não uma afinidade. Comparamos seis inibidores reais com iscas embaralhadas da mesma composição: o real ganhou em 10 de 10 pares, mas as faixas absolutas se sobrepõem; uma isca chegou a 0,944. Por isso, daqui em diante, cada candidato é comparado a controles pareados no mesmo receptor. Critérios: K, R, F, Y, W, L, M, A, V proibidos em P1 (tripsina, quimotripsina/elastase) e sem cisteína. Frentes restantes: 527 lineares e 543 cíclicas.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Por que passaram: a regra proíbe os nove resíduos que as proteases do intestino assumem em P1, sobram resíduos pequenos (glicina, serina, prolina, treonina, aspartato). É o preço do filtro: ao proibir K e R, proíbe-se justamente o resíduo que melhor ancora em S1. Os poucos K/R que restam (0,22%) vêm protegidos por uma prolina seguinte, que é só uma barreira estatística, não proteção absoluta.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Frentes L (linear) e M (cíclica) e dois pH, 24 simulações em cada barra. No pH 10,0, 5 de 48 mantêm S1 (2 lineares, 3 cíclicas); no pH 8,2, 6 de 48 (1 linear, 5 cíclicas). A pose inicial decide: 5 de 9 que partiram a até 4 Å contra 0 de 39 mais longe. 10 ns verificam se uma pose sobrevive; não dão tempo de achar o bolso. Entre os pH não há diferença em nenhum teste pareado, e só dois peptídeos repetem S1 nos dois. Repetir a mesma simulação já muda a ocupância em mais de 0,5 em 3 de 16 pares: uma execução não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50 s. Dois candidatos por frente. NGGRPDAP (linear, A. gemmatalis): Arg em S1 seguida de prolina, com salt bridge a Asp189 em 100% dos quadros finais, MM-GBSA mais favorável das 48 simulações de pH 8,2. GQNDS (linear, O. nubilalis): ancora em Gln, mantém S1 em pH 10,0, mas não no pH 8,2 da execução principal (0,04) e só em parte na repetição (0,73). GGKPGEP (cíclico, A. gemmatalis): Lys em S1 seguida de prolina, menor distância final ao Asp189, 2,71 Å; anel abaixo do limite estrito de ω em pH 10,0. GGHSE (cíclico, S. frugiperda): única simulação de pH 10,0 que combinou ocupância com anel estrito; saiu de S1 no pH 8,2 (0,00) e voltou na repetição (0,88). Contatos: ligações de hidrogênio e pontes salinas ≥ 70% dos quadros de 8 a 10 ns (pH 10,0). Nenhum candidato carrega alegação de seletividade ou atividade.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 s. Clique no vídeo para tocar (5 s). Cada quadro é um instante real da simulação, sem interpolação; o receptor está fixo. O GIF equivalente está na pasta imagens/ caso o vídeo não 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40 s. Mensagem final. A plataforma existe, roda para oito espécies e é transferível a outro alvo. Entrega quatro candidatos ordenados, sem alegação de atividade nem de seletividade. O próximo passo é enzimático: um candidato só interessa se o Ki medido nas mesmas condições ficar abaixo da faixa milimolar do GORE2, ou se persistir mais tempo no extrato de intestino.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tiff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3232" y="1481328"/>
            <a:ext cx="2011680" cy="508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1847088"/>
            <a:ext cx="969264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1F2328"/>
                </a:solidFill>
                <a:latin typeface="Segoe UI"/>
              </a:rPr>
              <a:t>Desenho</a:t>
            </a:r>
            <a:r>
              <a:rPr sz="3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3500" b="1" i="0" dirty="0" err="1">
                <a:solidFill>
                  <a:srgbClr val="1F2328"/>
                </a:solidFill>
                <a:latin typeface="Segoe UI"/>
              </a:rPr>
              <a:t>Racional</a:t>
            </a:r>
            <a:r>
              <a:rPr sz="3500" b="1" i="0" dirty="0">
                <a:solidFill>
                  <a:srgbClr val="1F2328"/>
                </a:solidFill>
                <a:latin typeface="Segoe UI"/>
              </a:rPr>
              <a:t> de </a:t>
            </a:r>
            <a:r>
              <a:rPr sz="3500" b="1" i="0" dirty="0" err="1">
                <a:solidFill>
                  <a:srgbClr val="1F2328"/>
                </a:solidFill>
                <a:latin typeface="Segoe UI"/>
              </a:rPr>
              <a:t>Inibidores</a:t>
            </a:r>
            <a:endParaRPr sz="3500" b="1" i="0" dirty="0">
              <a:solidFill>
                <a:srgbClr val="1F2328"/>
              </a:solidFill>
              <a:latin typeface="Segoe UI"/>
            </a:endParaRPr>
          </a:p>
          <a:p>
            <a:pPr algn="l">
              <a:lnSpc>
                <a:spcPct val="112000"/>
              </a:lnSpc>
            </a:pPr>
            <a:r>
              <a:rPr sz="3500" b="1" i="0" dirty="0" err="1">
                <a:solidFill>
                  <a:srgbClr val="1F2328"/>
                </a:solidFill>
                <a:latin typeface="Segoe UI"/>
              </a:rPr>
              <a:t>Peptídicos</a:t>
            </a:r>
            <a:r>
              <a:rPr sz="3500" b="1" i="0" dirty="0">
                <a:solidFill>
                  <a:srgbClr val="1F2328"/>
                </a:solidFill>
                <a:latin typeface="Segoe UI"/>
              </a:rPr>
              <a:t> de </a:t>
            </a:r>
            <a:r>
              <a:rPr sz="3500" b="1" i="0" dirty="0" err="1">
                <a:solidFill>
                  <a:srgbClr val="1F2328"/>
                </a:solidFill>
                <a:latin typeface="Segoe UI"/>
              </a:rPr>
              <a:t>Tripsinas</a:t>
            </a:r>
            <a:r>
              <a:rPr sz="3500" b="1" i="0" dirty="0">
                <a:solidFill>
                  <a:srgbClr val="1F2328"/>
                </a:solidFill>
                <a:latin typeface="Segoe UI"/>
              </a:rPr>
              <a:t> contra</a:t>
            </a:r>
          </a:p>
          <a:p>
            <a:pPr algn="l">
              <a:lnSpc>
                <a:spcPct val="112000"/>
              </a:lnSpc>
            </a:pPr>
            <a:r>
              <a:rPr sz="3500" b="1" i="0" dirty="0">
                <a:solidFill>
                  <a:srgbClr val="1F2328"/>
                </a:solidFill>
                <a:latin typeface="Segoe UI"/>
              </a:rPr>
              <a:t>Lepidoptera </a:t>
            </a:r>
            <a:r>
              <a:rPr sz="3500" b="1" i="0" dirty="0" err="1">
                <a:solidFill>
                  <a:srgbClr val="1F2328"/>
                </a:solidFill>
                <a:latin typeface="Segoe UI"/>
              </a:rPr>
              <a:t>por</a:t>
            </a:r>
            <a:r>
              <a:rPr sz="3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3500" b="1" i="0" dirty="0" err="1">
                <a:solidFill>
                  <a:srgbClr val="1F2328"/>
                </a:solidFill>
                <a:latin typeface="Segoe UI"/>
              </a:rPr>
              <a:t>Inteligência</a:t>
            </a:r>
            <a:endParaRPr sz="3500" b="1" i="0" dirty="0">
              <a:solidFill>
                <a:srgbClr val="1F2328"/>
              </a:solidFill>
              <a:latin typeface="Segoe UI"/>
            </a:endParaRPr>
          </a:p>
          <a:p>
            <a:pPr algn="l">
              <a:lnSpc>
                <a:spcPct val="112000"/>
              </a:lnSpc>
            </a:pPr>
            <a:r>
              <a:rPr sz="3500" b="1" i="0" dirty="0">
                <a:solidFill>
                  <a:srgbClr val="1F2328"/>
                </a:solidFill>
                <a:latin typeface="Segoe UI"/>
              </a:rPr>
              <a:t>Artificial </a:t>
            </a:r>
            <a:r>
              <a:rPr sz="3500" b="1" i="0" dirty="0" err="1">
                <a:solidFill>
                  <a:srgbClr val="1F2328"/>
                </a:solidFill>
                <a:latin typeface="Segoe UI"/>
              </a:rPr>
              <a:t>Generativa</a:t>
            </a:r>
            <a:endParaRPr sz="3500" b="1" i="0" dirty="0">
              <a:solidFill>
                <a:srgbClr val="1F2328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4506887"/>
            <a:ext cx="7863840" cy="16403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 dirty="0">
                <a:solidFill>
                  <a:srgbClr val="1F2328"/>
                </a:solidFill>
                <a:latin typeface="Segoe UI"/>
              </a:rPr>
              <a:t>Eulálio Gutemberg Dias dos Santos · eulalio.santos@ufv.br</a:t>
            </a:r>
          </a:p>
          <a:p>
            <a:pPr>
              <a:lnSpc>
                <a:spcPct val="118000"/>
              </a:lnSpc>
            </a:pPr>
            <a:r>
              <a:rPr sz="1250" b="0" dirty="0" err="1">
                <a:solidFill>
                  <a:srgbClr val="1F2328"/>
                </a:solidFill>
                <a:latin typeface="Segoe UI"/>
              </a:rPr>
              <a:t>Orientadora</a:t>
            </a:r>
            <a:r>
              <a:rPr sz="1250" b="0" dirty="0">
                <a:solidFill>
                  <a:srgbClr val="1F2328"/>
                </a:solidFill>
                <a:latin typeface="Segoe UI"/>
              </a:rPr>
              <a:t>: Maria Goreti de Almeida Oliveira · malmeida@ufv.br</a:t>
            </a:r>
          </a:p>
          <a:p>
            <a:pPr>
              <a:lnSpc>
                <a:spcPct val="118000"/>
              </a:lnSpc>
            </a:pPr>
            <a:r>
              <a:rPr sz="1250" b="0" dirty="0">
                <a:solidFill>
                  <a:srgbClr val="1F2328"/>
                </a:solidFill>
                <a:latin typeface="Segoe UI"/>
              </a:rPr>
              <a:t>Co</a:t>
            </a:r>
            <a:r>
              <a:rPr lang="pt-BR" sz="1250" b="0" dirty="0" err="1">
                <a:solidFill>
                  <a:srgbClr val="1F2328"/>
                </a:solidFill>
                <a:latin typeface="Segoe UI"/>
              </a:rPr>
              <a:t>laborador</a:t>
            </a:r>
            <a:r>
              <a:rPr sz="1250" b="0" dirty="0">
                <a:solidFill>
                  <a:srgbClr val="1F2328"/>
                </a:solidFill>
                <a:latin typeface="Segoe UI"/>
              </a:rPr>
              <a:t>: Otávio J. B. </a:t>
            </a:r>
            <a:r>
              <a:rPr sz="1250" b="0" dirty="0" err="1">
                <a:solidFill>
                  <a:srgbClr val="1F2328"/>
                </a:solidFill>
                <a:latin typeface="Segoe UI"/>
              </a:rPr>
              <a:t>Brustolini</a:t>
            </a:r>
            <a:r>
              <a:rPr sz="1250" b="0" dirty="0">
                <a:solidFill>
                  <a:srgbClr val="1F2328"/>
                </a:solidFill>
                <a:latin typeface="Segoe UI"/>
              </a:rPr>
              <a:t> · tavinbio@lncc.br</a:t>
            </a:r>
          </a:p>
          <a:p>
            <a:pPr>
              <a:lnSpc>
                <a:spcPct val="118000"/>
              </a:lnSpc>
            </a:pPr>
            <a:r>
              <a:rPr sz="1250" b="0" dirty="0" err="1">
                <a:solidFill>
                  <a:srgbClr val="1F2328"/>
                </a:solidFill>
                <a:latin typeface="Segoe UI"/>
              </a:rPr>
              <a:t>Colaborador</a:t>
            </a:r>
            <a:r>
              <a:rPr sz="1250" b="0" dirty="0">
                <a:solidFill>
                  <a:srgbClr val="1F2328"/>
                </a:solidFill>
                <a:latin typeface="Segoe UI"/>
              </a:rPr>
              <a:t>: Daniel G. S. Paulo · daniel.paulo@ufv.br</a:t>
            </a:r>
            <a:endParaRPr lang="pt-BR" sz="1250" b="0" dirty="0">
              <a:solidFill>
                <a:srgbClr val="1F2328"/>
              </a:solidFill>
              <a:latin typeface="Segoe UI"/>
            </a:endParaRPr>
          </a:p>
          <a:p>
            <a:pPr>
              <a:lnSpc>
                <a:spcPct val="118000"/>
              </a:lnSpc>
            </a:pPr>
            <a:endParaRPr sz="1250" b="0" dirty="0">
              <a:solidFill>
                <a:srgbClr val="1F2328"/>
              </a:solidFill>
              <a:latin typeface="Segoe UI"/>
            </a:endParaRPr>
          </a:p>
          <a:p>
            <a:pPr>
              <a:lnSpc>
                <a:spcPct val="118000"/>
              </a:lnSpc>
            </a:pPr>
            <a:r>
              <a:rPr lang="pt-BR" sz="1250" b="0" dirty="0">
                <a:solidFill>
                  <a:srgbClr val="5A5F66"/>
                </a:solidFill>
                <a:latin typeface="Segoe UI"/>
              </a:rPr>
              <a:t>PPG </a:t>
            </a:r>
            <a:r>
              <a:rPr sz="1250" b="0" dirty="0" err="1">
                <a:solidFill>
                  <a:srgbClr val="5A5F66"/>
                </a:solidFill>
                <a:latin typeface="Segoe UI"/>
              </a:rPr>
              <a:t>Bioquímica</a:t>
            </a:r>
            <a:r>
              <a:rPr sz="1250" b="0" dirty="0">
                <a:solidFill>
                  <a:srgbClr val="5A5F66"/>
                </a:solidFill>
                <a:latin typeface="Segoe UI"/>
              </a:rPr>
              <a:t> e Bio</a:t>
            </a:r>
            <a:r>
              <a:rPr lang="pt-BR" sz="1250" b="0" dirty="0">
                <a:solidFill>
                  <a:srgbClr val="5A5F66"/>
                </a:solidFill>
                <a:latin typeface="Segoe UI"/>
              </a:rPr>
              <a:t>tecnologia</a:t>
            </a:r>
            <a:endParaRPr sz="1250" b="0" dirty="0">
              <a:solidFill>
                <a:srgbClr val="5A5F66"/>
              </a:solidFill>
              <a:latin typeface="Segoe UI"/>
            </a:endParaRPr>
          </a:p>
          <a:p>
            <a:pPr>
              <a:lnSpc>
                <a:spcPct val="118000"/>
              </a:lnSpc>
            </a:pPr>
            <a:r>
              <a:rPr sz="1300" b="1" dirty="0" err="1">
                <a:solidFill>
                  <a:srgbClr val="0072B2"/>
                </a:solidFill>
                <a:latin typeface="Segoe UI"/>
              </a:rPr>
              <a:t>Categoria</a:t>
            </a:r>
            <a:r>
              <a:rPr sz="1300" b="1" dirty="0">
                <a:solidFill>
                  <a:srgbClr val="0072B2"/>
                </a:solidFill>
                <a:latin typeface="Segoe UI"/>
              </a:rPr>
              <a:t>: Pesquisa</a:t>
            </a:r>
          </a:p>
        </p:txBody>
      </p:sp>
      <p:pic>
        <p:nvPicPr>
          <p:cNvPr id="7" name="Imagem 6" descr="SIA - Simpósio de Integração Acadêmica">
            <a:extLst>
              <a:ext uri="{FF2B5EF4-FFF2-40B4-BE49-F238E27FC236}">
                <a16:creationId xmlns:a16="http://schemas.microsoft.com/office/drawing/2014/main" id="{D31902AF-CF9F-7A46-59BC-D18A6546A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526" y="148411"/>
            <a:ext cx="2665834" cy="2665834"/>
          </a:xfrm>
          <a:prstGeom prst="rect">
            <a:avLst/>
          </a:prstGeom>
        </p:spPr>
      </p:pic>
      <p:pic>
        <p:nvPicPr>
          <p:cNvPr id="8" name="Imagem 7" descr="Universidade... - Universidade Federal de Viçosa - UFV">
            <a:extLst>
              <a:ext uri="{FF2B5EF4-FFF2-40B4-BE49-F238E27FC236}">
                <a16:creationId xmlns:a16="http://schemas.microsoft.com/office/drawing/2014/main" id="{97F9DA94-0EE2-7780-2A31-92E8566338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15" t="20521" r="18067" b="24150"/>
          <a:stretch>
            <a:fillRect/>
          </a:stretch>
        </p:blipFill>
        <p:spPr>
          <a:xfrm>
            <a:off x="8812934" y="2640576"/>
            <a:ext cx="2299018" cy="20411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_SDG_Icons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325880"/>
            <a:ext cx="4389120" cy="4389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6355080"/>
            <a:ext cx="10125151" cy="156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>
                <a:solidFill>
                  <a:srgbClr val="8A9097"/>
                </a:solidFill>
                <a:latin typeface="Segoe UI"/>
              </a:rPr>
              <a:t>ONU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Brasil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, ODS 2 (brasil.un.org/pt-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br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/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sdgs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/2)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2148840"/>
            <a:ext cx="5644591" cy="21300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dirty="0" err="1">
                <a:solidFill>
                  <a:srgbClr val="1F2328"/>
                </a:solidFill>
                <a:latin typeface="Segoe UI"/>
              </a:rPr>
              <a:t>Controlar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1F2328"/>
                </a:solidFill>
                <a:latin typeface="Segoe UI"/>
              </a:rPr>
              <a:t>lagartas-praga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 com </a:t>
            </a:r>
            <a:r>
              <a:rPr lang="pt-BR" sz="3000" b="1" dirty="0">
                <a:solidFill>
                  <a:srgbClr val="1F2328"/>
                </a:solidFill>
                <a:latin typeface="Segoe UI"/>
              </a:rPr>
              <a:t>biopesticidas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, para </a:t>
            </a:r>
            <a:r>
              <a:rPr sz="3000" b="1" dirty="0" err="1">
                <a:solidFill>
                  <a:srgbClr val="1F2328"/>
                </a:solidFill>
                <a:latin typeface="Segoe UI"/>
              </a:rPr>
              <a:t>proteger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 a </a:t>
            </a:r>
            <a:r>
              <a:rPr sz="3000" b="1" dirty="0" err="1">
                <a:solidFill>
                  <a:srgbClr val="1F2328"/>
                </a:solidFill>
                <a:latin typeface="Segoe UI"/>
              </a:rPr>
              <a:t>produtividade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1F2328"/>
                </a:solidFill>
                <a:latin typeface="Segoe UI"/>
              </a:rPr>
              <a:t>agrícola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 de forma </a:t>
            </a:r>
            <a:r>
              <a:rPr sz="3000" b="1" dirty="0" err="1">
                <a:solidFill>
                  <a:srgbClr val="1F2328"/>
                </a:solidFill>
                <a:latin typeface="Segoe UI"/>
              </a:rPr>
              <a:t>sustentável</a:t>
            </a:r>
            <a:r>
              <a:rPr sz="3000" b="1" dirty="0">
                <a:solidFill>
                  <a:srgbClr val="1F2328"/>
                </a:solidFill>
                <a:latin typeface="Segoe U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33872" y="1920240"/>
            <a:ext cx="822960" cy="50800"/>
          </a:xfrm>
          <a:prstGeom prst="rect">
            <a:avLst/>
          </a:prstGeom>
          <a:solidFill>
            <a:srgbClr val="A8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Pragas e doenças tiram cerca de um quinto da soja mundial, e as lagartas estão entre as principais pragas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esfol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65960"/>
            <a:ext cx="514350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9652" y="1965960"/>
            <a:ext cx="54864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60820" y="1947672"/>
            <a:ext cx="491764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2B2"/>
                </a:solidFill>
                <a:latin typeface="Segoe UI"/>
              </a:rPr>
              <a:t>21,4%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0820" y="2423160"/>
            <a:ext cx="4917643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da produtividade mundial da soja se perde para pragas e patógenos (faixa de 11,0 a 32,4%)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9652" y="3246120"/>
            <a:ext cx="54864" cy="96012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60820" y="3227832"/>
            <a:ext cx="491764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0"/>
                </a:solidFill>
                <a:latin typeface="Segoe UI"/>
              </a:rPr>
              <a:t>US$ 17,7 bilhões por 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0820" y="3703320"/>
            <a:ext cx="4917643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é o custo dos insetos-praga à agricultura brasileira, 7,7% da produção (todas as culturas)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9652" y="4526280"/>
            <a:ext cx="54864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0820" y="4507992"/>
            <a:ext cx="491764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9D8F"/>
                </a:solidFill>
                <a:latin typeface="Segoe UI"/>
              </a:rPr>
              <a:t>180,4 milhões de 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4983480"/>
            <a:ext cx="4917643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de soja na safra 2025/26 do Brasil: é muito a proteger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55080"/>
            <a:ext cx="10125151" cy="156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>
                <a:solidFill>
                  <a:srgbClr val="8A9097"/>
                </a:solidFill>
                <a:latin typeface="Segoe UI"/>
              </a:rPr>
              <a:t>Savary et al. 2019  ·  Oliveira et al. 2014  · 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Conab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, set. 2026  · 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Carpane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et al. 2022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O controle atual cobra um preço: resistência, refúgio e lagartas que escapam do Bt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2743200"/>
            <a:ext cx="3283610" cy="3175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328361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55E00"/>
                </a:solidFill>
                <a:latin typeface="Segoe UI"/>
              </a:rPr>
              <a:t>Resistência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49039"/>
            <a:ext cx="328361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328"/>
                </a:solidFill>
                <a:latin typeface="Segoe UI"/>
              </a:rPr>
              <a:t>Inseticida químico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251960"/>
            <a:ext cx="328361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328"/>
                </a:solidFill>
                <a:latin typeface="Segoe UI"/>
              </a:rPr>
              <a:t>Afeta organismos não alvo, pode provocar surtos de pragas e seleciona populações resistentes.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4042" y="2743200"/>
            <a:ext cx="3283610" cy="3175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4042" y="2971800"/>
            <a:ext cx="328361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55E00"/>
                </a:solidFill>
                <a:latin typeface="Segoe UI"/>
              </a:rPr>
              <a:t>Refúgio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4042" y="3749039"/>
            <a:ext cx="328361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328"/>
                </a:solidFill>
                <a:latin typeface="Segoe UI"/>
              </a:rPr>
              <a:t>Soja Bt (Cry1Ac)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4042" y="4251960"/>
            <a:ext cx="328361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328"/>
                </a:solidFill>
                <a:latin typeface="Segoe UI"/>
              </a:rPr>
              <a:t>Evento de alta dose para a lagarta-da-soja, mas depende de refúgio e de plano de manejo para durar.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4852" y="2743200"/>
            <a:ext cx="3283610" cy="3175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4852" y="2971800"/>
            <a:ext cx="328361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D55E00"/>
                </a:solidFill>
                <a:latin typeface="Segoe UI"/>
              </a:rPr>
              <a:t>Escape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4852" y="3749039"/>
            <a:ext cx="328361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2328"/>
                </a:solidFill>
                <a:latin typeface="Segoe UI"/>
              </a:rPr>
              <a:t>Nem toda lagarta é contida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4852" y="4251960"/>
            <a:ext cx="328361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F2328"/>
                </a:solidFill>
                <a:latin typeface="Segoe UI"/>
              </a:rPr>
              <a:t>Spodoptera eridania, S. cosmioides e S. frugiperda também desfolham a soja Bt (IPRO).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355080"/>
            <a:ext cx="1012515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A9097"/>
                </a:solidFill>
                <a:latin typeface="Segoe UI"/>
              </a:rPr>
              <a:t>Ongaratto et al. 2021, J. Econ. Entomol. (doi 10.1093/jee/toab197)  ·  Carpane et al. 2022, PLOS ONE 17:e0271084 (doi 10.1371/journal.pone.0271084)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 própria planta já se defende: inibidores de protease bloqueiam a digestão da lagarta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v2_natur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45" y="2148840"/>
            <a:ext cx="9495405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5943600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5A5F66"/>
                </a:solidFill>
                <a:latin typeface="Segoe UI"/>
              </a:rPr>
              <a:t>mesma escala  ·  do peptídeo cíclico de 14 resíduos à proteína de 172: o menor é o mais barato de produzir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355080"/>
            <a:ext cx="1012515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A9097"/>
                </a:solidFill>
                <a:latin typeface="Segoe UI"/>
              </a:rPr>
              <a:t>Luckett et al. 1999 (SFTI-1, PDB 1SFI)  ·  Werner &amp; Wemmer 1992 (BBI, 1BBI)  ·  Song &amp; Suh 1998 (SKTI, 1AVU)  ·  Almeida Barros et al. 2022, Pestic. Biochem. Physiol. 187:105188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799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 dirty="0">
                <a:solidFill>
                  <a:srgbClr val="1F2328"/>
                </a:solidFill>
                <a:latin typeface="Segoe UI"/>
              </a:rPr>
              <a:t>O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inibidor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ancora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na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tripsina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: </a:t>
            </a:r>
            <a:r>
              <a:rPr lang="pt-BR" sz="2500" b="1" i="0" dirty="0">
                <a:solidFill>
                  <a:srgbClr val="1F2328"/>
                </a:solidFill>
                <a:latin typeface="Segoe UI"/>
              </a:rPr>
              <a:t>resíduos básicos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entra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no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bolso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S1 e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encontra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o Asp189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2_ancor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83080"/>
            <a:ext cx="6156393" cy="4434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54112" y="1920240"/>
            <a:ext cx="54864" cy="9144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0" y="1901952"/>
            <a:ext cx="35231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D55E00"/>
                </a:solidFill>
                <a:latin typeface="Segoe UI"/>
              </a:rPr>
              <a:t>P1 → 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52318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O resíduo P1 do inibidor (Lys ou Arg) se insere no bolso S1 da tripsina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7754112" y="320040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0" y="3182112"/>
            <a:ext cx="35231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C0392B"/>
                </a:solidFill>
                <a:latin typeface="Segoe UI"/>
              </a:rPr>
              <a:t>Asp189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657600"/>
            <a:ext cx="352318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A carga negativa no fundo do bolso atrai a cadeia lateral positiva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4480560"/>
            <a:ext cx="54864" cy="914400"/>
          </a:xfrm>
          <a:prstGeom prst="rect">
            <a:avLst/>
          </a:prstGeom>
          <a:solidFill>
            <a:srgbClr val="A8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4462272"/>
            <a:ext cx="3523183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2400" b="1" dirty="0">
                <a:solidFill>
                  <a:srgbClr val="A87000"/>
                </a:solidFill>
                <a:latin typeface="Segoe UI"/>
              </a:rPr>
              <a:t>His57 · Asp102 · </a:t>
            </a:r>
            <a:r>
              <a:rPr sz="2400" b="1" i="0" dirty="0">
                <a:solidFill>
                  <a:srgbClr val="A87000"/>
                </a:solidFill>
                <a:latin typeface="Segoe UI"/>
              </a:rPr>
              <a:t>Ser195</a:t>
            </a:r>
            <a:endParaRPr sz="3000" b="1" i="0" dirty="0">
              <a:solidFill>
                <a:srgbClr val="A87000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80" y="4937760"/>
            <a:ext cx="3523183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 b="0" i="0">
                <a:solidFill>
                  <a:srgbClr val="1F2328"/>
                </a:solidFill>
                <a:latin typeface="Segoe UI"/>
              </a:rPr>
              <a:t>A tríade catalítica fica ao lado da ligação que a enzima cortaria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55080"/>
            <a:ext cx="1012515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A9097"/>
                </a:solidFill>
                <a:latin typeface="Segoe UI"/>
              </a:rPr>
              <a:t>Estrutura 1SFI: tripsina bovina + SFTI-1 (Luckett et al. 1999)  ·  Laskowski &amp; Kato 1980  ·  Perona &amp; Craik 1995  ·  Hedstrom 2002  ·  numeração da tripsina bovina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799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 dirty="0">
                <a:solidFill>
                  <a:srgbClr val="1F2328"/>
                </a:solidFill>
                <a:latin typeface="Segoe UI"/>
              </a:rPr>
              <a:t>No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nosso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grupo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, o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peptídeo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GORE3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reduz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a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sobrevivência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da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lagarta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mais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que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o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inibidor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da soja (SKTI)</a:t>
            </a:r>
            <a:r>
              <a:rPr lang="pt-BR" sz="2500" b="1" i="0" dirty="0">
                <a:solidFill>
                  <a:srgbClr val="1F2328"/>
                </a:solidFill>
                <a:latin typeface="Segoe UI"/>
              </a:rPr>
              <a:t> e </a:t>
            </a:r>
            <a:r>
              <a:rPr lang="pt-BR" sz="2500" b="1" i="0" dirty="0" err="1">
                <a:solidFill>
                  <a:srgbClr val="1F2328"/>
                </a:solidFill>
                <a:latin typeface="Segoe UI"/>
              </a:rPr>
              <a:t>Benzamidina</a:t>
            </a:r>
            <a:endParaRPr sz="2500" b="1" i="0" dirty="0">
              <a:solidFill>
                <a:srgbClr val="1F2328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D1717CA-436F-304F-4D1E-0BC421C1A3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3135" y="1645920"/>
            <a:ext cx="4041511" cy="2377440"/>
          </a:xfrm>
          <a:prstGeom prst="rect">
            <a:avLst/>
          </a:prstGeom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A60C3832-6248-F885-C1DA-D3E9ACC93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758" y="4507992"/>
            <a:ext cx="2268266" cy="1508760"/>
          </a:xfrm>
          <a:prstGeom prst="rect">
            <a:avLst/>
          </a:prstGeom>
        </p:spPr>
      </p:pic>
      <p:pic>
        <p:nvPicPr>
          <p:cNvPr id="17" name="Picture 1">
            <a:extLst>
              <a:ext uri="{FF2B5EF4-FFF2-40B4-BE49-F238E27FC236}">
                <a16:creationId xmlns:a16="http://schemas.microsoft.com/office/drawing/2014/main" id="{3548C713-1D17-1848-D518-B0495A291D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1691640"/>
            <a:ext cx="4666131" cy="406908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713232" y="5833872"/>
            <a:ext cx="4666131" cy="1769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1150" dirty="0">
                <a:solidFill>
                  <a:srgbClr val="5A5F66"/>
                </a:solidFill>
                <a:latin typeface="Segoe UI"/>
              </a:rPr>
              <a:t>Efeito </a:t>
            </a:r>
            <a:r>
              <a:rPr sz="1150" dirty="0">
                <a:solidFill>
                  <a:srgbClr val="5A5F66"/>
                </a:solidFill>
                <a:latin typeface="Segoe UI"/>
              </a:rPr>
              <a:t>GORE3 </a:t>
            </a:r>
            <a:r>
              <a:rPr sz="1150" dirty="0" err="1">
                <a:solidFill>
                  <a:srgbClr val="5A5F66"/>
                </a:solidFill>
                <a:latin typeface="Segoe UI"/>
              </a:rPr>
              <a:t>sobre</a:t>
            </a:r>
            <a:r>
              <a:rPr sz="1150" dirty="0">
                <a:solidFill>
                  <a:srgbClr val="5A5F66"/>
                </a:solidFill>
                <a:latin typeface="Segoe UI"/>
              </a:rPr>
              <a:t> as </a:t>
            </a:r>
            <a:r>
              <a:rPr sz="1150" dirty="0" err="1">
                <a:solidFill>
                  <a:srgbClr val="5A5F66"/>
                </a:solidFill>
                <a:latin typeface="Segoe UI"/>
              </a:rPr>
              <a:t>plantas</a:t>
            </a:r>
            <a:r>
              <a:rPr sz="1150" dirty="0">
                <a:solidFill>
                  <a:srgbClr val="5A5F66"/>
                </a:solidFill>
                <a:latin typeface="Segoe UI"/>
              </a:rPr>
              <a:t> e as </a:t>
            </a:r>
            <a:r>
              <a:rPr sz="1150" dirty="0" err="1">
                <a:solidFill>
                  <a:srgbClr val="5A5F66"/>
                </a:solidFill>
                <a:latin typeface="Segoe UI"/>
              </a:rPr>
              <a:t>lagartas</a:t>
            </a:r>
            <a:endParaRPr sz="1150" dirty="0">
              <a:solidFill>
                <a:srgbClr val="5A5F66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89320" y="4059936"/>
            <a:ext cx="548914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A5F66"/>
                </a:solidFill>
                <a:latin typeface="Segoe UI"/>
              </a:rPr>
              <a:t>Sobrevivência das lagartas ao longo do tempo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6053328"/>
            <a:ext cx="5489143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>
                <a:solidFill>
                  <a:srgbClr val="5A5F66"/>
                </a:solidFill>
                <a:latin typeface="Segoe UI"/>
              </a:rPr>
              <a:t>Pupas (barra: 2 mm)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616" y="6355080"/>
            <a:ext cx="10125151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pt-BR" sz="1000" dirty="0">
                <a:solidFill>
                  <a:srgbClr val="8A9097"/>
                </a:solidFill>
                <a:latin typeface="Segoe UI"/>
              </a:rPr>
              <a:t>Paulo et al, 2026</a:t>
            </a:r>
            <a:endParaRPr sz="1000" dirty="0">
              <a:solidFill>
                <a:srgbClr val="8A9097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7997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 dirty="0" err="1">
                <a:solidFill>
                  <a:srgbClr val="1F2328"/>
                </a:solidFill>
                <a:latin typeface="Segoe UI"/>
              </a:rPr>
              <a:t>Objetivo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: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desenhar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com IA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generativa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peptídeos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que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inibam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as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tripsinas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das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lagartas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e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resistam</a:t>
            </a:r>
            <a:r>
              <a:rPr sz="2500" b="1" i="0" dirty="0">
                <a:solidFill>
                  <a:srgbClr val="1F2328"/>
                </a:solidFill>
                <a:latin typeface="Segoe UI"/>
              </a:rPr>
              <a:t> à </a:t>
            </a:r>
            <a:r>
              <a:rPr sz="2500" b="1" i="0" dirty="0" err="1">
                <a:solidFill>
                  <a:srgbClr val="1F2328"/>
                </a:solidFill>
                <a:latin typeface="Segoe UI"/>
              </a:rPr>
              <a:t>digestão</a:t>
            </a:r>
            <a:r>
              <a:rPr lang="pt-BR" sz="2500" b="1" i="0" dirty="0">
                <a:solidFill>
                  <a:srgbClr val="1F2328"/>
                </a:solidFill>
                <a:latin typeface="Segoe UI"/>
              </a:rPr>
              <a:t> de proteases</a:t>
            </a:r>
            <a:endParaRPr sz="2500" b="1" i="0" dirty="0">
              <a:solidFill>
                <a:srgbClr val="1F2328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20116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A87000"/>
                </a:solidFill>
                <a:latin typeface="Segoe U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7632" y="2103120"/>
            <a:ext cx="38100" cy="868680"/>
          </a:xfrm>
          <a:prstGeom prst="rect">
            <a:avLst/>
          </a:prstGeom>
          <a:solidFill>
            <a:srgbClr val="A8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93392" y="2212848"/>
            <a:ext cx="9326880" cy="388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 dirty="0" err="1">
                <a:solidFill>
                  <a:srgbClr val="1F2328"/>
                </a:solidFill>
                <a:latin typeface="Segoe UI"/>
              </a:rPr>
              <a:t>Mapear</a:t>
            </a:r>
            <a:r>
              <a:rPr sz="2400" b="0" i="0" dirty="0">
                <a:solidFill>
                  <a:srgbClr val="1F2328"/>
                </a:solidFill>
                <a:latin typeface="Segoe UI"/>
              </a:rPr>
              <a:t> o </a:t>
            </a:r>
            <a:r>
              <a:rPr sz="2400" b="0" i="0" dirty="0" err="1">
                <a:solidFill>
                  <a:srgbClr val="1F2328"/>
                </a:solidFill>
                <a:latin typeface="Segoe UI"/>
              </a:rPr>
              <a:t>sítio</a:t>
            </a:r>
            <a:r>
              <a:rPr sz="2400" b="0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rgbClr val="1F2328"/>
                </a:solidFill>
                <a:latin typeface="Segoe UI"/>
              </a:rPr>
              <a:t>ativo</a:t>
            </a:r>
            <a:r>
              <a:rPr sz="2400" b="0" i="0" dirty="0">
                <a:solidFill>
                  <a:srgbClr val="1F2328"/>
                </a:solidFill>
                <a:latin typeface="Segoe UI"/>
              </a:rPr>
              <a:t> das </a:t>
            </a:r>
            <a:r>
              <a:rPr sz="2400" b="0" i="0" dirty="0" err="1">
                <a:solidFill>
                  <a:srgbClr val="1F2328"/>
                </a:solidFill>
                <a:latin typeface="Segoe UI"/>
              </a:rPr>
              <a:t>tripsinas</a:t>
            </a:r>
            <a:r>
              <a:rPr sz="2400" b="0" i="0" dirty="0">
                <a:solidFill>
                  <a:srgbClr val="1F2328"/>
                </a:solidFill>
                <a:latin typeface="Segoe UI"/>
              </a:rPr>
              <a:t> de 8 </a:t>
            </a:r>
            <a:r>
              <a:rPr sz="2400" b="0" i="0" dirty="0" err="1">
                <a:solidFill>
                  <a:srgbClr val="1F2328"/>
                </a:solidFill>
                <a:latin typeface="Segoe UI"/>
              </a:rPr>
              <a:t>lagartas-prag</a:t>
            </a:r>
            <a:r>
              <a:rPr lang="pt-BR" sz="2400" b="0" i="0" dirty="0">
                <a:solidFill>
                  <a:srgbClr val="1F2328"/>
                </a:solidFill>
                <a:latin typeface="Segoe UI"/>
              </a:rPr>
              <a:t>a</a:t>
            </a:r>
            <a:endParaRPr sz="2400" b="0" i="0" dirty="0">
              <a:solidFill>
                <a:srgbClr val="1F2328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333756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0072B2"/>
                </a:solidFill>
                <a:latin typeface="Segoe U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7632" y="3429000"/>
            <a:ext cx="38100" cy="8686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93392" y="3538728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328"/>
                </a:solidFill>
                <a:latin typeface="Segoe UI"/>
              </a:rPr>
              <a:t>Gerar peptídeos de novo por difusão e filtrá-los por regras de não clivabilidade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66344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2A9D8F"/>
                </a:solidFill>
                <a:latin typeface="Segoe U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4754880"/>
            <a:ext cx="38100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93392" y="4864608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F2328"/>
                </a:solidFill>
                <a:latin typeface="Segoe UI"/>
              </a:rPr>
              <a:t>Ordenar os candidatos por simulação: linear × cíclico, pH 10,0 × pH 8,2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Do alvo ao candidato: IA generativa guiada por regras, em duas frentes e dois 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2_flux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338" y="1783080"/>
            <a:ext cx="8903019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355080"/>
            <a:ext cx="1012515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A9097"/>
                </a:solidFill>
                <a:latin typeface="Segoe UI"/>
              </a:rPr>
              <a:t>RFdiffusion: Watson et al. 2023  ·  ProteinMPNN: Dauparas et al. 2022  ·  Boltz-2: Passaro et al. 2025  ·  GROMACS: Abraham et al. 2015  ·  CHARMM36: Huang &amp; MacKerell 2013  ·  PRODIGY: Vangone &amp; Bonvin 2015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F2328"/>
                </a:solidFill>
                <a:latin typeface="Segoe UI"/>
              </a:rPr>
              <a:t>Como as ferramentas atuam, passo a passo: esqueleto, sequência, complexo e dinâmica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como_funciona_RFdiff_MPNN_Boltz_M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75207" y="1508760"/>
            <a:ext cx="1024128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6355080"/>
            <a:ext cx="10125151" cy="156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dirty="0" err="1">
                <a:solidFill>
                  <a:srgbClr val="8A9097"/>
                </a:solidFill>
                <a:latin typeface="Segoe UI"/>
              </a:rPr>
              <a:t>RFdiffusion</a:t>
            </a:r>
            <a:r>
              <a:rPr sz="1000" b="0" dirty="0">
                <a:solidFill>
                  <a:srgbClr val="8A9097"/>
                </a:solidFill>
                <a:latin typeface="Segoe UI"/>
              </a:rPr>
              <a:t>: Watson et al. 2023  ·  </a:t>
            </a:r>
            <a:r>
              <a:rPr sz="1000" b="0" dirty="0" err="1">
                <a:solidFill>
                  <a:srgbClr val="8A9097"/>
                </a:solidFill>
                <a:latin typeface="Segoe UI"/>
              </a:rPr>
              <a:t>ProteinMPNN</a:t>
            </a:r>
            <a:r>
              <a:rPr sz="1000" b="0" dirty="0">
                <a:solidFill>
                  <a:srgbClr val="8A9097"/>
                </a:solidFill>
                <a:latin typeface="Segoe UI"/>
              </a:rPr>
              <a:t>: </a:t>
            </a:r>
            <a:r>
              <a:rPr sz="1000" b="0" dirty="0" err="1">
                <a:solidFill>
                  <a:srgbClr val="8A9097"/>
                </a:solidFill>
                <a:latin typeface="Segoe UI"/>
              </a:rPr>
              <a:t>Dauparas</a:t>
            </a:r>
            <a:r>
              <a:rPr sz="1000" b="0" dirty="0">
                <a:solidFill>
                  <a:srgbClr val="8A9097"/>
                </a:solidFill>
                <a:latin typeface="Segoe UI"/>
              </a:rPr>
              <a:t> et al. 2022  ·  Boltz-2: Passaro et al. 2025  ·  GROMACS: Abraham et al. 2015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9097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Cada ferramenta estreitou a busca: de 880 esqueletos a 4 candidatos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2_result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25" y="1783080"/>
            <a:ext cx="1041564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Antes de usar os escores, calibramos com inibidores reais e iscas embaralhadas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_calib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83443"/>
            <a:ext cx="6309360" cy="35140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96912" y="1828800"/>
            <a:ext cx="54864" cy="82296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0" y="1810512"/>
            <a:ext cx="39803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072B2"/>
                </a:solidFill>
                <a:latin typeface="Segoe UI"/>
              </a:rPr>
              <a:t>10 de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2286000"/>
            <a:ext cx="398038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pares em que o inibidor real pontua acima da sua isca embaralhada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296912" y="3017520"/>
            <a:ext cx="54864" cy="82296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0" y="2999232"/>
            <a:ext cx="39803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0"/>
                </a:solidFill>
                <a:latin typeface="Segoe UI"/>
              </a:rPr>
              <a:t>só em pares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3474720"/>
            <a:ext cx="398038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as faixas se sobrepõem (0,853–0,986 × 0,628–0,944): confiança não é afinidade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6912" y="4206240"/>
            <a:ext cx="54864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4187952"/>
            <a:ext cx="39803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9D8F"/>
                </a:solidFill>
                <a:latin typeface="Segoe UI"/>
              </a:rPr>
              <a:t>527 L · 543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4663440"/>
            <a:ext cx="3980383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restam após o critério: sem K R F Y W L M A V em P1 e sem cisteína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55080"/>
            <a:ext cx="10125151" cy="156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>
                <a:solidFill>
                  <a:srgbClr val="8A9097"/>
                </a:solidFill>
                <a:latin typeface="Segoe UI"/>
              </a:rPr>
              <a:t> Boltz-2: Passaro et al. 2025  ·  6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inibidores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: BPTI, SFTI-1, SKTI, BBI,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EcTI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,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ApTI</a:t>
            </a:r>
            <a:endParaRPr sz="1000" b="0" i="0" dirty="0">
              <a:solidFill>
                <a:srgbClr val="8A9097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Quem passou no filtro é curto e rico em glicina: 7,7 resíduos em média e 49,4% de glicina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_compos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794" y="1783080"/>
            <a:ext cx="7542106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3232" y="5029200"/>
            <a:ext cx="54864" cy="6858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10912"/>
            <a:ext cx="314340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72B2"/>
                </a:solidFill>
                <a:latin typeface="Segoe UI"/>
              </a:rPr>
              <a:t>7,7 resíduos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314340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F2328"/>
                </a:solidFill>
                <a:latin typeface="Segoe UI"/>
              </a:rPr>
              <a:t>comprimento médio; 81,6% das lineares têm 8 ou menos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3562" y="5029200"/>
            <a:ext cx="54864" cy="685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4730" y="5010912"/>
            <a:ext cx="314340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A9D8F"/>
                </a:solidFill>
                <a:latin typeface="Segoe UI"/>
              </a:rPr>
              <a:t>49,4% Gly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4730" y="5486400"/>
            <a:ext cx="314340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F2328"/>
                </a:solidFill>
                <a:latin typeface="Segoe UI"/>
              </a:rPr>
              <a:t>dos 4.060 resíduos, seguida de Ser (11,7%) e Pro (9,8%)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3892" y="5029200"/>
            <a:ext cx="54864" cy="6858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5060" y="5010912"/>
            <a:ext cx="314340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D55E00"/>
                </a:solidFill>
                <a:latin typeface="Segoe UI"/>
              </a:rPr>
              <a:t>9 de 4.060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5060" y="5486400"/>
            <a:ext cx="314340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 i="0">
                <a:solidFill>
                  <a:srgbClr val="1F2328"/>
                </a:solidFill>
                <a:latin typeface="Segoe UI"/>
              </a:rPr>
              <a:t>resíduos são K ou R (0,22%), cada um seguido de prolina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A dinâmica confirmou poses, não ligação: poucos peptídeos mantêm o bolso S1, nas duas frentes e nos dois 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2_md_re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82089"/>
            <a:ext cx="6035040" cy="27339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22592" y="1828800"/>
            <a:ext cx="54864" cy="86868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1810512"/>
            <a:ext cx="425470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0"/>
                </a:solidFill>
                <a:latin typeface="Segoe UI"/>
              </a:rPr>
              <a:t>5 de 9 × 0 de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286000"/>
            <a:ext cx="4254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ocupância ≥ 0,70 em quem partiu a ≤ 4 Å do Asp189 × quem partiu mais longe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2592" y="3108960"/>
            <a:ext cx="54864" cy="86868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3090672"/>
            <a:ext cx="425470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Segoe UI"/>
              </a:rPr>
              <a:t>pH sem efeito líquido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566160"/>
            <a:ext cx="4254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pH 8,2 × 10,0: distância final P = 0,16; ocupância P = 0,88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2592" y="4389120"/>
            <a:ext cx="54864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4370832"/>
            <a:ext cx="425470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9D8F"/>
                </a:solidFill>
                <a:latin typeface="Segoe UI"/>
              </a:rPr>
              <a:t>2 de 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846320"/>
            <a:ext cx="425470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1F2328"/>
                </a:solidFill>
                <a:latin typeface="Segoe UI"/>
              </a:rPr>
              <a:t>NGGRPDAP e GGKPGEP mantêm S1 nos dois 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355080"/>
            <a:ext cx="10125151" cy="156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>
                <a:solidFill>
                  <a:srgbClr val="8A9097"/>
                </a:solidFill>
                <a:latin typeface="Segoe UI"/>
              </a:rPr>
              <a:t>GROMACS 2025.4, CHARMM36, 10 ns,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uma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execução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por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candidato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e pH  · 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ocupância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de S1: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fração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dos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quadros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da 2ª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metade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com a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âncora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a ≤ 5 Å do Asp189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Melhores candidatos por frente: só NGGRPDAP e GGKPGEP mantêm o bolso S1 nos dois 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481328"/>
            <a:ext cx="2540431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254043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72B2"/>
                </a:solidFill>
                <a:latin typeface="Segoe UI"/>
              </a:rPr>
              <a:t>NGGRPDAP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38528"/>
            <a:ext cx="25404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A5F66"/>
                </a:solidFill>
                <a:latin typeface="Segoe UI"/>
              </a:rPr>
              <a:t>linear · A. gemmatalis</a:t>
            </a:r>
          </a:p>
        </p:txBody>
      </p:sp>
      <p:pic>
        <p:nvPicPr>
          <p:cNvPr id="8" name="Picture 7" descr="v2_pose_NGGRPD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86000"/>
            <a:ext cx="2540431" cy="17209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409837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6169" y="409837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1,00 | 0,98 (rep. 1,00)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6413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MM-GBSA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6169" y="446413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−45,3 | −53,3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82989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PRODIGY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6169" y="482989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−11,1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19565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Contatos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6169" y="519565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Arg4–Asp189 (sal) · Pro5–Gly234 · Gly3–Gly215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4831" y="1481328"/>
            <a:ext cx="2540431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54831" y="1572768"/>
            <a:ext cx="254043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072B2"/>
                </a:solidFill>
                <a:latin typeface="Segoe UI"/>
              </a:rPr>
              <a:t>GQNDS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4831" y="1938528"/>
            <a:ext cx="25404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A5F66"/>
                </a:solidFill>
                <a:latin typeface="Segoe UI"/>
              </a:rPr>
              <a:t>linear · O. nubilalis</a:t>
            </a:r>
          </a:p>
        </p:txBody>
      </p:sp>
      <p:pic>
        <p:nvPicPr>
          <p:cNvPr id="20" name="Picture 19" descr="v2_pose_GQ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831" y="2286000"/>
            <a:ext cx="2540431" cy="17209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454831" y="409837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7768" y="409837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1,00 | 0,04 (rep. 0,73)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4831" y="446413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MM-GBSA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7768" y="446413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−18,2 | −2,0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4831" y="482989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PRODIGY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768" y="482989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−9,0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4831" y="519565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Contatos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7768" y="519565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Gln2–Gln208 · Gln2–Gly232 · Asn3–Ser228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0" y="1481328"/>
            <a:ext cx="2540431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6430" y="1572768"/>
            <a:ext cx="254043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A9D8F"/>
                </a:solidFill>
                <a:latin typeface="Segoe UI"/>
              </a:rPr>
              <a:t>GGKPGEP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6430" y="1938528"/>
            <a:ext cx="25404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A5F66"/>
                </a:solidFill>
                <a:latin typeface="Segoe UI"/>
              </a:rPr>
              <a:t>cíclico · A. gemmatalis</a:t>
            </a:r>
          </a:p>
        </p:txBody>
      </p:sp>
      <p:pic>
        <p:nvPicPr>
          <p:cNvPr id="32" name="Picture 31" descr="v2_pose_GGKPG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430" y="2286000"/>
            <a:ext cx="2540431" cy="172093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196430" y="409837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S1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09367" y="409837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1,00 | 1,00 (rep. 1,00)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96430" y="446413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MM-GBSA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9367" y="446413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−35,4 | −27,7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6430" y="482989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PRODIGY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9367" y="482989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−9,7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6430" y="519565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Contatos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9367" y="519565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Lys3–Asp189 (sal) · Lys3–Gly236 · Lys3–Ile235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38029" y="1481328"/>
            <a:ext cx="2540431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38029" y="1572768"/>
            <a:ext cx="254043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A9D8F"/>
                </a:solidFill>
                <a:latin typeface="Segoe UI"/>
              </a:rPr>
              <a:t>GGHSE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38029" y="1938528"/>
            <a:ext cx="25404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A5F66"/>
                </a:solidFill>
                <a:latin typeface="Segoe UI"/>
              </a:rPr>
              <a:t>cíclico · S. frugiperda</a:t>
            </a:r>
          </a:p>
        </p:txBody>
      </p:sp>
      <p:pic>
        <p:nvPicPr>
          <p:cNvPr id="44" name="Picture 43" descr="v2_pose_GGH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38029" y="2286000"/>
            <a:ext cx="2540431" cy="172093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938029" y="409837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S1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50966" y="409837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0,99 | 0,00 (rep. 0,88)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38029" y="446413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MM-GBSA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50966" y="446413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−26,5 | −23,9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029" y="482989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PRODIGY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50966" y="482989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−8,8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8029" y="5195657"/>
            <a:ext cx="81293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Contatos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50966" y="5195657"/>
            <a:ext cx="1727493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F2328"/>
                </a:solidFill>
                <a:latin typeface="Segoe UI"/>
              </a:rPr>
              <a:t>His3–Asp189 · Gly2–Gln217 · His3–Ser220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5943600"/>
            <a:ext cx="1076523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Pose aos 10 ns (pH 10,0)  ·  S1 e MM-GBSA: pH 10,0 | pH 8,2  ·  S1 = ocupância na 2ª metade; rep. = repetição  ·  energias em kcal/mol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Os quatro candidatos em movimento: 10 ns de dinâmica molecular (pH 10,0)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d_4candidatos_5s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3232" y="1828800"/>
            <a:ext cx="10765231" cy="311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130430"/>
            <a:ext cx="107652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5A5F66"/>
                </a:solidFill>
                <a:latin typeface="Segoe UI"/>
              </a:rPr>
              <a:t>Quadros reais da trajetória, a cada 0,1 ns, alinhados no esqueleto do receptor.</a:t>
            </a:r>
          </a:p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5A5F66"/>
                </a:solidFill>
                <a:latin typeface="Segoe UI"/>
              </a:rPr>
              <a:t>Vermelho: Asp189 (S1)  ·  amarelo: Ser195 e His57  ·  laranja: resíduo âncora do peptídeo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10125151" cy="1560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 dirty="0" err="1">
                <a:solidFill>
                  <a:srgbClr val="8A9097"/>
                </a:solidFill>
                <a:latin typeface="Segoe UI"/>
              </a:rPr>
              <a:t>Simulações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: GROMACS 2025.4, CHARMM36, 10 ns,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uma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execução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por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candidato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 ·  render: 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PyMOL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  ·  NGGRPDAP e GQNDS (linear), GGKPGEP e GGHSE (</a:t>
            </a:r>
            <a:r>
              <a:rPr sz="1000" b="0" i="0" dirty="0" err="1">
                <a:solidFill>
                  <a:srgbClr val="8A9097"/>
                </a:solidFill>
                <a:latin typeface="Segoe UI"/>
              </a:rPr>
              <a:t>cíclico</a:t>
            </a:r>
            <a:r>
              <a:rPr sz="1000" b="0" i="0" dirty="0">
                <a:solidFill>
                  <a:srgbClr val="8A9097"/>
                </a:solidFill>
                <a:latin typeface="Segoe UI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Plataforma pronta, quatro candidatos ordenados e um teste decisivo pela frente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" y="1783080"/>
            <a:ext cx="331409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331409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72B2"/>
                </a:solidFill>
                <a:latin typeface="Segoe UI"/>
              </a:rPr>
              <a:t>8 × 2 ×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0"/>
            <a:ext cx="331409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328"/>
                </a:solidFill>
                <a:latin typeface="Segoe UI"/>
              </a:rPr>
              <a:t>espécies, frentes e pH: 96 simulações num fluxo reprodutível, do alvo ao 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8802" y="1783080"/>
            <a:ext cx="331409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38802" y="1920240"/>
            <a:ext cx="331409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A9D8F"/>
                </a:solidFill>
                <a:latin typeface="Segoe UI"/>
              </a:rPr>
              <a:t>4 candidatos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8802" y="2560320"/>
            <a:ext cx="331409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F2328"/>
                </a:solidFill>
                <a:latin typeface="Segoe UI"/>
              </a:rPr>
              <a:t>NGGRPDAP · GQNDS · GGKPGEP · GGHSE, ordenados por critérios declarados de antemão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64372" y="1783080"/>
            <a:ext cx="3314090" cy="3810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4372" y="1920240"/>
            <a:ext cx="331409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55E00"/>
                </a:solidFill>
                <a:latin typeface="Segoe UI"/>
              </a:rPr>
              <a:t>Próximo: o ensaio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4372" y="2560320"/>
            <a:ext cx="3314090" cy="259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dirty="0">
                <a:solidFill>
                  <a:srgbClr val="1F2328"/>
                </a:solidFill>
                <a:latin typeface="Segoe UI"/>
              </a:rPr>
              <a:t>Ki</a:t>
            </a:r>
            <a:r>
              <a:rPr lang="pt-BR" sz="1500" b="0" i="0" dirty="0">
                <a:solidFill>
                  <a:srgbClr val="1F2328"/>
                </a:solidFill>
                <a:latin typeface="Segoe UI"/>
              </a:rPr>
              <a:t>,</a:t>
            </a:r>
            <a:r>
              <a:rPr sz="1500" b="0" i="0" dirty="0">
                <a:solidFill>
                  <a:srgbClr val="1F2328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1F2328"/>
                </a:solidFill>
                <a:latin typeface="Segoe UI"/>
              </a:rPr>
              <a:t>estabilidade</a:t>
            </a:r>
            <a:r>
              <a:rPr lang="pt-BR" sz="1500" b="0" i="0" dirty="0">
                <a:solidFill>
                  <a:srgbClr val="1F2328"/>
                </a:solidFill>
                <a:latin typeface="Segoe UI"/>
              </a:rPr>
              <a:t>, ensaios in vitro, in vivo</a:t>
            </a:r>
            <a:endParaRPr sz="1500" b="0" i="0" dirty="0">
              <a:solidFill>
                <a:srgbClr val="1F2328"/>
              </a:solidFill>
              <a:latin typeface="Segoe UI"/>
            </a:endParaRPr>
          </a:p>
        </p:txBody>
      </p:sp>
      <p:pic>
        <p:nvPicPr>
          <p:cNvPr id="14" name="Picture 13" descr="md_4candidatos_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5367" y="3703320"/>
            <a:ext cx="7680960" cy="22252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Principais referências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10765231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0" i="0">
                <a:solidFill>
                  <a:srgbClr val="1F2328"/>
                </a:solidFill>
                <a:latin typeface="Segoe UI"/>
              </a:rPr>
              <a:t>1. Savary S et al. (2019) The global burden of pathogens and pests on major food crops. Nat Ecol Evol 3:430–439. doi:10.1038/s41559-018-0793-y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1F2328"/>
                </a:solidFill>
                <a:latin typeface="Segoe UI"/>
              </a:rPr>
              <a:t>2. Almeida Barros R et al. (2021) Small peptides inhibit gut trypsin-like proteases and impair Anticarsia gemmatalis survival and development. Pest Manag Sci 77:1714–1723. doi:10.1002/ps.6191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1F2328"/>
                </a:solidFill>
                <a:latin typeface="Segoe UI"/>
              </a:rPr>
              <a:t>3. Júnior NRS et al. (2026) Integrated transcriptomic and physiological analyses reveal disruption of digestive homeostasis induced by protease inhibitors in A. gemmatalis. Arch Insect Biochem Physiol 123:e70223. doi:10.1002/arch.70223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1F2328"/>
                </a:solidFill>
                <a:latin typeface="Segoe UI"/>
              </a:rPr>
              <a:t>4. Watson JL et al. (2023) De novo design of protein structure and function with RFdiffusion. Nature 620:1089–1100. doi:10.1038/s41586-023-06415-8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>
                <a:solidFill>
                  <a:srgbClr val="1F2328"/>
                </a:solidFill>
                <a:latin typeface="Segoe UI"/>
              </a:rPr>
              <a:t>5. Perona JJ, Craik CS (1995) Structural basis of substrate specificity in the serine proteases. Protein Sci 4:337–360. doi:10.1002/pro.5560040301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355080"/>
            <a:ext cx="10125151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8A9097"/>
                </a:solidFill>
                <a:latin typeface="Segoe UI"/>
              </a:rPr>
              <a:t>Referências completas de cada slide nas anotações  ·  resultados: manuscrito do autor (em preparação)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75488"/>
            <a:ext cx="10765231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1F2328"/>
                </a:solidFill>
                <a:latin typeface="Segoe UI"/>
              </a:rPr>
              <a:t>Financiamento e agradecimentos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365760"/>
            <a:ext cx="822960" cy="381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A5F66"/>
                </a:solidFill>
                <a:latin typeface="Segoe UI"/>
              </a:rPr>
              <a:t>Apoio financeiro</a:t>
            </a:r>
          </a:p>
        </p:txBody>
      </p:sp>
      <p:pic>
        <p:nvPicPr>
          <p:cNvPr id="5" name="Picture 4" descr="fapem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4519"/>
            <a:ext cx="1166426" cy="960120"/>
          </a:xfrm>
          <a:prstGeom prst="rect">
            <a:avLst/>
          </a:prstGeom>
        </p:spPr>
      </p:pic>
      <p:pic>
        <p:nvPicPr>
          <p:cNvPr id="7" name="Picture 6" descr="cap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874519"/>
            <a:ext cx="1023904" cy="960120"/>
          </a:xfrm>
          <a:prstGeom prst="rect">
            <a:avLst/>
          </a:prstGeom>
        </p:spPr>
      </p:pic>
      <p:pic>
        <p:nvPicPr>
          <p:cNvPr id="9" name="Picture 8" descr="cnp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1874519"/>
            <a:ext cx="2923738" cy="960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3232" y="3474720"/>
            <a:ext cx="10765231" cy="19050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657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5A5F66"/>
                </a:solidFill>
                <a:latin typeface="Segoe UI"/>
              </a:rPr>
              <a:t>Agradecimentos</a:t>
            </a:r>
          </a:p>
        </p:txBody>
      </p:sp>
      <p:pic>
        <p:nvPicPr>
          <p:cNvPr id="14" name="Picture 13" descr="logo-l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85" y="4384861"/>
            <a:ext cx="4039400" cy="1601097"/>
          </a:xfrm>
          <a:prstGeom prst="rect">
            <a:avLst/>
          </a:prstGeom>
        </p:spPr>
      </p:pic>
      <p:pic>
        <p:nvPicPr>
          <p:cNvPr id="15" name="Picture 14" descr="ufv_cap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9663" y="1783080"/>
            <a:ext cx="1517398" cy="1188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77295" y="643737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A9097"/>
                </a:solidFill>
                <a:latin typeface="Segoe UI"/>
              </a:rPr>
              <a:t>19</a:t>
            </a:r>
          </a:p>
        </p:txBody>
      </p:sp>
      <p:pic>
        <p:nvPicPr>
          <p:cNvPr id="19" name="Imagem 18" descr="Texto&#10;&#10;O conteúdo gerado por IA pode estar incorreto.">
            <a:extLst>
              <a:ext uri="{FF2B5EF4-FFF2-40B4-BE49-F238E27FC236}">
                <a16:creationId xmlns:a16="http://schemas.microsoft.com/office/drawing/2014/main" id="{AD7248AA-9BBE-C009-D2E8-81BBA5ED40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518" y="3957237"/>
            <a:ext cx="2976071" cy="2416739"/>
          </a:xfrm>
          <a:prstGeom prst="rect">
            <a:avLst/>
          </a:prstGeom>
        </p:spPr>
      </p:pic>
      <p:pic>
        <p:nvPicPr>
          <p:cNvPr id="21" name="Imagem 20" descr="Logotipo&#10;&#10;O conteúdo gerado por IA pode estar incorreto.">
            <a:extLst>
              <a:ext uri="{FF2B5EF4-FFF2-40B4-BE49-F238E27FC236}">
                <a16:creationId xmlns:a16="http://schemas.microsoft.com/office/drawing/2014/main" id="{CBE6F252-423E-3F24-5C05-0C95D76E2D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622" y="4663440"/>
            <a:ext cx="3213873" cy="10043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2778</Words>
  <Application>Microsoft Office PowerPoint</Application>
  <PresentationFormat>Widescreen</PresentationFormat>
  <Paragraphs>179</Paragraphs>
  <Slides>19</Slides>
  <Notes>19</Notes>
  <HiddenSlides>0</HiddenSlides>
  <MMClips>2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Eulalio Santos</cp:lastModifiedBy>
  <cp:revision>10</cp:revision>
  <dcterms:created xsi:type="dcterms:W3CDTF">2013-01-27T09:14:16Z</dcterms:created>
  <dcterms:modified xsi:type="dcterms:W3CDTF">2026-10-21T12:20:46Z</dcterms:modified>
  <cp:category/>
</cp:coreProperties>
</file>