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286000"/>
            <a:ext cx="12188952" cy="7315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526280"/>
            <a:ext cx="12188952" cy="45720"/>
          </a:xfrm>
          <a:prstGeom prst="rect">
            <a:avLst/>
          </a:prstGeom>
          <a:solidFill>
            <a:srgbClr val="1A4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8229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 i="0">
                <a:solidFill>
                  <a:srgbClr val="FFFFFF"/>
                </a:solidFill>
                <a:latin typeface="Calibri"/>
              </a:rPr>
              <a:t>Design Racional de Inibidores Peptídicos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554480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00B4D8"/>
                </a:solidFill>
                <a:latin typeface="Calibri"/>
              </a:rPr>
              <a:t>de Tripsinas de Lepidoptera por IA Generativa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46888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1">
                <a:solidFill>
                  <a:srgbClr val="F0F4F8"/>
                </a:solidFill>
                <a:latin typeface="Calibri"/>
              </a:rPr>
              <a:t>Pipeline Multiagente: RFdiffusion → ProteinMPNN → PyRosetta → Vina → GROMACS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70916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 i="0">
                <a:solidFill>
                  <a:srgbClr val="F0F4F8"/>
                </a:solidFill>
                <a:latin typeface="Calibri"/>
              </a:rPr>
              <a:t>Eulalio B. Q. Santos  |  UFV Viçosa-MG  |  eulalio.santos@ufv.br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51206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00B4D8"/>
                </a:solidFill>
                <a:latin typeface="Calibri"/>
              </a:rPr>
              <a:t>github.com/eulaliobqi/design-inibidores  |  Junho 2026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5669280"/>
            <a:ext cx="1737360" cy="347472"/>
          </a:xfrm>
          <a:prstGeom prst="rect">
            <a:avLst/>
          </a:prstGeom>
          <a:solidFill>
            <a:srgbClr val="1A4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5687568"/>
            <a:ext cx="164591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RFdiffusion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423160" y="5669280"/>
            <a:ext cx="1737360" cy="347472"/>
          </a:xfrm>
          <a:prstGeom prst="rect">
            <a:avLst/>
          </a:prstGeom>
          <a:solidFill>
            <a:srgbClr val="1A4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468879" y="5687568"/>
            <a:ext cx="164591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ProteinMPNN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297679" y="5669280"/>
            <a:ext cx="1737360" cy="347472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343399" y="5687568"/>
            <a:ext cx="164591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PyRosetta 2026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72199" y="5669280"/>
            <a:ext cx="1737360" cy="347472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17919" y="5687568"/>
            <a:ext cx="164591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AutoDock Vina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046719" y="5669280"/>
            <a:ext cx="1737360" cy="347472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92440" y="5687568"/>
            <a:ext cx="164591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GROMACS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921240" y="5669280"/>
            <a:ext cx="1737360" cy="347472"/>
          </a:xfrm>
          <a:prstGeom prst="rect">
            <a:avLst/>
          </a:prstGeom>
          <a:solidFill>
            <a:srgbClr val="1A4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966960" y="5687568"/>
            <a:ext cx="164591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Python 3.10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521440" y="649224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8899AA"/>
                </a:solidFill>
                <a:latin typeface="Calibri"/>
              </a:rPr>
              <a:t>1/18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960120"/>
            <a:ext cx="12188952" cy="457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45720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Contextualização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21792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00B4D8"/>
                </a:solidFill>
                <a:latin typeface="Calibri"/>
              </a:rPr>
              <a:t>Por que inibidores de tripsinas de Lepidoptera?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143000"/>
            <a:ext cx="5303520" cy="502920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1234440"/>
            <a:ext cx="4937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00B4D8"/>
                </a:solidFill>
                <a:latin typeface="Calibri"/>
              </a:rPr>
              <a:t>O PROBLEMA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691640"/>
            <a:ext cx="50292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0F4F8"/>
                </a:solidFill>
                <a:latin typeface="Calibri"/>
              </a:rPr>
              <a:t>  Spodoptera frugiperda e Agrotis gemmatalis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2112264"/>
            <a:ext cx="50292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0F4F8"/>
                </a:solidFill>
                <a:latin typeface="Calibri"/>
              </a:rPr>
              <a:t>      causam bilhões USD/ano em perdas agrícolas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2532888"/>
            <a:ext cx="50292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0F4F8"/>
                </a:solidFill>
                <a:latin typeface="Calibri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2953512"/>
            <a:ext cx="50292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0F4F8"/>
                </a:solidFill>
                <a:latin typeface="Calibri"/>
              </a:rPr>
              <a:t>  Inseticidas químicos: resistência crescente,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3374136"/>
            <a:ext cx="50292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0F4F8"/>
                </a:solidFill>
                <a:latin typeface="Calibri"/>
              </a:rPr>
              <a:t>      toxicidade ambiental e resíduos em alimentos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3794760"/>
            <a:ext cx="50292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0F4F8"/>
                </a:solidFill>
                <a:latin typeface="Calibri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4215384"/>
            <a:ext cx="50292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0F4F8"/>
                </a:solidFill>
                <a:latin typeface="Calibri"/>
              </a:rPr>
              <a:t>  Tripsinas digestivas são essenciais para 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4636008"/>
            <a:ext cx="50292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0F4F8"/>
                </a:solidFill>
                <a:latin typeface="Calibri"/>
              </a:rPr>
              <a:t>      desenvolvimento larval — alvos comprovados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5056632"/>
            <a:ext cx="50292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0F4F8"/>
                </a:solidFill>
                <a:latin typeface="Calibri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5477256"/>
            <a:ext cx="50292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0F4F8"/>
                </a:solidFill>
                <a:latin typeface="Calibri"/>
              </a:rPr>
              <a:t>  Quais peptídeos inibem essas tripsinas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5897880"/>
            <a:ext cx="50292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0F4F8"/>
                </a:solidFill>
                <a:latin typeface="Calibri"/>
              </a:rPr>
              <a:t>      com alta seletividade e baixa toxicidade?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035040" y="1143000"/>
            <a:ext cx="5760720" cy="5029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035040" y="1143000"/>
            <a:ext cx="5760720" cy="457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217920" y="1234440"/>
            <a:ext cx="5394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D2B55"/>
                </a:solidFill>
                <a:latin typeface="Calibri"/>
              </a:rPr>
              <a:t>A OPORTUNIDADE DA IA GENERATIVA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172200" y="1691640"/>
            <a:ext cx="53949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33344"/>
                </a:solidFill>
                <a:latin typeface="Calibri"/>
              </a:rPr>
              <a:t>RFdiffusion (Nature 2023): gera backbones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172200" y="2020824"/>
            <a:ext cx="53949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33344"/>
                </a:solidFill>
                <a:latin typeface="Calibri"/>
              </a:rPr>
              <a:t>    proteicos condicionados a sítios de ligação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172200" y="2350008"/>
            <a:ext cx="53949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33344"/>
                </a:solidFill>
                <a:latin typeface="Calibri"/>
              </a:rPr>
              <a:t/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172200" y="2679192"/>
            <a:ext cx="53949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33344"/>
                </a:solidFill>
                <a:latin typeface="Calibri"/>
              </a:rPr>
              <a:t>ProteinMPNN (Science 2022): otimiza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172200" y="3008376"/>
            <a:ext cx="53949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33344"/>
                </a:solidFill>
                <a:latin typeface="Calibri"/>
              </a:rPr>
              <a:t>    sequências para backbones de interesse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172200" y="3337560"/>
            <a:ext cx="53949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33344"/>
                </a:solidFill>
                <a:latin typeface="Calibri"/>
              </a:rPr>
              <a:t/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172200" y="3666744"/>
            <a:ext cx="53949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33344"/>
                </a:solidFill>
                <a:latin typeface="Calibri"/>
              </a:rPr>
              <a:t>PyRosetta (2026.25): refinamento de interface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172200" y="3995928"/>
            <a:ext cx="53949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33344"/>
                </a:solidFill>
                <a:latin typeface="Calibri"/>
              </a:rPr>
              <a:t>    FastRelax + InterfaceAnalyzerMover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172200" y="4325112"/>
            <a:ext cx="53949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33344"/>
                </a:solidFill>
                <a:latin typeface="Calibri"/>
              </a:rPr>
              <a:t/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172200" y="4654296"/>
            <a:ext cx="53949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33344"/>
                </a:solidFill>
                <a:latin typeface="Calibri"/>
              </a:rPr>
              <a:t>AutoDock Vina: triagem de afinidade em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172200" y="4983479"/>
            <a:ext cx="53949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33344"/>
                </a:solidFill>
                <a:latin typeface="Calibri"/>
              </a:rPr>
              <a:t>    larga escala (194 poses reais, kcal/mol)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172200" y="5312664"/>
            <a:ext cx="53949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33344"/>
                </a:solidFill>
                <a:latin typeface="Calibri"/>
              </a:rPr>
              <a:t/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172200" y="5641848"/>
            <a:ext cx="53949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33344"/>
                </a:solidFill>
                <a:latin typeface="Calibri"/>
              </a:rPr>
              <a:t>Dataset ML/DL: 24.513 seqs × 41 features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172200" y="5971031"/>
            <a:ext cx="53949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33344"/>
                </a:solidFill>
                <a:latin typeface="Calibri"/>
              </a:rPr>
              <a:t>    para treinar modelos preditivos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521440" y="649224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8899AA"/>
                </a:solidFill>
                <a:latin typeface="Calibri"/>
              </a:rPr>
              <a:t>2/18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960120"/>
            <a:ext cx="12188952" cy="457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45720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Objetivos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21792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00B4D8"/>
                </a:solidFill>
                <a:latin typeface="Calibri"/>
              </a:rPr>
              <a:t>Design computacional racional + dataset para ML/DL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4300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 i="0">
                <a:solidFill>
                  <a:srgbClr val="0D2B55"/>
                </a:solidFill>
                <a:latin typeface="Calibri"/>
              </a:rPr>
              <a:t>Objetivo geral: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50876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333344"/>
                </a:solidFill>
                <a:latin typeface="Calibri"/>
              </a:rPr>
              <a:t>Gerar e validar computacionalmente peptídeos inibidores de tripsinas digestivas de Lepidoptera-praga usando pipeline multiagente de IA generativa estrutural, produzindo simultaneamente um dataset ML/DL supervisionado com scores Vina + Rosetta como labels.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4231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0D2B55"/>
                </a:solidFill>
                <a:latin typeface="Calibri"/>
              </a:rPr>
              <a:t>Objetivos específicos: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834640"/>
            <a:ext cx="411480" cy="384048"/>
          </a:xfrm>
          <a:prstGeom prst="rect">
            <a:avLst/>
          </a:prstGeom>
          <a:solidFill>
            <a:srgbClr val="1A4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" y="2834640"/>
            <a:ext cx="4114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1.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2862072"/>
            <a:ext cx="106984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33344"/>
                </a:solidFill>
                <a:latin typeface="Calibri"/>
              </a:rPr>
              <a:t>Identificar resíduos catalíticos e bolso S1 de 4 tripsinas lepidópteras (ACR157/QCL936/XP273/XP352)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3337560"/>
            <a:ext cx="411480" cy="384048"/>
          </a:xfrm>
          <a:prstGeom prst="rect">
            <a:avLst/>
          </a:prstGeom>
          <a:solidFill>
            <a:srgbClr val="1A4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3337560"/>
            <a:ext cx="4114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2.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" y="3364991"/>
            <a:ext cx="106984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33344"/>
                </a:solidFill>
                <a:latin typeface="Calibri"/>
              </a:rPr>
              <a:t>Gerar 330 backbones peptídicos de 20 aa via RFdiffusion ancorados ao sítio S1 de ACR157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3840480"/>
            <a:ext cx="411480" cy="384048"/>
          </a:xfrm>
          <a:prstGeom prst="rect">
            <a:avLst/>
          </a:prstGeom>
          <a:solidFill>
            <a:srgbClr val="1A4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3840480"/>
            <a:ext cx="4114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3.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" y="3867912"/>
            <a:ext cx="106984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33344"/>
                </a:solidFill>
                <a:latin typeface="Calibri"/>
              </a:rPr>
              <a:t>Produzir 24.513 sequências binder únicas por ProteinMPNN (extração cadeia B, bug FASTA corrigido)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4343400"/>
            <a:ext cx="411480" cy="384048"/>
          </a:xfrm>
          <a:prstGeom prst="rect">
            <a:avLst/>
          </a:prstGeom>
          <a:solidFill>
            <a:srgbClr val="1A4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7200" y="4343400"/>
            <a:ext cx="4114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4.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0120" y="4370832"/>
            <a:ext cx="106984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33344"/>
                </a:solidFill>
                <a:latin typeface="Calibri"/>
              </a:rPr>
              <a:t>Anotar 41 features físico-químicas para cada sequência (dataset ML/DL supervisionado)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4846320"/>
            <a:ext cx="411480" cy="384048"/>
          </a:xfrm>
          <a:prstGeom prst="rect">
            <a:avLst/>
          </a:prstGeom>
          <a:solidFill>
            <a:srgbClr val="1A4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7200" y="4846320"/>
            <a:ext cx="4114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5.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0120" y="4873752"/>
            <a:ext cx="106984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33344"/>
                </a:solidFill>
                <a:latin typeface="Calibri"/>
              </a:rPr>
              <a:t>Obter energias de afinidade Vina reais como labels — 194/194 poses válidas (binders RFdiffusion)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5349240"/>
            <a:ext cx="411480" cy="384048"/>
          </a:xfrm>
          <a:prstGeom prst="rect">
            <a:avLst/>
          </a:prstGeom>
          <a:solidFill>
            <a:srgbClr val="1A4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7200" y="5349240"/>
            <a:ext cx="4114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6.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0120" y="5376672"/>
            <a:ext cx="106984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33344"/>
                </a:solidFill>
                <a:latin typeface="Calibri"/>
              </a:rPr>
              <a:t>Refinar top-10 candidatos com PyRosetta FastRelax + InterfaceAnalyzerMover (I_sc REF2015)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57200" y="5852160"/>
            <a:ext cx="411480" cy="384048"/>
          </a:xfrm>
          <a:prstGeom prst="rect">
            <a:avLst/>
          </a:prstGeom>
          <a:solidFill>
            <a:srgbClr val="1A4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57200" y="5852160"/>
            <a:ext cx="4114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7.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60120" y="5879592"/>
            <a:ext cx="106984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33344"/>
                </a:solidFill>
                <a:latin typeface="Calibri"/>
              </a:rPr>
              <a:t>Validar top-5 por dinâmica molecular 10 ns (GROMACS gmx_mpi, AMBER99SB-ILDN, TIP3P, 300 K)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521440" y="649224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8899AA"/>
                </a:solidFill>
                <a:latin typeface="Calibri"/>
              </a:rPr>
              <a:t>3/18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960120"/>
            <a:ext cx="12188952" cy="457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45720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Pipeline Multiagente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21792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00B4D8"/>
                </a:solidFill>
                <a:latin typeface="Calibri"/>
              </a:rPr>
              <a:t>10 módulos especializados — TODAS as etapas principais concluídas</a:t>
            </a:r>
          </a:p>
        </p:txBody>
      </p:sp>
      <p:sp>
        <p:nvSpPr>
          <p:cNvPr id="8" name="Rectangle 7"/>
          <p:cNvSpPr/>
          <p:nvPr/>
        </p:nvSpPr>
        <p:spPr>
          <a:xfrm>
            <a:off x="320040" y="1143000"/>
            <a:ext cx="2057400" cy="2103120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84048" y="1207008"/>
            <a:ext cx="1929384" cy="197510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11479" y="1234440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6D6A0"/>
                </a:solidFill>
                <a:latin typeface="Calibri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65960" y="1234440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600" b="1" i="0">
                <a:solidFill>
                  <a:srgbClr val="06D6A0"/>
                </a:solidFill>
                <a:latin typeface="Calibri"/>
              </a:rPr>
              <a:t>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79" y="1554480"/>
            <a:ext cx="1874519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D2B55"/>
                </a:solidFill>
                <a:latin typeface="Calibri"/>
              </a:rPr>
              <a:t>Structure
Agent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79" y="2148840"/>
            <a:ext cx="1874519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33344"/>
                </a:solidFill>
                <a:latin typeface="Calibri"/>
              </a:rPr>
              <a:t>Sítio S1
Hotspots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377440" y="1965960"/>
            <a:ext cx="246888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00B4D8"/>
                </a:solidFill>
                <a:latin typeface="Calibri"/>
              </a:rPr>
              <a:t>→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624328" y="1143000"/>
            <a:ext cx="2057400" cy="2103120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688336" y="1207008"/>
            <a:ext cx="1929384" cy="197510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715768" y="1234440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6D6A0"/>
                </a:solidFill>
                <a:latin typeface="Calibri"/>
              </a:rPr>
              <a:t>02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70248" y="1234440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600" b="1" i="0">
                <a:solidFill>
                  <a:srgbClr val="06D6A0"/>
                </a:solidFill>
                <a:latin typeface="Calibri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715768" y="1554480"/>
            <a:ext cx="1874519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D2B55"/>
                </a:solidFill>
                <a:latin typeface="Calibri"/>
              </a:rPr>
              <a:t>RFdiffusion
Agent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715768" y="2148840"/>
            <a:ext cx="1874519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33344"/>
                </a:solidFill>
                <a:latin typeface="Calibri"/>
              </a:rPr>
              <a:t>330 backbones
20 aa reais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681728" y="1965960"/>
            <a:ext cx="246888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00B4D8"/>
                </a:solidFill>
                <a:latin typeface="Calibri"/>
              </a:rPr>
              <a:t>→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928616" y="1143000"/>
            <a:ext cx="2057400" cy="2103120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992624" y="1207008"/>
            <a:ext cx="1929384" cy="197510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20055" y="1234440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6D6A0"/>
                </a:solidFill>
                <a:latin typeface="Calibri"/>
              </a:rPr>
              <a:t>03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74536" y="1234440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600" b="1" i="0">
                <a:solidFill>
                  <a:srgbClr val="06D6A0"/>
                </a:solidFill>
                <a:latin typeface="Calibri"/>
              </a:rPr>
              <a:t>✓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0055" y="1554480"/>
            <a:ext cx="1874519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D2B55"/>
                </a:solidFill>
                <a:latin typeface="Calibri"/>
              </a:rPr>
              <a:t>ProteinMPNN
Agent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20055" y="2148840"/>
            <a:ext cx="1874519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33344"/>
                </a:solidFill>
                <a:latin typeface="Calibri"/>
              </a:rPr>
              <a:t>24.513
binders únicos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986016" y="1965960"/>
            <a:ext cx="246888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00B4D8"/>
                </a:solidFill>
                <a:latin typeface="Calibri"/>
              </a:rPr>
              <a:t>→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232904" y="1143000"/>
            <a:ext cx="2057400" cy="2103120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7296912" y="1207008"/>
            <a:ext cx="1929384" cy="197510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324344" y="1234440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6D6A0"/>
                </a:solidFill>
                <a:latin typeface="Calibri"/>
              </a:rPr>
              <a:t>04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878824" y="1234440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600" b="1" i="0">
                <a:solidFill>
                  <a:srgbClr val="06D6A0"/>
                </a:solidFill>
                <a:latin typeface="Calibri"/>
              </a:rPr>
              <a:t>✓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24344" y="1554480"/>
            <a:ext cx="1874519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D2B55"/>
                </a:solidFill>
                <a:latin typeface="Calibri"/>
              </a:rPr>
              <a:t>Rosetta
Agent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24344" y="2148840"/>
            <a:ext cx="1874519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33344"/>
                </a:solidFill>
                <a:latin typeface="Calibri"/>
              </a:rPr>
              <a:t>PyRosetta
I_sc REF2015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290304" y="1965960"/>
            <a:ext cx="246888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00B4D8"/>
                </a:solidFill>
                <a:latin typeface="Calibri"/>
              </a:rPr>
              <a:t>→</a:t>
            </a:r>
          </a:p>
        </p:txBody>
      </p:sp>
      <p:sp>
        <p:nvSpPr>
          <p:cNvPr id="36" name="Rectangle 35"/>
          <p:cNvSpPr/>
          <p:nvPr/>
        </p:nvSpPr>
        <p:spPr>
          <a:xfrm>
            <a:off x="9537192" y="1143000"/>
            <a:ext cx="2057400" cy="2103120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9601200" y="1207008"/>
            <a:ext cx="1929384" cy="197510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628632" y="1234440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6D6A0"/>
                </a:solidFill>
                <a:latin typeface="Calibri"/>
              </a:rPr>
              <a:t>05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183112" y="1234440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600" b="1" i="0">
                <a:solidFill>
                  <a:srgbClr val="06D6A0"/>
                </a:solidFill>
                <a:latin typeface="Calibri"/>
              </a:rPr>
              <a:t>✓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628632" y="1554480"/>
            <a:ext cx="1874519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D2B55"/>
                </a:solidFill>
                <a:latin typeface="Calibri"/>
              </a:rPr>
              <a:t>Docking
Agent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628632" y="2148840"/>
            <a:ext cx="1874519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33344"/>
                </a:solidFill>
                <a:latin typeface="Calibri"/>
              </a:rPr>
              <a:t>194/194
Vina reais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20040" y="3611880"/>
            <a:ext cx="2057400" cy="2103120"/>
          </a:xfrm>
          <a:prstGeom prst="rect">
            <a:avLst/>
          </a:prstGeom>
          <a:solidFill>
            <a:srgbClr val="FFD1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384048" y="3675888"/>
            <a:ext cx="1929384" cy="197510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11479" y="3703320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D166"/>
                </a:solidFill>
                <a:latin typeface="Calibri"/>
              </a:rPr>
              <a:t>06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965960" y="3703320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600" b="1" i="0">
                <a:solidFill>
                  <a:srgbClr val="FFD166"/>
                </a:solidFill>
                <a:latin typeface="Calibri"/>
              </a:rPr>
              <a:t>◑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11479" y="4023360"/>
            <a:ext cx="1874519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D2B55"/>
                </a:solidFill>
                <a:latin typeface="Calibri"/>
              </a:rPr>
              <a:t>MD Agent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11479" y="4617720"/>
            <a:ext cx="1874519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33344"/>
                </a:solidFill>
                <a:latin typeface="Calibri"/>
              </a:rPr>
              <a:t>GROMACS
10 ns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377440" y="4434840"/>
            <a:ext cx="246888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00B4D8"/>
                </a:solidFill>
                <a:latin typeface="Calibri"/>
              </a:rPr>
              <a:t>→</a:t>
            </a:r>
          </a:p>
        </p:txBody>
      </p:sp>
      <p:sp>
        <p:nvSpPr>
          <p:cNvPr id="49" name="Rectangle 48"/>
          <p:cNvSpPr/>
          <p:nvPr/>
        </p:nvSpPr>
        <p:spPr>
          <a:xfrm>
            <a:off x="2624328" y="3611880"/>
            <a:ext cx="2057400" cy="2103120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2688336" y="3675888"/>
            <a:ext cx="1929384" cy="197510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2715768" y="3703320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6D6A0"/>
                </a:solidFill>
                <a:latin typeface="Calibri"/>
              </a:rPr>
              <a:t>07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70248" y="3703320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600" b="1" i="0">
                <a:solidFill>
                  <a:srgbClr val="06D6A0"/>
                </a:solidFill>
                <a:latin typeface="Calibri"/>
              </a:rPr>
              <a:t>✓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2715768" y="4023360"/>
            <a:ext cx="1874519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D2B55"/>
                </a:solidFill>
                <a:latin typeface="Calibri"/>
              </a:rPr>
              <a:t>Ranking
Agent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2715768" y="4617720"/>
            <a:ext cx="1874519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33344"/>
                </a:solidFill>
                <a:latin typeface="Calibri"/>
              </a:rPr>
              <a:t>Score
composto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681728" y="4434840"/>
            <a:ext cx="246888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00B4D8"/>
                </a:solidFill>
                <a:latin typeface="Calibri"/>
              </a:rPr>
              <a:t>→</a:t>
            </a:r>
          </a:p>
        </p:txBody>
      </p:sp>
      <p:sp>
        <p:nvSpPr>
          <p:cNvPr id="56" name="Rectangle 55"/>
          <p:cNvSpPr/>
          <p:nvPr/>
        </p:nvSpPr>
        <p:spPr>
          <a:xfrm>
            <a:off x="4928616" y="3611880"/>
            <a:ext cx="2057400" cy="2103120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4992624" y="3675888"/>
            <a:ext cx="1929384" cy="197510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5020055" y="3703320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6D6A0"/>
                </a:solidFill>
                <a:latin typeface="Calibri"/>
              </a:rPr>
              <a:t>08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574536" y="3703320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600" b="1" i="0">
                <a:solidFill>
                  <a:srgbClr val="06D6A0"/>
                </a:solidFill>
                <a:latin typeface="Calibri"/>
              </a:rPr>
              <a:t>✓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020055" y="4023360"/>
            <a:ext cx="1874519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D2B55"/>
                </a:solidFill>
                <a:latin typeface="Calibri"/>
              </a:rPr>
              <a:t>Visualize
Agent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020055" y="4617720"/>
            <a:ext cx="1874519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33344"/>
                </a:solidFill>
                <a:latin typeface="Calibri"/>
              </a:rPr>
              <a:t>6 figuras
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986016" y="4434840"/>
            <a:ext cx="246888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00B4D8"/>
                </a:solidFill>
                <a:latin typeface="Calibri"/>
              </a:rPr>
              <a:t>→</a:t>
            </a:r>
          </a:p>
        </p:txBody>
      </p:sp>
      <p:sp>
        <p:nvSpPr>
          <p:cNvPr id="63" name="Rectangle 62"/>
          <p:cNvSpPr/>
          <p:nvPr/>
        </p:nvSpPr>
        <p:spPr>
          <a:xfrm>
            <a:off x="7232904" y="3611880"/>
            <a:ext cx="2057400" cy="2103120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7296912" y="3675888"/>
            <a:ext cx="1929384" cy="197510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7324344" y="3703320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6D6A0"/>
                </a:solidFill>
                <a:latin typeface="Calibri"/>
              </a:rPr>
              <a:t>09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878824" y="3703320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600" b="1" i="0">
                <a:solidFill>
                  <a:srgbClr val="06D6A0"/>
                </a:solidFill>
                <a:latin typeface="Calibri"/>
              </a:rPr>
              <a:t>✓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324344" y="4023360"/>
            <a:ext cx="1874519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D2B55"/>
                </a:solidFill>
                <a:latin typeface="Calibri"/>
              </a:rPr>
              <a:t>Report
Agent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7324344" y="4617720"/>
            <a:ext cx="1874519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33344"/>
                </a:solidFill>
                <a:latin typeface="Calibri"/>
              </a:rPr>
              <a:t>HTML + MD
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9290304" y="4434840"/>
            <a:ext cx="246888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00B4D8"/>
                </a:solidFill>
                <a:latin typeface="Calibri"/>
              </a:rPr>
              <a:t>→</a:t>
            </a:r>
          </a:p>
        </p:txBody>
      </p:sp>
      <p:sp>
        <p:nvSpPr>
          <p:cNvPr id="70" name="Rectangle 69"/>
          <p:cNvSpPr/>
          <p:nvPr/>
        </p:nvSpPr>
        <p:spPr>
          <a:xfrm>
            <a:off x="9537192" y="3611880"/>
            <a:ext cx="2057400" cy="2103120"/>
          </a:xfrm>
          <a:prstGeom prst="rect">
            <a:avLst/>
          </a:prstGeom>
          <a:solidFill>
            <a:srgbClr val="3333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9601200" y="3675888"/>
            <a:ext cx="1929384" cy="197510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9628632" y="3703320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333344"/>
                </a:solidFill>
                <a:latin typeface="Calibri"/>
              </a:rPr>
              <a:t>10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1183112" y="3703320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600" b="1" i="0">
                <a:solidFill>
                  <a:srgbClr val="333344"/>
                </a:solidFill>
                <a:latin typeface="Calibri"/>
              </a:rPr>
              <a:t>—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628632" y="4023360"/>
            <a:ext cx="1874519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D2B55"/>
                </a:solidFill>
                <a:latin typeface="Calibri"/>
              </a:rPr>
              <a:t>Optimize
Agent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9628632" y="4617720"/>
            <a:ext cx="1874519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33344"/>
                </a:solidFill>
                <a:latin typeface="Calibri"/>
              </a:rPr>
              <a:t>Redesign
top-10</a:t>
            </a:r>
          </a:p>
        </p:txBody>
      </p:sp>
      <p:sp>
        <p:nvSpPr>
          <p:cNvPr id="76" name="Rectangle 75"/>
          <p:cNvSpPr/>
          <p:nvPr/>
        </p:nvSpPr>
        <p:spPr>
          <a:xfrm>
            <a:off x="320040" y="6492240"/>
            <a:ext cx="274320" cy="228600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594360" y="6464808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33344"/>
                </a:solidFill>
                <a:latin typeface="Calibri"/>
              </a:rPr>
              <a:t> Concluído</a:t>
            </a:r>
          </a:p>
        </p:txBody>
      </p:sp>
      <p:sp>
        <p:nvSpPr>
          <p:cNvPr id="78" name="Rectangle 77"/>
          <p:cNvSpPr/>
          <p:nvPr/>
        </p:nvSpPr>
        <p:spPr>
          <a:xfrm>
            <a:off x="2606040" y="6492240"/>
            <a:ext cx="274320" cy="228600"/>
          </a:xfrm>
          <a:prstGeom prst="rect">
            <a:avLst/>
          </a:prstGeom>
          <a:solidFill>
            <a:srgbClr val="FFD1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2880360" y="6464808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33344"/>
                </a:solidFill>
                <a:latin typeface="Calibri"/>
              </a:rPr>
              <a:t> Em execução</a:t>
            </a:r>
          </a:p>
        </p:txBody>
      </p:sp>
      <p:sp>
        <p:nvSpPr>
          <p:cNvPr id="80" name="Rectangle 79"/>
          <p:cNvSpPr/>
          <p:nvPr/>
        </p:nvSpPr>
        <p:spPr>
          <a:xfrm>
            <a:off x="4892040" y="6492240"/>
            <a:ext cx="274320" cy="228600"/>
          </a:xfrm>
          <a:prstGeom prst="rect">
            <a:avLst/>
          </a:prstGeom>
          <a:solidFill>
            <a:srgbClr val="3333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5166360" y="6464808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33344"/>
                </a:solidFill>
                <a:latin typeface="Calibri"/>
              </a:rPr>
              <a:t> Aguarda MD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1521440" y="649224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8899AA"/>
                </a:solidFill>
                <a:latin typeface="Calibri"/>
              </a:rPr>
              <a:t>4/18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960120"/>
            <a:ext cx="12188952" cy="457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45720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Alvo Molecular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21792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00B4D8"/>
                </a:solidFill>
                <a:latin typeface="Calibri"/>
              </a:rPr>
              <a:t>Tripsinas digestivas de Lepidoptera-praga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972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0D2B55"/>
                </a:solidFill>
                <a:latin typeface="Calibri"/>
              </a:rPr>
              <a:t>4 modelos estruturais de tripsinas: ACR157, QCL936, XP273, XP352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1554480"/>
            <a:ext cx="1280160" cy="384048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11480" y="1572768"/>
            <a:ext cx="118871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Modelo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645919" y="1554480"/>
            <a:ext cx="1463040" cy="384048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691639" y="1572768"/>
            <a:ext cx="1371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His/Tyr (Cat)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108960" y="1554480"/>
            <a:ext cx="1325880" cy="384048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154679" y="1572768"/>
            <a:ext cx="123443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Asp (Tríade)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434840" y="1554480"/>
            <a:ext cx="1417320" cy="384048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80560" y="1572768"/>
            <a:ext cx="1325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Ser/Ala (Nuc)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852160" y="1554480"/>
            <a:ext cx="1188720" cy="384048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897880" y="1572768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S1 (Esp)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040880" y="1554480"/>
            <a:ext cx="2423160" cy="384048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086600" y="1572768"/>
            <a:ext cx="2331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Centro (X,Y,Z) Å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1938528"/>
            <a:ext cx="1280160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11480" y="1956816"/>
            <a:ext cx="118871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333344"/>
                </a:solidFill>
                <a:latin typeface="Calibri"/>
              </a:rPr>
              <a:t>ACR157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645919" y="1938528"/>
            <a:ext cx="1463040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691639" y="1956816"/>
            <a:ext cx="1371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333344"/>
                </a:solidFill>
                <a:latin typeface="Calibri"/>
              </a:rPr>
              <a:t>His69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108960" y="1938528"/>
            <a:ext cx="1325880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154679" y="1956816"/>
            <a:ext cx="123443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333344"/>
                </a:solidFill>
                <a:latin typeface="Calibri"/>
              </a:rPr>
              <a:t>Asp114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434840" y="1938528"/>
            <a:ext cx="1417320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480560" y="1956816"/>
            <a:ext cx="13258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333344"/>
                </a:solidFill>
                <a:latin typeface="Calibri"/>
              </a:rPr>
              <a:t>Ser211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852160" y="1938528"/>
            <a:ext cx="1188720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897880" y="1956816"/>
            <a:ext cx="10972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333344"/>
                </a:solidFill>
                <a:latin typeface="Calibri"/>
              </a:rPr>
              <a:t>Asp205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040880" y="1938528"/>
            <a:ext cx="2423160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086600" y="1956816"/>
            <a:ext cx="23317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333344"/>
                </a:solidFill>
                <a:latin typeface="Calibri"/>
              </a:rPr>
              <a:t>7.09 / -1.15 / -1.63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304288"/>
            <a:ext cx="1280160" cy="36576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11480" y="2322576"/>
            <a:ext cx="118871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333344"/>
                </a:solidFill>
                <a:latin typeface="Calibri"/>
              </a:rPr>
              <a:t>QCL936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645919" y="2304288"/>
            <a:ext cx="1463040" cy="36576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691639" y="2322576"/>
            <a:ext cx="1371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333344"/>
                </a:solidFill>
                <a:latin typeface="Calibri"/>
              </a:rPr>
              <a:t>His92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108960" y="2304288"/>
            <a:ext cx="1325880" cy="36576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154679" y="2322576"/>
            <a:ext cx="123443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333344"/>
                </a:solidFill>
                <a:latin typeface="Calibri"/>
              </a:rPr>
              <a:t>Asp142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434840" y="2304288"/>
            <a:ext cx="1417320" cy="36576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480560" y="2322576"/>
            <a:ext cx="13258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333344"/>
                </a:solidFill>
                <a:latin typeface="Calibri"/>
              </a:rPr>
              <a:t>Ser247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852160" y="2304288"/>
            <a:ext cx="1188720" cy="36576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897880" y="2322576"/>
            <a:ext cx="10972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333344"/>
                </a:solidFill>
                <a:latin typeface="Calibri"/>
              </a:rPr>
              <a:t>Asp241</a:t>
            </a:r>
          </a:p>
        </p:txBody>
      </p:sp>
      <p:sp>
        <p:nvSpPr>
          <p:cNvPr id="43" name="Rectangle 42"/>
          <p:cNvSpPr/>
          <p:nvPr/>
        </p:nvSpPr>
        <p:spPr>
          <a:xfrm>
            <a:off x="7040880" y="2304288"/>
            <a:ext cx="2423160" cy="36576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086600" y="2322576"/>
            <a:ext cx="23317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333344"/>
                </a:solidFill>
                <a:latin typeface="Calibri"/>
              </a:rPr>
              <a:t>2.94 / 5.55 / -0.32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65760" y="2670048"/>
            <a:ext cx="1280160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11480" y="2688336"/>
            <a:ext cx="118871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333344"/>
                </a:solidFill>
                <a:latin typeface="Calibri"/>
              </a:rPr>
              <a:t>XP273 ★</a:t>
            </a:r>
          </a:p>
        </p:txBody>
      </p:sp>
      <p:sp>
        <p:nvSpPr>
          <p:cNvPr id="47" name="Rectangle 46"/>
          <p:cNvSpPr/>
          <p:nvPr/>
        </p:nvSpPr>
        <p:spPr>
          <a:xfrm>
            <a:off x="1645919" y="2670048"/>
            <a:ext cx="1463040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1691639" y="2688336"/>
            <a:ext cx="1371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333344"/>
                </a:solidFill>
                <a:latin typeface="Calibri"/>
              </a:rPr>
              <a:t>Tyr83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108960" y="2670048"/>
            <a:ext cx="1325880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154679" y="2688336"/>
            <a:ext cx="123443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333344"/>
                </a:solidFill>
                <a:latin typeface="Calibri"/>
              </a:rPr>
              <a:t>Asp132</a:t>
            </a:r>
          </a:p>
        </p:txBody>
      </p:sp>
      <p:sp>
        <p:nvSpPr>
          <p:cNvPr id="51" name="Rectangle 50"/>
          <p:cNvSpPr/>
          <p:nvPr/>
        </p:nvSpPr>
        <p:spPr>
          <a:xfrm>
            <a:off x="4434840" y="2670048"/>
            <a:ext cx="1417320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4480560" y="2688336"/>
            <a:ext cx="13258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333344"/>
                </a:solidFill>
                <a:latin typeface="Calibri"/>
              </a:rPr>
              <a:t>Ser234</a:t>
            </a:r>
          </a:p>
        </p:txBody>
      </p:sp>
      <p:sp>
        <p:nvSpPr>
          <p:cNvPr id="53" name="Rectangle 52"/>
          <p:cNvSpPr/>
          <p:nvPr/>
        </p:nvSpPr>
        <p:spPr>
          <a:xfrm>
            <a:off x="5852160" y="2670048"/>
            <a:ext cx="1188720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5897880" y="2688336"/>
            <a:ext cx="10972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333344"/>
                </a:solidFill>
                <a:latin typeface="Calibri"/>
              </a:rPr>
              <a:t>Ile229</a:t>
            </a:r>
          </a:p>
        </p:txBody>
      </p:sp>
      <p:sp>
        <p:nvSpPr>
          <p:cNvPr id="55" name="Rectangle 54"/>
          <p:cNvSpPr/>
          <p:nvPr/>
        </p:nvSpPr>
        <p:spPr>
          <a:xfrm>
            <a:off x="7040880" y="2670048"/>
            <a:ext cx="2423160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7086600" y="2688336"/>
            <a:ext cx="23317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333344"/>
                </a:solidFill>
                <a:latin typeface="Calibri"/>
              </a:rPr>
              <a:t>1.67 / 8.29 / -0.34</a:t>
            </a:r>
          </a:p>
        </p:txBody>
      </p:sp>
      <p:sp>
        <p:nvSpPr>
          <p:cNvPr id="57" name="Rectangle 56"/>
          <p:cNvSpPr/>
          <p:nvPr/>
        </p:nvSpPr>
        <p:spPr>
          <a:xfrm>
            <a:off x="365760" y="3035808"/>
            <a:ext cx="1280160" cy="36576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411480" y="3054096"/>
            <a:ext cx="118871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333344"/>
                </a:solidFill>
                <a:latin typeface="Calibri"/>
              </a:rPr>
              <a:t>XP352</a:t>
            </a:r>
          </a:p>
        </p:txBody>
      </p:sp>
      <p:sp>
        <p:nvSpPr>
          <p:cNvPr id="59" name="Rectangle 58"/>
          <p:cNvSpPr/>
          <p:nvPr/>
        </p:nvSpPr>
        <p:spPr>
          <a:xfrm>
            <a:off x="1645919" y="3035808"/>
            <a:ext cx="1463040" cy="36576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1691639" y="3054096"/>
            <a:ext cx="1371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333344"/>
                </a:solidFill>
                <a:latin typeface="Calibri"/>
              </a:rPr>
              <a:t>His112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108960" y="3035808"/>
            <a:ext cx="1325880" cy="36576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154679" y="3054096"/>
            <a:ext cx="123443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333344"/>
                </a:solidFill>
                <a:latin typeface="Calibri"/>
              </a:rPr>
              <a:t>Asp166</a:t>
            </a:r>
          </a:p>
        </p:txBody>
      </p:sp>
      <p:sp>
        <p:nvSpPr>
          <p:cNvPr id="63" name="Rectangle 62"/>
          <p:cNvSpPr/>
          <p:nvPr/>
        </p:nvSpPr>
        <p:spPr>
          <a:xfrm>
            <a:off x="4434840" y="3035808"/>
            <a:ext cx="1417320" cy="36576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4480560" y="3054096"/>
            <a:ext cx="13258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333344"/>
                </a:solidFill>
                <a:latin typeface="Calibri"/>
              </a:rPr>
              <a:t>Ala268</a:t>
            </a:r>
          </a:p>
        </p:txBody>
      </p:sp>
      <p:sp>
        <p:nvSpPr>
          <p:cNvPr id="65" name="Rectangle 64"/>
          <p:cNvSpPr/>
          <p:nvPr/>
        </p:nvSpPr>
        <p:spPr>
          <a:xfrm>
            <a:off x="5852160" y="3035808"/>
            <a:ext cx="1188720" cy="36576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5897880" y="3054096"/>
            <a:ext cx="10972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333344"/>
                </a:solidFill>
                <a:latin typeface="Calibri"/>
              </a:rPr>
              <a:t>Asp262</a:t>
            </a:r>
          </a:p>
        </p:txBody>
      </p:sp>
      <p:sp>
        <p:nvSpPr>
          <p:cNvPr id="67" name="Rectangle 66"/>
          <p:cNvSpPr/>
          <p:nvPr/>
        </p:nvSpPr>
        <p:spPr>
          <a:xfrm>
            <a:off x="7040880" y="3035808"/>
            <a:ext cx="2423160" cy="36576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7086600" y="3054096"/>
            <a:ext cx="23317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333344"/>
                </a:solidFill>
                <a:latin typeface="Calibri"/>
              </a:rPr>
              <a:t>-1.26 / 5.60 / -5.25</a:t>
            </a:r>
          </a:p>
        </p:txBody>
      </p:sp>
      <p:sp>
        <p:nvSpPr>
          <p:cNvPr id="69" name="Rectangle 68"/>
          <p:cNvSpPr/>
          <p:nvPr/>
        </p:nvSpPr>
        <p:spPr>
          <a:xfrm>
            <a:off x="365760" y="3401568"/>
            <a:ext cx="1280160" cy="365760"/>
          </a:xfrm>
          <a:prstGeom prst="rect">
            <a:avLst/>
          </a:prstGeom>
          <a:solidFill>
            <a:srgbClr val="1A4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411480" y="3419856"/>
            <a:ext cx="118871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  <a:latin typeface="Calibri"/>
              </a:rPr>
              <a:t>Consenso</a:t>
            </a:r>
          </a:p>
        </p:txBody>
      </p:sp>
      <p:sp>
        <p:nvSpPr>
          <p:cNvPr id="71" name="Rectangle 70"/>
          <p:cNvSpPr/>
          <p:nvPr/>
        </p:nvSpPr>
        <p:spPr>
          <a:xfrm>
            <a:off x="1645919" y="3401568"/>
            <a:ext cx="1463040" cy="365760"/>
          </a:xfrm>
          <a:prstGeom prst="rect">
            <a:avLst/>
          </a:prstGeom>
          <a:solidFill>
            <a:srgbClr val="1A4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1691639" y="3419856"/>
            <a:ext cx="1371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  <a:latin typeface="Calibri"/>
              </a:rPr>
              <a:t>-</a:t>
            </a:r>
          </a:p>
        </p:txBody>
      </p:sp>
      <p:sp>
        <p:nvSpPr>
          <p:cNvPr id="73" name="Rectangle 72"/>
          <p:cNvSpPr/>
          <p:nvPr/>
        </p:nvSpPr>
        <p:spPr>
          <a:xfrm>
            <a:off x="3108960" y="3401568"/>
            <a:ext cx="1325880" cy="365760"/>
          </a:xfrm>
          <a:prstGeom prst="rect">
            <a:avLst/>
          </a:prstGeom>
          <a:solidFill>
            <a:srgbClr val="1A4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3154679" y="3419856"/>
            <a:ext cx="123443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  <a:latin typeface="Calibri"/>
              </a:rPr>
              <a:t>-</a:t>
            </a:r>
          </a:p>
        </p:txBody>
      </p:sp>
      <p:sp>
        <p:nvSpPr>
          <p:cNvPr id="75" name="Rectangle 74"/>
          <p:cNvSpPr/>
          <p:nvPr/>
        </p:nvSpPr>
        <p:spPr>
          <a:xfrm>
            <a:off x="4434840" y="3401568"/>
            <a:ext cx="1417320" cy="365760"/>
          </a:xfrm>
          <a:prstGeom prst="rect">
            <a:avLst/>
          </a:prstGeom>
          <a:solidFill>
            <a:srgbClr val="1A4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4480560" y="3419856"/>
            <a:ext cx="13258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  <a:latin typeface="Calibri"/>
              </a:rPr>
              <a:t>-</a:t>
            </a:r>
          </a:p>
        </p:txBody>
      </p:sp>
      <p:sp>
        <p:nvSpPr>
          <p:cNvPr id="77" name="Rectangle 76"/>
          <p:cNvSpPr/>
          <p:nvPr/>
        </p:nvSpPr>
        <p:spPr>
          <a:xfrm>
            <a:off x="5852160" y="3401568"/>
            <a:ext cx="1188720" cy="365760"/>
          </a:xfrm>
          <a:prstGeom prst="rect">
            <a:avLst/>
          </a:prstGeom>
          <a:solidFill>
            <a:srgbClr val="1A4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5897880" y="3419856"/>
            <a:ext cx="10972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  <a:latin typeface="Calibri"/>
              </a:rPr>
              <a:t>-</a:t>
            </a:r>
          </a:p>
        </p:txBody>
      </p:sp>
      <p:sp>
        <p:nvSpPr>
          <p:cNvPr id="79" name="Rectangle 78"/>
          <p:cNvSpPr/>
          <p:nvPr/>
        </p:nvSpPr>
        <p:spPr>
          <a:xfrm>
            <a:off x="7040880" y="3401568"/>
            <a:ext cx="2423160" cy="365760"/>
          </a:xfrm>
          <a:prstGeom prst="rect">
            <a:avLst/>
          </a:prstGeom>
          <a:solidFill>
            <a:srgbClr val="1A4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7086600" y="3419856"/>
            <a:ext cx="23317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  <a:latin typeface="Calibri"/>
              </a:rPr>
              <a:t>2.61 / 4.57 / -1.89</a:t>
            </a:r>
          </a:p>
        </p:txBody>
      </p:sp>
      <p:sp>
        <p:nvSpPr>
          <p:cNvPr id="81" name="Rectangle 80"/>
          <p:cNvSpPr/>
          <p:nvPr/>
        </p:nvSpPr>
        <p:spPr>
          <a:xfrm>
            <a:off x="365760" y="4480560"/>
            <a:ext cx="11430000" cy="1325880"/>
          </a:xfrm>
          <a:prstGeom prst="rect">
            <a:avLst/>
          </a:prstGeom>
          <a:solidFill>
            <a:srgbClr val="FFF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365760" y="4480560"/>
            <a:ext cx="73152" cy="1325880"/>
          </a:xfrm>
          <a:prstGeom prst="rect">
            <a:avLst/>
          </a:prstGeom>
          <a:solidFill>
            <a:srgbClr val="FFD1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548640" y="45262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D2B55"/>
                </a:solidFill>
                <a:latin typeface="Calibri"/>
              </a:rPr>
              <a:t>★ XP273 — Tripsina Atípica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48640" y="4892040"/>
            <a:ext cx="10972800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33344"/>
                </a:solidFill>
                <a:latin typeface="Calibri"/>
              </a:rPr>
              <a:t>Tyr83 substitui His catalítica canônica | Ile229 no bolso S1 (ao invés de Asp) -&gt; especificidade hidrofóbica
Justifica NAO restringir P1 no pipeline — candidatos acidos (D/E) podem atuar via mecanismo nao-canonico</a:t>
            </a:r>
          </a:p>
        </p:txBody>
      </p:sp>
      <p:sp>
        <p:nvSpPr>
          <p:cNvPr id="85" name="Rectangle 84"/>
          <p:cNvSpPr/>
          <p:nvPr/>
        </p:nvSpPr>
        <p:spPr>
          <a:xfrm>
            <a:off x="365760" y="5897880"/>
            <a:ext cx="11430000" cy="68580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548640" y="598932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FFFFFF"/>
                </a:solidFill>
                <a:latin typeface="Calibri"/>
              </a:rPr>
              <a:t>Grid box Vina (consenso):  centro = [2.61, 4.57, -1.89] A  |  tamanho adaptativo = max(40, len*3.6+8) A  |  exaustividade = 8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1521440" y="649224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8899AA"/>
                </a:solidFill>
                <a:latin typeface="Calibri"/>
              </a:rPr>
              <a:t>5/18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960120"/>
            <a:ext cx="12188952" cy="457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45720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Geração de Backbones Peptídicos — RFdiffusion REAL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21792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00B4D8"/>
                </a:solidFill>
                <a:latin typeface="Calibri"/>
              </a:rPr>
              <a:t>330 backbones de novo | Watson et al., Nature 2023 | checkpoint Complex_base_ckpt.pt 462 MB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143000"/>
            <a:ext cx="5303520" cy="530352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1234440"/>
            <a:ext cx="4937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00B4D8"/>
                </a:solidFill>
                <a:latin typeface="Calibri"/>
              </a:rPr>
              <a:t>RFdiffusion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600200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F0F4F8"/>
                </a:solidFill>
                <a:latin typeface="Calibri"/>
              </a:rPr>
              <a:t>Instalado em ~/RFdiffusion | Python 3.10 (protein_design_env)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965960"/>
            <a:ext cx="49377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06D6A0"/>
                </a:solidFill>
                <a:latin typeface="Calibri"/>
              </a:rPr>
              <a:t>  ~/RFdiffusion instalado e funcional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2267712"/>
            <a:ext cx="49377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06D6A0"/>
                </a:solidFill>
                <a:latin typeface="Calibri"/>
              </a:rPr>
              <a:t>  Complex_base_ckpt.pt (462 MB) baixado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2569464"/>
            <a:ext cx="49377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06D6A0"/>
                </a:solidFill>
                <a:latin typeface="Calibri"/>
              </a:rPr>
              <a:t>  330 backbones gerados para ACR157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2871215"/>
            <a:ext cx="49377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F4F8"/>
                </a:solidFill>
                <a:latin typeface="Calibri"/>
              </a:rPr>
              <a:t/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3172968"/>
            <a:ext cx="49377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F4F8"/>
                </a:solidFill>
                <a:latin typeface="Calibri"/>
              </a:rPr>
              <a:t>Parâmetros usados: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3474720"/>
            <a:ext cx="49377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06D6A0"/>
                </a:solidFill>
                <a:latin typeface="Calibri"/>
              </a:rPr>
              <a:t>  noise_scale_ca  = 0.2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3776472"/>
            <a:ext cx="49377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06D6A0"/>
                </a:solidFill>
                <a:latin typeface="Calibri"/>
              </a:rPr>
              <a:t>  noise_scale_frame = 0.1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4078224"/>
            <a:ext cx="49377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06D6A0"/>
                </a:solidFill>
                <a:latin typeface="Calibri"/>
              </a:rPr>
              <a:t>  contig: A1-231/0 20-20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4379976"/>
            <a:ext cx="49377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06D6A0"/>
                </a:solidFill>
                <a:latin typeface="Calibri"/>
              </a:rPr>
              <a:t>  inference.ckpt_override_path=.../models/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4681728"/>
            <a:ext cx="49377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F4F8"/>
                </a:solidFill>
                <a:latin typeface="Calibri"/>
              </a:rPr>
              <a:t/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4983480"/>
            <a:ext cx="49377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F4F8"/>
                </a:solidFill>
                <a:latin typeface="Calibri"/>
              </a:rPr>
              <a:t>Pre-processamento obrigatório: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5285232"/>
            <a:ext cx="49377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06D6A0"/>
                </a:solidFill>
                <a:latin typeface="Calibri"/>
              </a:rPr>
              <a:t>  prep_pdbs.py: chain blank -&gt; 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5586983"/>
            <a:ext cx="49377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06D6A0"/>
                </a:solidFill>
                <a:latin typeface="Calibri"/>
              </a:rPr>
              <a:t>  renumeração residuos 1..N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5888736"/>
            <a:ext cx="49377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F4F8"/>
                </a:solidFill>
                <a:latin typeface="Calibri"/>
              </a:rPr>
              <a:t/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6190488"/>
            <a:ext cx="49377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D166"/>
                </a:solidFill>
                <a:latin typeface="Calibri"/>
              </a:rPr>
              <a:t>Limitação desta rodada: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6492240"/>
            <a:ext cx="49377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D166"/>
                </a:solidFill>
                <a:latin typeface="Calibri"/>
              </a:rPr>
              <a:t>  Todos os 330 backbones -&gt; 20 aa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" y="6793992"/>
            <a:ext cx="49377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D166"/>
                </a:solidFill>
                <a:latin typeface="Calibri"/>
              </a:rPr>
              <a:t>  (comprimento variavel em rodadas futuras)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035040" y="1143000"/>
            <a:ext cx="5760720" cy="53035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217920" y="1188720"/>
            <a:ext cx="5486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0D2B55"/>
                </a:solidFill>
                <a:latin typeface="Calibri"/>
              </a:rPr>
              <a:t>Backbones gerados (modo REAL)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126480" y="1645920"/>
            <a:ext cx="1920240" cy="365760"/>
          </a:xfrm>
          <a:prstGeom prst="rect">
            <a:avLst/>
          </a:prstGeom>
          <a:solidFill>
            <a:srgbClr val="1A4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172200" y="1664208"/>
            <a:ext cx="18288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Categoria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046720" y="1645920"/>
            <a:ext cx="1280160" cy="365760"/>
          </a:xfrm>
          <a:prstGeom prst="rect">
            <a:avLst/>
          </a:prstGeom>
          <a:solidFill>
            <a:srgbClr val="1A4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092440" y="1664208"/>
            <a:ext cx="118871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Backbones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9326880" y="1645920"/>
            <a:ext cx="2468880" cy="365760"/>
          </a:xfrm>
          <a:prstGeom prst="rect">
            <a:avLst/>
          </a:prstGeom>
          <a:solidFill>
            <a:srgbClr val="1A4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372600" y="1664208"/>
            <a:ext cx="23774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Comprimento real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126480" y="2011680"/>
            <a:ext cx="1920240" cy="347472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172200" y="2029968"/>
            <a:ext cx="18288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333344"/>
                </a:solidFill>
                <a:latin typeface="Calibri"/>
              </a:rPr>
              <a:t>len5 (cat.)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046720" y="2011680"/>
            <a:ext cx="1280160" cy="347472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092440" y="2029968"/>
            <a:ext cx="1188719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333344"/>
                </a:solidFill>
                <a:latin typeface="Calibri"/>
              </a:rPr>
              <a:t>55</a:t>
            </a:r>
          </a:p>
        </p:txBody>
      </p:sp>
      <p:sp>
        <p:nvSpPr>
          <p:cNvPr id="40" name="Rectangle 39"/>
          <p:cNvSpPr/>
          <p:nvPr/>
        </p:nvSpPr>
        <p:spPr>
          <a:xfrm>
            <a:off x="9326880" y="2011680"/>
            <a:ext cx="2468880" cy="347472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372600" y="2029968"/>
            <a:ext cx="23774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333344"/>
                </a:solidFill>
                <a:latin typeface="Calibri"/>
              </a:rPr>
              <a:t>Real — 20 aa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126480" y="2359152"/>
            <a:ext cx="1920240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172200" y="2377440"/>
            <a:ext cx="18288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333344"/>
                </a:solidFill>
                <a:latin typeface="Calibri"/>
              </a:rPr>
              <a:t>len7 (cat.)</a:t>
            </a:r>
          </a:p>
        </p:txBody>
      </p:sp>
      <p:sp>
        <p:nvSpPr>
          <p:cNvPr id="44" name="Rectangle 43"/>
          <p:cNvSpPr/>
          <p:nvPr/>
        </p:nvSpPr>
        <p:spPr>
          <a:xfrm>
            <a:off x="8046720" y="2359152"/>
            <a:ext cx="1280160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092440" y="2377440"/>
            <a:ext cx="1188719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333344"/>
                </a:solidFill>
                <a:latin typeface="Calibri"/>
              </a:rPr>
              <a:t>55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326880" y="2359152"/>
            <a:ext cx="2468880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9372600" y="2377440"/>
            <a:ext cx="23774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333344"/>
                </a:solidFill>
                <a:latin typeface="Calibri"/>
              </a:rPr>
              <a:t>Real — 20 aa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126480" y="2706624"/>
            <a:ext cx="1920240" cy="347472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172200" y="2724912"/>
            <a:ext cx="18288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333344"/>
                </a:solidFill>
                <a:latin typeface="Calibri"/>
              </a:rPr>
              <a:t>len10 (cat.)</a:t>
            </a:r>
          </a:p>
        </p:txBody>
      </p:sp>
      <p:sp>
        <p:nvSpPr>
          <p:cNvPr id="50" name="Rectangle 49"/>
          <p:cNvSpPr/>
          <p:nvPr/>
        </p:nvSpPr>
        <p:spPr>
          <a:xfrm>
            <a:off x="8046720" y="2706624"/>
            <a:ext cx="1280160" cy="347472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092440" y="2724912"/>
            <a:ext cx="1188719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333344"/>
                </a:solidFill>
                <a:latin typeface="Calibri"/>
              </a:rPr>
              <a:t>55</a:t>
            </a:r>
          </a:p>
        </p:txBody>
      </p:sp>
      <p:sp>
        <p:nvSpPr>
          <p:cNvPr id="52" name="Rectangle 51"/>
          <p:cNvSpPr/>
          <p:nvPr/>
        </p:nvSpPr>
        <p:spPr>
          <a:xfrm>
            <a:off x="9326880" y="2706624"/>
            <a:ext cx="2468880" cy="347472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9372600" y="2724912"/>
            <a:ext cx="23774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333344"/>
                </a:solidFill>
                <a:latin typeface="Calibri"/>
              </a:rPr>
              <a:t>Real — 20 aa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126480" y="3054096"/>
            <a:ext cx="1920240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172200" y="3072384"/>
            <a:ext cx="18288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333344"/>
                </a:solidFill>
                <a:latin typeface="Calibri"/>
              </a:rPr>
              <a:t>len12 (cat.)</a:t>
            </a:r>
          </a:p>
        </p:txBody>
      </p:sp>
      <p:sp>
        <p:nvSpPr>
          <p:cNvPr id="56" name="Rectangle 55"/>
          <p:cNvSpPr/>
          <p:nvPr/>
        </p:nvSpPr>
        <p:spPr>
          <a:xfrm>
            <a:off x="8046720" y="3054096"/>
            <a:ext cx="1280160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8092440" y="3072384"/>
            <a:ext cx="1188719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333344"/>
                </a:solidFill>
                <a:latin typeface="Calibri"/>
              </a:rPr>
              <a:t>55</a:t>
            </a:r>
          </a:p>
        </p:txBody>
      </p:sp>
      <p:sp>
        <p:nvSpPr>
          <p:cNvPr id="58" name="Rectangle 57"/>
          <p:cNvSpPr/>
          <p:nvPr/>
        </p:nvSpPr>
        <p:spPr>
          <a:xfrm>
            <a:off x="9326880" y="3054096"/>
            <a:ext cx="2468880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9372600" y="3072384"/>
            <a:ext cx="23774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333344"/>
                </a:solidFill>
                <a:latin typeface="Calibri"/>
              </a:rPr>
              <a:t>Real — 20 aa</a:t>
            </a:r>
          </a:p>
        </p:txBody>
      </p:sp>
      <p:sp>
        <p:nvSpPr>
          <p:cNvPr id="60" name="Rectangle 59"/>
          <p:cNvSpPr/>
          <p:nvPr/>
        </p:nvSpPr>
        <p:spPr>
          <a:xfrm>
            <a:off x="6126480" y="3401568"/>
            <a:ext cx="1920240" cy="347472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172200" y="3419856"/>
            <a:ext cx="18288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333344"/>
                </a:solidFill>
                <a:latin typeface="Calibri"/>
              </a:rPr>
              <a:t>len15 (cat.)</a:t>
            </a:r>
          </a:p>
        </p:txBody>
      </p:sp>
      <p:sp>
        <p:nvSpPr>
          <p:cNvPr id="62" name="Rectangle 61"/>
          <p:cNvSpPr/>
          <p:nvPr/>
        </p:nvSpPr>
        <p:spPr>
          <a:xfrm>
            <a:off x="8046720" y="3401568"/>
            <a:ext cx="1280160" cy="347472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8092440" y="3419856"/>
            <a:ext cx="1188719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333344"/>
                </a:solidFill>
                <a:latin typeface="Calibri"/>
              </a:rPr>
              <a:t>55</a:t>
            </a:r>
          </a:p>
        </p:txBody>
      </p:sp>
      <p:sp>
        <p:nvSpPr>
          <p:cNvPr id="64" name="Rectangle 63"/>
          <p:cNvSpPr/>
          <p:nvPr/>
        </p:nvSpPr>
        <p:spPr>
          <a:xfrm>
            <a:off x="9326880" y="3401568"/>
            <a:ext cx="2468880" cy="347472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9372600" y="3419856"/>
            <a:ext cx="23774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333344"/>
                </a:solidFill>
                <a:latin typeface="Calibri"/>
              </a:rPr>
              <a:t>Real — 20 aa</a:t>
            </a:r>
          </a:p>
        </p:txBody>
      </p:sp>
      <p:sp>
        <p:nvSpPr>
          <p:cNvPr id="66" name="Rectangle 65"/>
          <p:cNvSpPr/>
          <p:nvPr/>
        </p:nvSpPr>
        <p:spPr>
          <a:xfrm>
            <a:off x="6126480" y="3749039"/>
            <a:ext cx="1920240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6172200" y="3767328"/>
            <a:ext cx="18288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333344"/>
                </a:solidFill>
                <a:latin typeface="Calibri"/>
              </a:rPr>
              <a:t>len20 (cat.)</a:t>
            </a:r>
          </a:p>
        </p:txBody>
      </p:sp>
      <p:sp>
        <p:nvSpPr>
          <p:cNvPr id="68" name="Rectangle 67"/>
          <p:cNvSpPr/>
          <p:nvPr/>
        </p:nvSpPr>
        <p:spPr>
          <a:xfrm>
            <a:off x="8046720" y="3749039"/>
            <a:ext cx="1280160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8092440" y="3767328"/>
            <a:ext cx="1188719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333344"/>
                </a:solidFill>
                <a:latin typeface="Calibri"/>
              </a:rPr>
              <a:t>55</a:t>
            </a:r>
          </a:p>
        </p:txBody>
      </p:sp>
      <p:sp>
        <p:nvSpPr>
          <p:cNvPr id="70" name="Rectangle 69"/>
          <p:cNvSpPr/>
          <p:nvPr/>
        </p:nvSpPr>
        <p:spPr>
          <a:xfrm>
            <a:off x="9326880" y="3749039"/>
            <a:ext cx="2468880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9372600" y="3767328"/>
            <a:ext cx="23774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333344"/>
                </a:solidFill>
                <a:latin typeface="Calibri"/>
              </a:rPr>
              <a:t>Real — 20 aa</a:t>
            </a:r>
          </a:p>
        </p:txBody>
      </p:sp>
      <p:sp>
        <p:nvSpPr>
          <p:cNvPr id="72" name="Rectangle 71"/>
          <p:cNvSpPr/>
          <p:nvPr/>
        </p:nvSpPr>
        <p:spPr>
          <a:xfrm>
            <a:off x="6126480" y="4096512"/>
            <a:ext cx="5669280" cy="384048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6172200" y="4114800"/>
            <a:ext cx="1828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Total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092440" y="4114800"/>
            <a:ext cx="118871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6D6A0"/>
                </a:solidFill>
                <a:latin typeface="Calibri"/>
              </a:rPr>
              <a:t>330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9372600" y="4114800"/>
            <a:ext cx="2377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D166"/>
                </a:solidFill>
                <a:latin typeface="Calibri"/>
              </a:rPr>
              <a:t>todos 20 aa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035040" y="5806440"/>
            <a:ext cx="5760720" cy="566928"/>
          </a:xfrm>
          <a:prstGeom prst="rect">
            <a:avLst/>
          </a:prstGeom>
          <a:solidFill>
            <a:srgbClr val="FFF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172200" y="5852160"/>
            <a:ext cx="55778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33344"/>
                </a:solidFill>
                <a:latin typeface="Calibri"/>
              </a:rPr>
              <a:t>330 backbones conformacionalmente diversos (helices, estendidos, hairpins)
Proxima rodada: comprimentos variados independentes (5-15 aa) para sintese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1521440" y="649224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8899AA"/>
                </a:solidFill>
                <a:latin typeface="Calibri"/>
              </a:rPr>
              <a:t>6/18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960120"/>
            <a:ext cx="12188952" cy="457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45720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Design de Sequências — ProteinMPNN REAL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21792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00B4D8"/>
                </a:solidFill>
                <a:latin typeface="Calibri"/>
              </a:rPr>
              <a:t>330 backbones × 500 seqs = 165.000 brutas → 24.513 binders únicos 20 aa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143000"/>
            <a:ext cx="5669280" cy="9144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65760" y="1143000"/>
            <a:ext cx="73152" cy="914400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303520" y="1188720"/>
            <a:ext cx="685800" cy="347472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303520" y="1188720"/>
            <a:ext cx="685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modo real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1197864"/>
            <a:ext cx="4663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D2B55"/>
                </a:solidFill>
                <a:latin typeface="Calibri"/>
              </a:rPr>
              <a:t>ProteinMPNN REAL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1581912"/>
            <a:ext cx="4663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44"/>
                </a:solidFill>
                <a:latin typeface="Calibri"/>
              </a:rPr>
              <a:t>Redesenho da cadeia B (binder 20 aa) para cada backbone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63640" y="1143000"/>
            <a:ext cx="5669280" cy="9144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63640" y="1143000"/>
            <a:ext cx="73152" cy="914400"/>
          </a:xfrm>
          <a:prstGeom prst="rect">
            <a:avLst/>
          </a:prstGeom>
          <a:solidFill>
            <a:srgbClr val="1A4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1201400" y="1188720"/>
            <a:ext cx="685800" cy="347472"/>
          </a:xfrm>
          <a:prstGeom prst="rect">
            <a:avLst/>
          </a:prstGeom>
          <a:solidFill>
            <a:srgbClr val="1A4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201400" y="1188720"/>
            <a:ext cx="685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config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46520" y="1197864"/>
            <a:ext cx="4663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D2B55"/>
                </a:solidFill>
                <a:latin typeface="Calibri"/>
              </a:rPr>
              <a:t>Temperatura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46520" y="1581912"/>
            <a:ext cx="4663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44"/>
                </a:solidFill>
                <a:latin typeface="Calibri"/>
              </a:rPr>
              <a:t>sampling_temp = 0.1 | backbone_noise = 0.05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2167128"/>
            <a:ext cx="5669280" cy="9144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65760" y="2167128"/>
            <a:ext cx="73152" cy="914400"/>
          </a:xfrm>
          <a:prstGeom prst="rect">
            <a:avLst/>
          </a:prstGeom>
          <a:solidFill>
            <a:srgbClr val="1A4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303520" y="2212848"/>
            <a:ext cx="685800" cy="347472"/>
          </a:xfrm>
          <a:prstGeom prst="rect">
            <a:avLst/>
          </a:prstGeom>
          <a:solidFill>
            <a:srgbClr val="1A4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303520" y="2212848"/>
            <a:ext cx="685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filtro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2221992"/>
            <a:ext cx="4663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D2B55"/>
                </a:solidFill>
                <a:latin typeface="Calibri"/>
              </a:rPr>
              <a:t>Excluídos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2606040"/>
            <a:ext cx="4663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44"/>
                </a:solidFill>
                <a:latin typeface="Calibri"/>
              </a:rPr>
              <a:t>Cys, X (--omit_AAs CX) — evitar pontes dissulfeto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263640" y="2167128"/>
            <a:ext cx="5669280" cy="9144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263640" y="2167128"/>
            <a:ext cx="73152" cy="914400"/>
          </a:xfrm>
          <a:prstGeom prst="rect">
            <a:avLst/>
          </a:prstGeom>
          <a:solidFill>
            <a:srgbClr val="EF47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1201400" y="2212848"/>
            <a:ext cx="685800" cy="347472"/>
          </a:xfrm>
          <a:prstGeom prst="rect">
            <a:avLst/>
          </a:prstGeom>
          <a:solidFill>
            <a:srgbClr val="EF47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201400" y="2212848"/>
            <a:ext cx="685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Bug 33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46520" y="2221992"/>
            <a:ext cx="4663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D2B55"/>
                </a:solidFill>
                <a:latin typeface="Calibri"/>
              </a:rPr>
              <a:t>BUG CRÍTICO CORRIGIDO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46520" y="2606040"/>
            <a:ext cx="4663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44"/>
                </a:solidFill>
                <a:latin typeface="Calibri"/>
              </a:rPr>
              <a:t>replace('/','') concatenava receptor+binder (240+ aa)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65760" y="3191256"/>
            <a:ext cx="5669280" cy="9144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365760" y="3191256"/>
            <a:ext cx="73152" cy="914400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5303520" y="3236976"/>
            <a:ext cx="685800" cy="347472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303520" y="3236976"/>
            <a:ext cx="685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corrigido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48640" y="3246120"/>
            <a:ext cx="4663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D2B55"/>
                </a:solidFill>
                <a:latin typeface="Calibri"/>
              </a:rPr>
              <a:t>Fix (commit e9024bc)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48640" y="3630168"/>
            <a:ext cx="4663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44"/>
                </a:solidFill>
                <a:latin typeface="Calibri"/>
              </a:rPr>
              <a:t>parts = seq.split('/'); binder = parts[-1]  -&gt; 20 aa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263640" y="3191256"/>
            <a:ext cx="5669280" cy="9144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263640" y="3191256"/>
            <a:ext cx="73152" cy="91440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11201400" y="3236976"/>
            <a:ext cx="685800" cy="34747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1201400" y="3236976"/>
            <a:ext cx="685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resultado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446520" y="3246120"/>
            <a:ext cx="4663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D2B55"/>
                </a:solidFill>
                <a:latin typeface="Calibri"/>
              </a:rPr>
              <a:t>Deduplicação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446520" y="3630168"/>
            <a:ext cx="4663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44"/>
                </a:solidFill>
                <a:latin typeface="Calibri"/>
              </a:rPr>
              <a:t>165.000 brutas -&gt; 24.513 únicas (83.8% redundância)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65760" y="4215384"/>
            <a:ext cx="5669280" cy="9144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365760" y="4215384"/>
            <a:ext cx="73152" cy="914400"/>
          </a:xfrm>
          <a:prstGeom prst="rect">
            <a:avLst/>
          </a:prstGeom>
          <a:solidFill>
            <a:srgbClr val="FFD1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5303520" y="4261104"/>
            <a:ext cx="685800" cy="347472"/>
          </a:xfrm>
          <a:prstGeom prst="rect">
            <a:avLst/>
          </a:prstGeom>
          <a:solidFill>
            <a:srgbClr val="FFD1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303520" y="4261104"/>
            <a:ext cx="685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nota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48640" y="4270248"/>
            <a:ext cx="4663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D2B55"/>
                </a:solidFill>
                <a:latin typeface="Calibri"/>
              </a:rPr>
              <a:t>Homogeneidade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48640" y="4654296"/>
            <a:ext cx="4663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44"/>
                </a:solidFill>
                <a:latin typeface="Calibri"/>
              </a:rPr>
              <a:t>Todos os 24.513 binders têm 20 aa (limitação desta rodada)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263640" y="4215384"/>
            <a:ext cx="5669280" cy="9144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6263640" y="4215384"/>
            <a:ext cx="73152" cy="914400"/>
          </a:xfrm>
          <a:prstGeom prst="rect">
            <a:avLst/>
          </a:prstGeom>
          <a:solidFill>
            <a:srgbClr val="1A4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11201400" y="4261104"/>
            <a:ext cx="685800" cy="347472"/>
          </a:xfrm>
          <a:prstGeom prst="rect">
            <a:avLst/>
          </a:prstGeom>
          <a:solidFill>
            <a:srgbClr val="1A4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11201400" y="4261104"/>
            <a:ext cx="685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otimizacao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446520" y="4270248"/>
            <a:ext cx="4663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D2B55"/>
                </a:solidFill>
                <a:latin typeface="Calibri"/>
              </a:rPr>
              <a:t>Cache inteligente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446520" y="4654296"/>
            <a:ext cx="4663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44"/>
                </a:solidFill>
                <a:latin typeface="Calibri"/>
              </a:rPr>
              <a:t>Não re-roda ProteinMPNN se FASTAs já existem</a:t>
            </a:r>
          </a:p>
        </p:txBody>
      </p:sp>
      <p:sp>
        <p:nvSpPr>
          <p:cNvPr id="56" name="Rectangle 55"/>
          <p:cNvSpPr/>
          <p:nvPr/>
        </p:nvSpPr>
        <p:spPr>
          <a:xfrm>
            <a:off x="365760" y="5239512"/>
            <a:ext cx="5669280" cy="9144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365760" y="5239512"/>
            <a:ext cx="73152" cy="914400"/>
          </a:xfrm>
          <a:prstGeom prst="rect">
            <a:avLst/>
          </a:prstGeom>
          <a:solidFill>
            <a:srgbClr val="1A4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5303520" y="5285232"/>
            <a:ext cx="685800" cy="347472"/>
          </a:xfrm>
          <a:prstGeom prst="rect">
            <a:avLst/>
          </a:prstGeom>
          <a:solidFill>
            <a:srgbClr val="1A4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5303520" y="5285232"/>
            <a:ext cx="685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ML label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48640" y="5294376"/>
            <a:ext cx="4663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D2B55"/>
                </a:solidFill>
                <a:latin typeface="Calibri"/>
              </a:rPr>
              <a:t>is_known_inhibitor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48640" y="5678424"/>
            <a:ext cx="4663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44"/>
                </a:solidFill>
                <a:latin typeface="Calibri"/>
              </a:rPr>
              <a:t>Seeds BPTI/SKTI incluídos como âncoras positivas ML</a:t>
            </a:r>
          </a:p>
        </p:txBody>
      </p:sp>
      <p:sp>
        <p:nvSpPr>
          <p:cNvPr id="62" name="Rectangle 61"/>
          <p:cNvSpPr/>
          <p:nvPr/>
        </p:nvSpPr>
        <p:spPr>
          <a:xfrm>
            <a:off x="6263640" y="5239512"/>
            <a:ext cx="5669280" cy="9144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6263640" y="5239512"/>
            <a:ext cx="73152" cy="914400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11201400" y="5285232"/>
            <a:ext cx="685800" cy="347472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11201400" y="5285232"/>
            <a:ext cx="685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CSV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446520" y="5294376"/>
            <a:ext cx="4663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D2B55"/>
                </a:solidFill>
                <a:latin typeface="Calibri"/>
              </a:rPr>
              <a:t>Dataset exportado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446520" y="5678424"/>
            <a:ext cx="4663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44"/>
                </a:solidFill>
                <a:latin typeface="Calibri"/>
              </a:rPr>
              <a:t>outputs/dataset/ml_training_dataset.csv — 41 features</a:t>
            </a:r>
          </a:p>
        </p:txBody>
      </p:sp>
      <p:sp>
        <p:nvSpPr>
          <p:cNvPr id="68" name="Rectangle 67"/>
          <p:cNvSpPr/>
          <p:nvPr/>
        </p:nvSpPr>
        <p:spPr>
          <a:xfrm>
            <a:off x="365760" y="6126480"/>
            <a:ext cx="11430000" cy="59436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502920" y="6199632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0B4D8"/>
                </a:solidFill>
                <a:latin typeface="Calibri"/>
              </a:rPr>
              <a:t>24.513 binders únicos 20 aa  |  165.000 brutas  |  41 features  |  Bug FASTA corrigido (commit e9024bc)  |  Cys excluídas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1521440" y="649224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8899AA"/>
                </a:solidFill>
                <a:latin typeface="Calibri"/>
              </a:rPr>
              <a:t>7/18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960120"/>
            <a:ext cx="12188952" cy="457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45720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Dataset ML/DL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21792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00B4D8"/>
                </a:solidFill>
                <a:latin typeface="Calibri"/>
              </a:rPr>
              <a:t>24.513 sequências × 41 features + labels Vina/Rosetta reais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9728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A4F8A"/>
                </a:solidFill>
                <a:latin typeface="Calibri"/>
              </a:rPr>
              <a:t>Arquivo: outputs/dataset/ml_training_dataset.csv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1554480"/>
            <a:ext cx="5394960" cy="145389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65760" y="1554480"/>
            <a:ext cx="5394960" cy="365760"/>
          </a:xfrm>
          <a:prstGeom prst="rect">
            <a:avLst/>
          </a:prstGeom>
          <a:solidFill>
            <a:srgbClr val="1A4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1581912"/>
            <a:ext cx="52120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Globais (7)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1965960"/>
            <a:ext cx="51663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44"/>
                </a:solidFill>
                <a:latin typeface="Calibri"/>
              </a:rPr>
              <a:t>length, mw_da, net_charge (pH 7)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2295144"/>
            <a:ext cx="51663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44"/>
                </a:solidFill>
                <a:latin typeface="Calibri"/>
              </a:rPr>
              <a:t>isoelectric_point, instability_index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2624328"/>
            <a:ext cx="51663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44"/>
                </a:solidFill>
                <a:latin typeface="Calibri"/>
              </a:rPr>
              <a:t>aliphatic_index, boman_index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3200400"/>
            <a:ext cx="5394960" cy="110642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65760" y="3200400"/>
            <a:ext cx="5394960" cy="365760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3227832"/>
            <a:ext cx="52120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Hidrofobicidade (2)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3611880"/>
            <a:ext cx="51663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44"/>
                </a:solidFill>
                <a:latin typeface="Calibri"/>
              </a:rPr>
              <a:t>hydrophobicity_kd (Kyte-Doolittle)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3941064"/>
            <a:ext cx="51663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44"/>
                </a:solidFill>
                <a:latin typeface="Calibri"/>
              </a:rPr>
              <a:t>frac_hydrophobic (AILMFWV)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4343400"/>
            <a:ext cx="5394960" cy="110642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65760" y="4343400"/>
            <a:ext cx="5394960" cy="365760"/>
          </a:xfrm>
          <a:prstGeom prst="rect">
            <a:avLst/>
          </a:prstGeom>
          <a:solidFill>
            <a:srgbClr val="1A4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4370832"/>
            <a:ext cx="52120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Composição por classe (3)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4754880"/>
            <a:ext cx="51663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44"/>
                </a:solidFill>
                <a:latin typeface="Calibri"/>
              </a:rPr>
              <a:t>frac_aromatic, frac_charged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5084064"/>
            <a:ext cx="51663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44"/>
                </a:solidFill>
                <a:latin typeface="Calibri"/>
              </a:rPr>
              <a:t>n_arg_lys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5760" y="5303520"/>
            <a:ext cx="5394960" cy="110642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365760" y="5303520"/>
            <a:ext cx="5394960" cy="365760"/>
          </a:xfrm>
          <a:prstGeom prst="rect">
            <a:avLst/>
          </a:prstGeom>
          <a:solidFill>
            <a:srgbClr val="FF7F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7200" y="5330952"/>
            <a:ext cx="52120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Features binárias (3)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2920" y="5715000"/>
            <a:ext cx="51663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44"/>
                </a:solidFill>
                <a:latin typeface="Calibri"/>
              </a:rPr>
              <a:t>has_aromatic_cterminal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2920" y="6044184"/>
            <a:ext cx="51663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44"/>
                </a:solidFill>
                <a:latin typeface="Calibri"/>
              </a:rPr>
              <a:t>has_charged_nterminal, has_pro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943600" y="1554480"/>
            <a:ext cx="5394960" cy="21488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943600" y="1554480"/>
            <a:ext cx="5394960" cy="365760"/>
          </a:xfrm>
          <a:prstGeom prst="rect">
            <a:avLst/>
          </a:prstGeom>
          <a:solidFill>
            <a:srgbClr val="1A4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035040" y="1581912"/>
            <a:ext cx="52120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Composição AA (19)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080760" y="1965960"/>
            <a:ext cx="51663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44"/>
                </a:solidFill>
                <a:latin typeface="Calibri"/>
              </a:rPr>
              <a:t>frac_A, frac_D, frac_E, frac_F,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080760" y="2295144"/>
            <a:ext cx="51663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44"/>
                </a:solidFill>
                <a:latin typeface="Calibri"/>
              </a:rPr>
              <a:t>frac_G, frac_H, frac_I, frac_K,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080760" y="2624328"/>
            <a:ext cx="51663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44"/>
                </a:solidFill>
                <a:latin typeface="Calibri"/>
              </a:rPr>
              <a:t>frac_L, frac_M, frac_N, frac_P,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080760" y="2953512"/>
            <a:ext cx="51663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44"/>
                </a:solidFill>
                <a:latin typeface="Calibri"/>
              </a:rPr>
              <a:t>frac_Q, frac_R, frac_S, frac_T,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080760" y="3282696"/>
            <a:ext cx="51663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44"/>
                </a:solidFill>
                <a:latin typeface="Calibri"/>
              </a:rPr>
              <a:t>frac_V, frac_W, frac_Y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943600" y="4114800"/>
            <a:ext cx="5394960" cy="145389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5943600" y="4114800"/>
            <a:ext cx="5394960" cy="36576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035040" y="4142232"/>
            <a:ext cx="52120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Labels supervisionados (3)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080760" y="4526280"/>
            <a:ext cx="51663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44"/>
                </a:solidFill>
                <a:latin typeface="Calibri"/>
              </a:rPr>
              <a:t>best_affinity_kcal  &lt;- Vina real (194 labels)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080760" y="4855464"/>
            <a:ext cx="51663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44"/>
                </a:solidFill>
                <a:latin typeface="Calibri"/>
              </a:rPr>
              <a:t>rosetta_I_sc  &lt;- PyRosetta I_sc REF2015 (10 labels)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080760" y="5184648"/>
            <a:ext cx="51663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44"/>
                </a:solidFill>
                <a:latin typeface="Calibri"/>
              </a:rPr>
              <a:t>is_known_inhibitor (BPTI/SKTI=1)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943600" y="5577840"/>
            <a:ext cx="5394960" cy="110642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5943600" y="5577840"/>
            <a:ext cx="5394960" cy="365760"/>
          </a:xfrm>
          <a:prstGeom prst="rect">
            <a:avLst/>
          </a:prstGeom>
          <a:solidFill>
            <a:srgbClr val="FFD1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035040" y="5605272"/>
            <a:ext cx="52120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Metadados (2)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080760" y="5989320"/>
            <a:ext cx="51663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44"/>
                </a:solidFill>
                <a:latin typeface="Calibri"/>
              </a:rPr>
              <a:t>sequence (20 aa), length (categoria)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080760" y="6318504"/>
            <a:ext cx="51663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44"/>
                </a:solidFill>
                <a:latin typeface="Calibri"/>
              </a:rPr>
              <a:t>backbone (stem do PDB RFdiffusion)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1521440" y="649224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8899AA"/>
                </a:solidFill>
                <a:latin typeface="Calibri"/>
              </a:rPr>
              <a:t>8/18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960120"/>
            <a:ext cx="12188952" cy="457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45720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Docking Molecular — AutoDock Vina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21792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00B4D8"/>
                </a:solidFill>
                <a:latin typeface="Calibri"/>
              </a:rPr>
              <a:t>194/194 poses validas | binders RFdiffusion+ProteinMPNN reais | 39 bugs total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143000"/>
            <a:ext cx="11430000" cy="502920"/>
          </a:xfrm>
          <a:prstGeom prst="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65760" y="1143000"/>
            <a:ext cx="91440" cy="502920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207008"/>
            <a:ext cx="110642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333344"/>
                </a:solidFill>
                <a:latin typeface="Calibri"/>
              </a:rPr>
              <a:t>Rodada com binders reais (2026-06-17): 194/194 poses validas | top-1: GSRASARAYAARVRARRAAL (-13.62 kcal/mol)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173736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D2B55"/>
                </a:solidFill>
                <a:latin typeface="Calibri"/>
              </a:rPr>
              <a:t>Bugs criticos desta sessao (binders RFdiffusion):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2121408"/>
            <a:ext cx="548640" cy="658368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5760" y="2267712"/>
            <a:ext cx="548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29-31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14400" y="2121408"/>
            <a:ext cx="10881360" cy="6583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5840" y="2139696"/>
            <a:ext cx="6858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D2B55"/>
                </a:solidFill>
                <a:latin typeface="Calibri"/>
              </a:rPr>
              <a:t>NA atom type rejeitado pelo Vina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" y="2441448"/>
            <a:ext cx="6858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333344"/>
                </a:solidFill>
                <a:latin typeface="Calibri"/>
              </a:rPr>
              <a:t>"N":"NA" (sodio) em vez de nitrogênio backbone -&gt; "N":"N"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09560" y="2286000"/>
            <a:ext cx="20116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A4F8A"/>
                </a:solidFill>
                <a:latin typeface="Calibri"/>
              </a:rPr>
              <a:t>603cc04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889503"/>
            <a:ext cx="548640" cy="658368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65760" y="3035808"/>
            <a:ext cx="548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32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14400" y="2889503"/>
            <a:ext cx="10881360" cy="658368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05840" y="2907791"/>
            <a:ext cx="6858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D2B55"/>
                </a:solidFill>
                <a:latin typeface="Calibri"/>
              </a:rPr>
              <a:t>obabel -xr gerava formato de RECEPTOR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5840" y="3209544"/>
            <a:ext cx="6858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333344"/>
                </a:solidFill>
                <a:latin typeface="Calibri"/>
              </a:rPr>
              <a:t>Sem ROOT/ENDROOT para ligante -&gt; remover -xr; _ensure_ligand_pdbqt_format() reescreve sempre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909560" y="3054096"/>
            <a:ext cx="20116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A4F8A"/>
                </a:solidFill>
                <a:latin typeface="Calibri"/>
              </a:rPr>
              <a:t>603cc04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" y="3657600"/>
            <a:ext cx="548640" cy="658368"/>
          </a:xfrm>
          <a:prstGeom prst="rect">
            <a:avLst/>
          </a:prstGeom>
          <a:solidFill>
            <a:srgbClr val="EF47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65760" y="3803904"/>
            <a:ext cx="548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33 ★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14400" y="3657600"/>
            <a:ext cx="10881360" cy="6583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05840" y="3675887"/>
            <a:ext cx="6858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EF476F"/>
                </a:solidFill>
                <a:latin typeface="Calibri"/>
              </a:rPr>
              <a:t>TOP CANDIDATOS ERAM REDESIGNS DAS TRIPSINAS (bug critico)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05840" y="3977639"/>
            <a:ext cx="6858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333344"/>
                </a:solidFill>
                <a:latin typeface="Calibri"/>
              </a:rPr>
              <a:t>replace('/','') concatenava receptor+binder (240+ aa) -&gt; parts[-1] extrai binder 20 aa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909560" y="3822191"/>
            <a:ext cx="20116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A4F8A"/>
                </a:solidFill>
                <a:latin typeface="Calibri"/>
              </a:rPr>
              <a:t>e9024bc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65760" y="4425696"/>
            <a:ext cx="548640" cy="658368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65760" y="4572000"/>
            <a:ext cx="548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34</a:t>
            </a:r>
          </a:p>
        </p:txBody>
      </p:sp>
      <p:sp>
        <p:nvSpPr>
          <p:cNvPr id="32" name="Rectangle 31"/>
          <p:cNvSpPr/>
          <p:nvPr/>
        </p:nvSpPr>
        <p:spPr>
          <a:xfrm>
            <a:off x="914400" y="4425696"/>
            <a:ext cx="10881360" cy="658368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05840" y="4443983"/>
            <a:ext cx="6858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D2B55"/>
                </a:solidFill>
                <a:latin typeface="Calibri"/>
              </a:rPr>
              <a:t>seq[-L:] cortava binders reais de 20 aa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05840" y="4745736"/>
            <a:ext cx="6858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333344"/>
                </a:solidFill>
                <a:latin typeface="Calibri"/>
              </a:rPr>
              <a:t>len(seq)&gt;L*2 triggava para len5 (20&gt;10) -&gt; remocao do corte artificial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909560" y="4590288"/>
            <a:ext cx="20116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A4F8A"/>
                </a:solidFill>
                <a:latin typeface="Calibri"/>
              </a:rPr>
              <a:t>ad6fa9e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65760" y="5193792"/>
            <a:ext cx="548640" cy="658368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65760" y="5340096"/>
            <a:ext cx="548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35</a:t>
            </a:r>
          </a:p>
        </p:txBody>
      </p:sp>
      <p:sp>
        <p:nvSpPr>
          <p:cNvPr id="38" name="Rectangle 37"/>
          <p:cNvSpPr/>
          <p:nvPr/>
        </p:nvSpPr>
        <p:spPr>
          <a:xfrm>
            <a:off x="914400" y="5193792"/>
            <a:ext cx="10881360" cy="6583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05840" y="5212079"/>
            <a:ext cx="6858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D2B55"/>
                </a:solidFill>
                <a:latin typeface="Calibri"/>
              </a:rPr>
              <a:t>Grid dimensionado por label (5/7/10), nao comprimento real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05840" y="5513831"/>
            <a:ext cx="6858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333344"/>
                </a:solidFill>
                <a:latin typeface="Calibri"/>
              </a:rPr>
              <a:t>item['length']=categoria -&gt; len(item['sequence'])=20 -&gt; grid 80x80x80 A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909560" y="5358383"/>
            <a:ext cx="20116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A4F8A"/>
                </a:solidFill>
                <a:latin typeface="Calibri"/>
              </a:rPr>
              <a:t>ad6fa9e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65760" y="5961888"/>
            <a:ext cx="548640" cy="658368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65760" y="6108192"/>
            <a:ext cx="548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38-39</a:t>
            </a:r>
          </a:p>
        </p:txBody>
      </p:sp>
      <p:sp>
        <p:nvSpPr>
          <p:cNvPr id="44" name="Rectangle 43"/>
          <p:cNvSpPr/>
          <p:nvPr/>
        </p:nvSpPr>
        <p:spPr>
          <a:xfrm>
            <a:off x="914400" y="5961888"/>
            <a:ext cx="10881360" cy="658368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005840" y="5980175"/>
            <a:ext cx="6858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D2B55"/>
                </a:solidFill>
                <a:latin typeface="Calibri"/>
              </a:rPr>
              <a:t>Rosetta selecionava por heuristica, nao por Vina | campo vina_affinity inexistente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05840" y="6281927"/>
            <a:ext cx="6858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333344"/>
                </a:solidFill>
                <a:latin typeface="Calibri"/>
              </a:rPr>
              <a:t>_select_top_sequences() le docking_results.json | campo correto: best_affinity_kcal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909560" y="6126479"/>
            <a:ext cx="20116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A4F8A"/>
                </a:solidFill>
                <a:latin typeface="Calibri"/>
              </a:rPr>
              <a:t>a7ac84f+e16a28f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1521440" y="649224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8899AA"/>
                </a:solidFill>
                <a:latin typeface="Calibri"/>
              </a:rPr>
              <a:t>9/18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960120"/>
            <a:ext cx="12188952" cy="457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45720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Resultados Docking — Binders RFdiffusion+ProteinMPNN (2026-06-17)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21792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00B4D8"/>
                </a:solidFill>
                <a:latin typeface="Calibri"/>
              </a:rPr>
              <a:t>194/194 poses validas | perfil basico/alifatico | mecanismo competitivo classico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143000"/>
            <a:ext cx="11430000" cy="91440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1170432"/>
            <a:ext cx="4114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06D6A0"/>
                </a:solidFill>
                <a:latin typeface="Calibri"/>
              </a:rPr>
              <a:t>194 / 194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719072"/>
            <a:ext cx="4114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F0F4F8"/>
                </a:solidFill>
                <a:latin typeface="Calibri"/>
              </a:rPr>
              <a:t>poses Vina reais (kcal/mol)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54880" y="1234440"/>
            <a:ext cx="1005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F4F8"/>
                </a:solidFill>
                <a:latin typeface="Calibri"/>
              </a:rPr>
              <a:t>Melhor: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54880" y="1517904"/>
            <a:ext cx="20116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06D6A0"/>
                </a:solidFill>
                <a:latin typeface="Calibri"/>
              </a:rPr>
              <a:t>-13.62 kcal/mol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040880" y="1234440"/>
            <a:ext cx="1005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F4F8"/>
                </a:solidFill>
                <a:latin typeface="Calibri"/>
              </a:rPr>
              <a:t>Media: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40880" y="1517904"/>
            <a:ext cx="20116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00B4D8"/>
                </a:solidFill>
                <a:latin typeface="Calibri"/>
              </a:rPr>
              <a:t>~-12.2 kcal/mol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26880" y="1234440"/>
            <a:ext cx="1005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F4F8"/>
                </a:solidFill>
                <a:latin typeface="Calibri"/>
              </a:rPr>
              <a:t>Pior: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326880" y="1517904"/>
            <a:ext cx="20116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D166"/>
                </a:solidFill>
                <a:latin typeface="Calibri"/>
              </a:rPr>
              <a:t>~-10.8 kcal/mol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" y="2148840"/>
            <a:ext cx="7315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D2B55"/>
                </a:solidFill>
                <a:latin typeface="Calibri"/>
              </a:rPr>
              <a:t>Top-10 por Vina puro: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560320"/>
            <a:ext cx="347472" cy="32004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02336" y="2578608"/>
            <a:ext cx="274320" cy="283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#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13232" y="2560320"/>
            <a:ext cx="3840480" cy="32004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49808" y="2578608"/>
            <a:ext cx="3767328" cy="283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Sequencia (20 aa)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53712" y="2560320"/>
            <a:ext cx="384048" cy="32004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90288" y="2578608"/>
            <a:ext cx="310896" cy="283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aa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937760" y="2560320"/>
            <a:ext cx="1097280" cy="32004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974336" y="2578608"/>
            <a:ext cx="1024127" cy="283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Vina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035040" y="2560320"/>
            <a:ext cx="5577840" cy="32004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071616" y="2578608"/>
            <a:ext cx="5504688" cy="283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Perfil composicional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65760" y="2880360"/>
            <a:ext cx="64008" cy="283464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365760" y="2880360"/>
            <a:ext cx="347472" cy="283464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02336" y="2898648"/>
            <a:ext cx="27432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333344"/>
                </a:solidFill>
                <a:latin typeface="Calibri"/>
              </a:rPr>
              <a:t>1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13232" y="2880360"/>
            <a:ext cx="3840480" cy="283464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49808" y="2898648"/>
            <a:ext cx="3767328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D2B55"/>
                </a:solidFill>
                <a:latin typeface="Calibri"/>
              </a:rPr>
              <a:t>GSRASARAYAARVRARRAAL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553712" y="2880360"/>
            <a:ext cx="384048" cy="283464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590288" y="2898648"/>
            <a:ext cx="310896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333344"/>
                </a:solidFill>
                <a:latin typeface="Calibri"/>
              </a:rPr>
              <a:t>20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937760" y="2880360"/>
            <a:ext cx="1097280" cy="283464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974336" y="2898648"/>
            <a:ext cx="1024127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06D6A0"/>
                </a:solidFill>
                <a:latin typeface="Calibri"/>
              </a:rPr>
              <a:t>-13.62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035040" y="2880360"/>
            <a:ext cx="5577840" cy="283464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071616" y="2898648"/>
            <a:ext cx="5504688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333344"/>
                </a:solidFill>
                <a:latin typeface="Calibri"/>
              </a:rPr>
              <a:t>Gly/Ser N-term + Arg/Ala central — melhor absoluto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65760" y="3163824"/>
            <a:ext cx="64008" cy="283464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365760" y="3163824"/>
            <a:ext cx="347472" cy="28346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02336" y="3182112"/>
            <a:ext cx="27432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333344"/>
                </a:solidFill>
                <a:latin typeface="Calibri"/>
              </a:rPr>
              <a:t>2</a:t>
            </a:r>
          </a:p>
        </p:txBody>
      </p:sp>
      <p:sp>
        <p:nvSpPr>
          <p:cNvPr id="42" name="Rectangle 41"/>
          <p:cNvSpPr/>
          <p:nvPr/>
        </p:nvSpPr>
        <p:spPr>
          <a:xfrm>
            <a:off x="713232" y="3163824"/>
            <a:ext cx="3840480" cy="28346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49808" y="3182112"/>
            <a:ext cx="3767328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D2B55"/>
                </a:solidFill>
                <a:latin typeface="Calibri"/>
              </a:rPr>
              <a:t>GARKSIREYQKRVLERLKKK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553712" y="3163824"/>
            <a:ext cx="384048" cy="28346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590288" y="3182112"/>
            <a:ext cx="310896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333344"/>
                </a:solidFill>
                <a:latin typeface="Calibri"/>
              </a:rPr>
              <a:t>20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937760" y="3163824"/>
            <a:ext cx="1097280" cy="28346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974336" y="3182112"/>
            <a:ext cx="1024127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06D6A0"/>
                </a:solidFill>
                <a:latin typeface="Calibri"/>
              </a:rPr>
              <a:t>-12.76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035040" y="3163824"/>
            <a:ext cx="5577840" cy="28346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071616" y="3182112"/>
            <a:ext cx="5504688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333344"/>
                </a:solidFill>
                <a:latin typeface="Calibri"/>
              </a:rPr>
              <a:t>Alta densidade R/K (n=9) + Glu/Tyr — melhor I_sc Rosetta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65760" y="3447288"/>
            <a:ext cx="64008" cy="283464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365760" y="3447288"/>
            <a:ext cx="347472" cy="283464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402336" y="3465576"/>
            <a:ext cx="27432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333344"/>
                </a:solidFill>
                <a:latin typeface="Calibri"/>
              </a:rPr>
              <a:t>3</a:t>
            </a:r>
          </a:p>
        </p:txBody>
      </p:sp>
      <p:sp>
        <p:nvSpPr>
          <p:cNvPr id="53" name="Rectangle 52"/>
          <p:cNvSpPr/>
          <p:nvPr/>
        </p:nvSpPr>
        <p:spPr>
          <a:xfrm>
            <a:off x="713232" y="3447288"/>
            <a:ext cx="3840480" cy="283464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749808" y="3465576"/>
            <a:ext cx="3767328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D2B55"/>
                </a:solidFill>
                <a:latin typeface="Calibri"/>
              </a:rPr>
              <a:t>SLARKRAEENAKRFLERVKK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553712" y="3447288"/>
            <a:ext cx="384048" cy="283464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590288" y="3465576"/>
            <a:ext cx="310896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333344"/>
                </a:solidFill>
                <a:latin typeface="Calibri"/>
              </a:rPr>
              <a:t>20</a:t>
            </a:r>
          </a:p>
        </p:txBody>
      </p:sp>
      <p:sp>
        <p:nvSpPr>
          <p:cNvPr id="57" name="Rectangle 56"/>
          <p:cNvSpPr/>
          <p:nvPr/>
        </p:nvSpPr>
        <p:spPr>
          <a:xfrm>
            <a:off x="4937760" y="3447288"/>
            <a:ext cx="1097280" cy="283464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4974336" y="3465576"/>
            <a:ext cx="1024127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06D6A0"/>
                </a:solidFill>
                <a:latin typeface="Calibri"/>
              </a:rPr>
              <a:t>-12.71</a:t>
            </a:r>
          </a:p>
        </p:txBody>
      </p:sp>
      <p:sp>
        <p:nvSpPr>
          <p:cNvPr id="59" name="Rectangle 58"/>
          <p:cNvSpPr/>
          <p:nvPr/>
        </p:nvSpPr>
        <p:spPr>
          <a:xfrm>
            <a:off x="6035040" y="3447288"/>
            <a:ext cx="5577840" cy="283464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071616" y="3465576"/>
            <a:ext cx="5504688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333344"/>
                </a:solidFill>
                <a:latin typeface="Calibri"/>
              </a:rPr>
              <a:t>Leu/Ala scaffold + R/K alternados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3730752"/>
            <a:ext cx="64008" cy="283464"/>
          </a:xfrm>
          <a:prstGeom prst="rect">
            <a:avLst/>
          </a:prstGeom>
          <a:solidFill>
            <a:srgbClr val="1A4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365760" y="3730752"/>
            <a:ext cx="347472" cy="28346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02336" y="3749039"/>
            <a:ext cx="27432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333344"/>
                </a:solidFill>
                <a:latin typeface="Calibri"/>
              </a:rPr>
              <a:t>4</a:t>
            </a:r>
          </a:p>
        </p:txBody>
      </p:sp>
      <p:sp>
        <p:nvSpPr>
          <p:cNvPr id="64" name="Rectangle 63"/>
          <p:cNvSpPr/>
          <p:nvPr/>
        </p:nvSpPr>
        <p:spPr>
          <a:xfrm>
            <a:off x="713232" y="3730752"/>
            <a:ext cx="3840480" cy="28346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749808" y="3749039"/>
            <a:ext cx="3767328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0D2B55"/>
                </a:solidFill>
                <a:latin typeface="Calibri"/>
              </a:rPr>
              <a:t>MKKQRENAKKVAEITLKKAK</a:t>
            </a:r>
          </a:p>
        </p:txBody>
      </p:sp>
      <p:sp>
        <p:nvSpPr>
          <p:cNvPr id="66" name="Rectangle 65"/>
          <p:cNvSpPr/>
          <p:nvPr/>
        </p:nvSpPr>
        <p:spPr>
          <a:xfrm>
            <a:off x="4553712" y="3730752"/>
            <a:ext cx="384048" cy="28346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4590288" y="3749039"/>
            <a:ext cx="310896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333344"/>
                </a:solidFill>
                <a:latin typeface="Calibri"/>
              </a:rPr>
              <a:t>20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937760" y="3730752"/>
            <a:ext cx="1097280" cy="28346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974336" y="3749039"/>
            <a:ext cx="1024127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333344"/>
                </a:solidFill>
                <a:latin typeface="Calibri"/>
              </a:rPr>
              <a:t>-12.68</a:t>
            </a:r>
          </a:p>
        </p:txBody>
      </p:sp>
      <p:sp>
        <p:nvSpPr>
          <p:cNvPr id="70" name="Rectangle 69"/>
          <p:cNvSpPr/>
          <p:nvPr/>
        </p:nvSpPr>
        <p:spPr>
          <a:xfrm>
            <a:off x="6035040" y="3730752"/>
            <a:ext cx="5577840" cy="28346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6071616" y="3749039"/>
            <a:ext cx="5504688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333344"/>
                </a:solidFill>
                <a:latin typeface="Calibri"/>
              </a:rPr>
              <a:t>Lys-rico (n=8), alifatico, solúvel</a:t>
            </a:r>
          </a:p>
        </p:txBody>
      </p:sp>
      <p:sp>
        <p:nvSpPr>
          <p:cNvPr id="72" name="Rectangle 71"/>
          <p:cNvSpPr/>
          <p:nvPr/>
        </p:nvSpPr>
        <p:spPr>
          <a:xfrm>
            <a:off x="365760" y="4014215"/>
            <a:ext cx="64008" cy="283464"/>
          </a:xfrm>
          <a:prstGeom prst="rect">
            <a:avLst/>
          </a:prstGeom>
          <a:solidFill>
            <a:srgbClr val="1A4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365760" y="4014215"/>
            <a:ext cx="347472" cy="283464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402336" y="4032504"/>
            <a:ext cx="27432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333344"/>
                </a:solidFill>
                <a:latin typeface="Calibri"/>
              </a:rPr>
              <a:t>5</a:t>
            </a:r>
          </a:p>
        </p:txBody>
      </p:sp>
      <p:sp>
        <p:nvSpPr>
          <p:cNvPr id="75" name="Rectangle 74"/>
          <p:cNvSpPr/>
          <p:nvPr/>
        </p:nvSpPr>
        <p:spPr>
          <a:xfrm>
            <a:off x="713232" y="4014215"/>
            <a:ext cx="3840480" cy="283464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749808" y="4032504"/>
            <a:ext cx="3767328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0D2B55"/>
                </a:solidFill>
                <a:latin typeface="Calibri"/>
              </a:rPr>
              <a:t>AARASIRAAAARFRARRAAL</a:t>
            </a:r>
          </a:p>
        </p:txBody>
      </p:sp>
      <p:sp>
        <p:nvSpPr>
          <p:cNvPr id="77" name="Rectangle 76"/>
          <p:cNvSpPr/>
          <p:nvPr/>
        </p:nvSpPr>
        <p:spPr>
          <a:xfrm>
            <a:off x="4553712" y="4014215"/>
            <a:ext cx="384048" cy="283464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4590288" y="4032504"/>
            <a:ext cx="310896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333344"/>
                </a:solidFill>
                <a:latin typeface="Calibri"/>
              </a:rPr>
              <a:t>20</a:t>
            </a:r>
          </a:p>
        </p:txBody>
      </p:sp>
      <p:sp>
        <p:nvSpPr>
          <p:cNvPr id="79" name="Rectangle 78"/>
          <p:cNvSpPr/>
          <p:nvPr/>
        </p:nvSpPr>
        <p:spPr>
          <a:xfrm>
            <a:off x="4937760" y="4014215"/>
            <a:ext cx="1097280" cy="283464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4974336" y="4032504"/>
            <a:ext cx="1024127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333344"/>
                </a:solidFill>
                <a:latin typeface="Calibri"/>
              </a:rPr>
              <a:t>-12.62</a:t>
            </a:r>
          </a:p>
        </p:txBody>
      </p:sp>
      <p:sp>
        <p:nvSpPr>
          <p:cNvPr id="81" name="Rectangle 80"/>
          <p:cNvSpPr/>
          <p:nvPr/>
        </p:nvSpPr>
        <p:spPr>
          <a:xfrm>
            <a:off x="6035040" y="4014215"/>
            <a:ext cx="5577840" cy="283464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6071616" y="4032504"/>
            <a:ext cx="5504688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333344"/>
                </a:solidFill>
                <a:latin typeface="Calibri"/>
              </a:rPr>
              <a:t>Ala-rico com Arg interno e Phe aromático</a:t>
            </a:r>
          </a:p>
        </p:txBody>
      </p:sp>
      <p:sp>
        <p:nvSpPr>
          <p:cNvPr id="83" name="Rectangle 82"/>
          <p:cNvSpPr/>
          <p:nvPr/>
        </p:nvSpPr>
        <p:spPr>
          <a:xfrm>
            <a:off x="365760" y="4297680"/>
            <a:ext cx="64008" cy="283464"/>
          </a:xfrm>
          <a:prstGeom prst="rect">
            <a:avLst/>
          </a:prstGeom>
          <a:solidFill>
            <a:srgbClr val="1A4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365760" y="4297680"/>
            <a:ext cx="347472" cy="28346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402336" y="4315968"/>
            <a:ext cx="27432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333344"/>
                </a:solidFill>
                <a:latin typeface="Calibri"/>
              </a:rPr>
              <a:t>6</a:t>
            </a:r>
          </a:p>
        </p:txBody>
      </p:sp>
      <p:sp>
        <p:nvSpPr>
          <p:cNvPr id="86" name="Rectangle 85"/>
          <p:cNvSpPr/>
          <p:nvPr/>
        </p:nvSpPr>
        <p:spPr>
          <a:xfrm>
            <a:off x="713232" y="4297680"/>
            <a:ext cx="3840480" cy="28346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749808" y="4315968"/>
            <a:ext cx="3767328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0D2B55"/>
                </a:solidFill>
                <a:latin typeface="Calibri"/>
              </a:rPr>
              <a:t>AARASQREYQKKFLERLKKK</a:t>
            </a:r>
          </a:p>
        </p:txBody>
      </p:sp>
      <p:sp>
        <p:nvSpPr>
          <p:cNvPr id="88" name="Rectangle 87"/>
          <p:cNvSpPr/>
          <p:nvPr/>
        </p:nvSpPr>
        <p:spPr>
          <a:xfrm>
            <a:off x="4553712" y="4297680"/>
            <a:ext cx="384048" cy="28346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4590288" y="4315968"/>
            <a:ext cx="310896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333344"/>
                </a:solidFill>
                <a:latin typeface="Calibri"/>
              </a:rPr>
              <a:t>20</a:t>
            </a:r>
          </a:p>
        </p:txBody>
      </p:sp>
      <p:sp>
        <p:nvSpPr>
          <p:cNvPr id="90" name="Rectangle 89"/>
          <p:cNvSpPr/>
          <p:nvPr/>
        </p:nvSpPr>
        <p:spPr>
          <a:xfrm>
            <a:off x="4937760" y="4297680"/>
            <a:ext cx="1097280" cy="28346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4974336" y="4315968"/>
            <a:ext cx="1024127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333344"/>
                </a:solidFill>
                <a:latin typeface="Calibri"/>
              </a:rPr>
              <a:t>-12.52</a:t>
            </a:r>
          </a:p>
        </p:txBody>
      </p:sp>
      <p:sp>
        <p:nvSpPr>
          <p:cNvPr id="92" name="Rectangle 91"/>
          <p:cNvSpPr/>
          <p:nvPr/>
        </p:nvSpPr>
        <p:spPr>
          <a:xfrm>
            <a:off x="6035040" y="4297680"/>
            <a:ext cx="5577840" cy="28346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6071616" y="4315968"/>
            <a:ext cx="5504688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333344"/>
                </a:solidFill>
                <a:latin typeface="Calibri"/>
              </a:rPr>
              <a:t>Ala N-term + R/K/F C-term — 2o melhor I_sc Rosetta</a:t>
            </a:r>
          </a:p>
        </p:txBody>
      </p:sp>
      <p:sp>
        <p:nvSpPr>
          <p:cNvPr id="94" name="Rectangle 93"/>
          <p:cNvSpPr/>
          <p:nvPr/>
        </p:nvSpPr>
        <p:spPr>
          <a:xfrm>
            <a:off x="365760" y="4581144"/>
            <a:ext cx="347472" cy="283464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402336" y="4599431"/>
            <a:ext cx="27432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333344"/>
                </a:solidFill>
                <a:latin typeface="Calibri"/>
              </a:rPr>
              <a:t>7</a:t>
            </a:r>
          </a:p>
        </p:txBody>
      </p:sp>
      <p:sp>
        <p:nvSpPr>
          <p:cNvPr id="96" name="Rectangle 95"/>
          <p:cNvSpPr/>
          <p:nvPr/>
        </p:nvSpPr>
        <p:spPr>
          <a:xfrm>
            <a:off x="713232" y="4581144"/>
            <a:ext cx="3840480" cy="283464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749808" y="4599431"/>
            <a:ext cx="3767328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0D2B55"/>
                </a:solidFill>
                <a:latin typeface="Calibri"/>
              </a:rPr>
              <a:t>AARASQREYAARFAERLAAK</a:t>
            </a:r>
          </a:p>
        </p:txBody>
      </p:sp>
      <p:sp>
        <p:nvSpPr>
          <p:cNvPr id="98" name="Rectangle 97"/>
          <p:cNvSpPr/>
          <p:nvPr/>
        </p:nvSpPr>
        <p:spPr>
          <a:xfrm>
            <a:off x="4553712" y="4581144"/>
            <a:ext cx="384048" cy="283464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4590288" y="4599431"/>
            <a:ext cx="310896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333344"/>
                </a:solidFill>
                <a:latin typeface="Calibri"/>
              </a:rPr>
              <a:t>20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4937760" y="4581144"/>
            <a:ext cx="1097280" cy="283464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4974336" y="4599431"/>
            <a:ext cx="1024127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333344"/>
                </a:solidFill>
                <a:latin typeface="Calibri"/>
              </a:rPr>
              <a:t>-12.52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6035040" y="4581144"/>
            <a:ext cx="5577840" cy="283464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6071616" y="4599431"/>
            <a:ext cx="5504688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333344"/>
                </a:solidFill>
                <a:latin typeface="Calibri"/>
              </a:rPr>
              <a:t>Tyr/Phe + Glu C-term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365760" y="4864608"/>
            <a:ext cx="347472" cy="28346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402336" y="4882896"/>
            <a:ext cx="27432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333344"/>
                </a:solidFill>
                <a:latin typeface="Calibri"/>
              </a:rPr>
              <a:t>8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713232" y="4864608"/>
            <a:ext cx="3840480" cy="28346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749808" y="4882896"/>
            <a:ext cx="3767328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0D2B55"/>
                </a:solidFill>
                <a:latin typeface="Calibri"/>
              </a:rPr>
              <a:t>SAAARARQRAVIARARARVA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4553712" y="4864608"/>
            <a:ext cx="384048" cy="28346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4590288" y="4882896"/>
            <a:ext cx="310896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333344"/>
                </a:solidFill>
                <a:latin typeface="Calibri"/>
              </a:rPr>
              <a:t>20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4937760" y="4864608"/>
            <a:ext cx="1097280" cy="28346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4974336" y="4882896"/>
            <a:ext cx="1024127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333344"/>
                </a:solidFill>
                <a:latin typeface="Calibri"/>
              </a:rPr>
              <a:t>-12.44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6035040" y="4864608"/>
            <a:ext cx="5577840" cy="28346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6071616" y="4882896"/>
            <a:ext cx="5504688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333344"/>
                </a:solidFill>
                <a:latin typeface="Calibri"/>
              </a:rPr>
              <a:t>Ala/Arg alternados (anfipático regular)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365760" y="5148072"/>
            <a:ext cx="347472" cy="283464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402336" y="5166360"/>
            <a:ext cx="27432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333344"/>
                </a:solidFill>
                <a:latin typeface="Calibri"/>
              </a:rPr>
              <a:t>9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713232" y="5148072"/>
            <a:ext cx="3840480" cy="283464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749808" y="5166360"/>
            <a:ext cx="3767328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0D2B55"/>
                </a:solidFill>
                <a:latin typeface="Calibri"/>
              </a:rPr>
              <a:t>SAAARARQRAVGARMRARVA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4553712" y="5148072"/>
            <a:ext cx="384048" cy="283464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90288" y="5166360"/>
            <a:ext cx="310896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333344"/>
                </a:solidFill>
                <a:latin typeface="Calibri"/>
              </a:rPr>
              <a:t>20</a:t>
            </a:r>
          </a:p>
        </p:txBody>
      </p:sp>
      <p:sp>
        <p:nvSpPr>
          <p:cNvPr id="120" name="Rectangle 119"/>
          <p:cNvSpPr/>
          <p:nvPr/>
        </p:nvSpPr>
        <p:spPr>
          <a:xfrm>
            <a:off x="4937760" y="5148072"/>
            <a:ext cx="1097280" cy="283464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4974336" y="5166360"/>
            <a:ext cx="1024127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333344"/>
                </a:solidFill>
                <a:latin typeface="Calibri"/>
              </a:rPr>
              <a:t>-12.44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6035040" y="5148072"/>
            <a:ext cx="5577840" cy="283464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6071616" y="5166360"/>
            <a:ext cx="5504688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333344"/>
                </a:solidFill>
                <a:latin typeface="Calibri"/>
              </a:rPr>
              <a:t>Ala/Arg/Met — variante de #8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365760" y="5431536"/>
            <a:ext cx="347472" cy="28346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402336" y="5449824"/>
            <a:ext cx="27432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333344"/>
                </a:solidFill>
                <a:latin typeface="Calibri"/>
              </a:rPr>
              <a:t>10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713232" y="5431536"/>
            <a:ext cx="3840480" cy="28346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749808" y="5449824"/>
            <a:ext cx="3767328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0D2B55"/>
                </a:solidFill>
                <a:latin typeface="Calibri"/>
              </a:rPr>
              <a:t>AARENIRKAHKTFLERLKKK</a:t>
            </a:r>
          </a:p>
        </p:txBody>
      </p:sp>
      <p:sp>
        <p:nvSpPr>
          <p:cNvPr id="128" name="Rectangle 127"/>
          <p:cNvSpPr/>
          <p:nvPr/>
        </p:nvSpPr>
        <p:spPr>
          <a:xfrm>
            <a:off x="4553712" y="5431536"/>
            <a:ext cx="384048" cy="28346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4590288" y="5449824"/>
            <a:ext cx="310896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333344"/>
                </a:solidFill>
                <a:latin typeface="Calibri"/>
              </a:rPr>
              <a:t>20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4937760" y="5431536"/>
            <a:ext cx="1097280" cy="28346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4974336" y="5449824"/>
            <a:ext cx="1024127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333344"/>
                </a:solidFill>
                <a:latin typeface="Calibri"/>
              </a:rPr>
              <a:t>-12.36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6035040" y="5431536"/>
            <a:ext cx="5577840" cy="28346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6071616" y="5449824"/>
            <a:ext cx="5504688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333344"/>
                </a:solidFill>
                <a:latin typeface="Calibri"/>
              </a:rPr>
              <a:t>Ala/Leu + R/K/H distribuídos</a:t>
            </a:r>
          </a:p>
        </p:txBody>
      </p:sp>
      <p:sp>
        <p:nvSpPr>
          <p:cNvPr id="134" name="Rectangle 133"/>
          <p:cNvSpPr/>
          <p:nvPr/>
        </p:nvSpPr>
        <p:spPr>
          <a:xfrm>
            <a:off x="365760" y="6492240"/>
            <a:ext cx="11430000" cy="256032"/>
          </a:xfrm>
          <a:prstGeom prst="rect">
            <a:avLst/>
          </a:prstGeom>
          <a:solidFill>
            <a:srgbClr val="1A4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TextBox 134"/>
          <p:cNvSpPr txBox="1"/>
          <p:nvPr/>
        </p:nvSpPr>
        <p:spPr>
          <a:xfrm>
            <a:off x="502920" y="6510528"/>
            <a:ext cx="11155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Padrao: Arg/Lys + Ala/Ser (sem aromaticos) — mecanismo competitivo classico (Arg-Asp205 S1) | contraste com candidatos heuristicos anteriores (aromatico-ricos)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11521440" y="649224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8899AA"/>
                </a:solidFill>
                <a:latin typeface="Calibri"/>
              </a:rPr>
              <a:t>10/18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960120"/>
            <a:ext cx="12188952" cy="457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45720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PyRosetta 2026.25 — Refinamento de Interface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21792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00B4D8"/>
                </a:solidFill>
                <a:latin typeface="Calibri"/>
              </a:rPr>
              <a:t>FastRelax + InterfaceAnalyzerMover('A_B') | I_sc REF2015 | 10/10 complexos refinados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143000"/>
            <a:ext cx="11430000" cy="594360"/>
          </a:xfrm>
          <a:prstGeom prst="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65760" y="1143000"/>
            <a:ext cx="91440" cy="594360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234440"/>
            <a:ext cx="110642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333344"/>
                </a:solidFill>
                <a:latin typeface="Calibri"/>
              </a:rPr>
              <a:t>Instalado: pyrosetta-2026.25+release (pyrosetta-installer, sem licenca separada) | Python 3.10 | protein_design_env | 2026-06-17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182880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D2B55"/>
                </a:solidFill>
                <a:latin typeface="Calibri"/>
              </a:rPr>
              <a:t>Cross-validation Vina × I_sc Rosetta — top-10 candidatos: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2240280"/>
            <a:ext cx="3840480" cy="32004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02336" y="2258568"/>
            <a:ext cx="3767328" cy="283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Sequencia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206240" y="2240280"/>
            <a:ext cx="1097280" cy="32004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242816" y="2258568"/>
            <a:ext cx="1024127" cy="283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Vina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303520" y="2240280"/>
            <a:ext cx="731520" cy="32004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340096" y="2258568"/>
            <a:ext cx="658368" cy="283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RankV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035040" y="2240280"/>
            <a:ext cx="1280160" cy="32004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071616" y="2258568"/>
            <a:ext cx="1207007" cy="283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I_sc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315200" y="2240280"/>
            <a:ext cx="731520" cy="32004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51775" y="2258568"/>
            <a:ext cx="658368" cy="283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RankR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046720" y="2240280"/>
            <a:ext cx="731520" cy="32004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83296" y="2258568"/>
            <a:ext cx="658368" cy="283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Delta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778240" y="2240280"/>
            <a:ext cx="1828800" cy="32004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814815" y="2258568"/>
            <a:ext cx="1755648" cy="283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Status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560320"/>
            <a:ext cx="3840480" cy="27432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02336" y="2578608"/>
            <a:ext cx="376732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333344"/>
                </a:solidFill>
                <a:latin typeface="Calibri"/>
              </a:rPr>
              <a:t>GARKSIREYQKRVLERLKKK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206240" y="2560320"/>
            <a:ext cx="1097280" cy="27432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242816" y="2578608"/>
            <a:ext cx="1024127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333344"/>
                </a:solidFill>
                <a:latin typeface="Calibri"/>
              </a:rPr>
              <a:t>-12.76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303520" y="2560320"/>
            <a:ext cx="731520" cy="27432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340096" y="2578608"/>
            <a:ext cx="65836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333344"/>
                </a:solidFill>
                <a:latin typeface="Calibri"/>
              </a:rPr>
              <a:t>2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035040" y="2560320"/>
            <a:ext cx="1280160" cy="27432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071616" y="2578608"/>
            <a:ext cx="1207007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06D6A0"/>
                </a:solidFill>
                <a:latin typeface="Calibri"/>
              </a:rPr>
              <a:t>-86.28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315200" y="2560320"/>
            <a:ext cx="731520" cy="27432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351775" y="2578608"/>
            <a:ext cx="65836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333344"/>
                </a:solidFill>
                <a:latin typeface="Calibri"/>
              </a:rPr>
              <a:t>1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046720" y="2560320"/>
            <a:ext cx="731520" cy="27432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083296" y="2578608"/>
            <a:ext cx="65836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333344"/>
                </a:solidFill>
                <a:latin typeface="Calibri"/>
              </a:rPr>
              <a:t>+1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778240" y="2560320"/>
            <a:ext cx="1828800" cy="27432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814815" y="2578608"/>
            <a:ext cx="175564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06D6A0"/>
                </a:solidFill>
                <a:latin typeface="Calibri"/>
              </a:rPr>
              <a:t>bestI_sc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2834640"/>
            <a:ext cx="3840480" cy="274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02336" y="2852928"/>
            <a:ext cx="376732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333344"/>
                </a:solidFill>
                <a:latin typeface="Calibri"/>
              </a:rPr>
              <a:t>AARASQREYQKKFLERLKKK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206240" y="2834640"/>
            <a:ext cx="1097280" cy="274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242816" y="2852928"/>
            <a:ext cx="1024127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333344"/>
                </a:solidFill>
                <a:latin typeface="Calibri"/>
              </a:rPr>
              <a:t>-12.52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303520" y="2834640"/>
            <a:ext cx="731520" cy="274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340096" y="2852928"/>
            <a:ext cx="65836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333344"/>
                </a:solidFill>
                <a:latin typeface="Calibri"/>
              </a:rPr>
              <a:t>5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035040" y="2834640"/>
            <a:ext cx="1280160" cy="274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071616" y="2852928"/>
            <a:ext cx="1207007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06D6A0"/>
                </a:solidFill>
                <a:latin typeface="Calibri"/>
              </a:rPr>
              <a:t>-85.92</a:t>
            </a:r>
          </a:p>
        </p:txBody>
      </p:sp>
      <p:sp>
        <p:nvSpPr>
          <p:cNvPr id="48" name="Rectangle 47"/>
          <p:cNvSpPr/>
          <p:nvPr/>
        </p:nvSpPr>
        <p:spPr>
          <a:xfrm>
            <a:off x="7315200" y="2834640"/>
            <a:ext cx="731520" cy="274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351775" y="2852928"/>
            <a:ext cx="65836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333344"/>
                </a:solidFill>
                <a:latin typeface="Calibri"/>
              </a:rPr>
              <a:t>2</a:t>
            </a:r>
          </a:p>
        </p:txBody>
      </p:sp>
      <p:sp>
        <p:nvSpPr>
          <p:cNvPr id="50" name="Rectangle 49"/>
          <p:cNvSpPr/>
          <p:nvPr/>
        </p:nvSpPr>
        <p:spPr>
          <a:xfrm>
            <a:off x="8046720" y="2834640"/>
            <a:ext cx="731520" cy="274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083296" y="2852928"/>
            <a:ext cx="65836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333344"/>
                </a:solidFill>
                <a:latin typeface="Calibri"/>
              </a:rPr>
              <a:t>+3</a:t>
            </a:r>
          </a:p>
        </p:txBody>
      </p:sp>
      <p:sp>
        <p:nvSpPr>
          <p:cNvPr id="52" name="Rectangle 51"/>
          <p:cNvSpPr/>
          <p:nvPr/>
        </p:nvSpPr>
        <p:spPr>
          <a:xfrm>
            <a:off x="8778240" y="2834640"/>
            <a:ext cx="1828800" cy="274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8814815" y="2852928"/>
            <a:ext cx="175564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06D6A0"/>
                </a:solidFill>
                <a:latin typeface="Calibri"/>
              </a:rPr>
              <a:t>elevado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108960"/>
            <a:ext cx="3840480" cy="27432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402336" y="3127248"/>
            <a:ext cx="376732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333344"/>
                </a:solidFill>
                <a:latin typeface="Calibri"/>
              </a:rPr>
              <a:t>MKKQRENAKKVAEITLKKAK</a:t>
            </a:r>
          </a:p>
        </p:txBody>
      </p:sp>
      <p:sp>
        <p:nvSpPr>
          <p:cNvPr id="56" name="Rectangle 55"/>
          <p:cNvSpPr/>
          <p:nvPr/>
        </p:nvSpPr>
        <p:spPr>
          <a:xfrm>
            <a:off x="4206240" y="3108960"/>
            <a:ext cx="1097280" cy="27432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4242816" y="3127248"/>
            <a:ext cx="1024127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333344"/>
                </a:solidFill>
                <a:latin typeface="Calibri"/>
              </a:rPr>
              <a:t>-12.68</a:t>
            </a:r>
          </a:p>
        </p:txBody>
      </p:sp>
      <p:sp>
        <p:nvSpPr>
          <p:cNvPr id="58" name="Rectangle 57"/>
          <p:cNvSpPr/>
          <p:nvPr/>
        </p:nvSpPr>
        <p:spPr>
          <a:xfrm>
            <a:off x="5303520" y="3108960"/>
            <a:ext cx="731520" cy="27432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5340096" y="3127248"/>
            <a:ext cx="65836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333344"/>
                </a:solidFill>
                <a:latin typeface="Calibri"/>
              </a:rPr>
              <a:t>4</a:t>
            </a:r>
          </a:p>
        </p:txBody>
      </p:sp>
      <p:sp>
        <p:nvSpPr>
          <p:cNvPr id="60" name="Rectangle 59"/>
          <p:cNvSpPr/>
          <p:nvPr/>
        </p:nvSpPr>
        <p:spPr>
          <a:xfrm>
            <a:off x="6035040" y="3108960"/>
            <a:ext cx="1280160" cy="27432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071616" y="3127248"/>
            <a:ext cx="1207007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06D6A0"/>
                </a:solidFill>
                <a:latin typeface="Calibri"/>
              </a:rPr>
              <a:t>-80.49</a:t>
            </a:r>
          </a:p>
        </p:txBody>
      </p:sp>
      <p:sp>
        <p:nvSpPr>
          <p:cNvPr id="62" name="Rectangle 61"/>
          <p:cNvSpPr/>
          <p:nvPr/>
        </p:nvSpPr>
        <p:spPr>
          <a:xfrm>
            <a:off x="7315200" y="3108960"/>
            <a:ext cx="731520" cy="27432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351775" y="3127248"/>
            <a:ext cx="65836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333344"/>
                </a:solidFill>
                <a:latin typeface="Calibri"/>
              </a:rPr>
              <a:t>3</a:t>
            </a:r>
          </a:p>
        </p:txBody>
      </p:sp>
      <p:sp>
        <p:nvSpPr>
          <p:cNvPr id="64" name="Rectangle 63"/>
          <p:cNvSpPr/>
          <p:nvPr/>
        </p:nvSpPr>
        <p:spPr>
          <a:xfrm>
            <a:off x="8046720" y="3108960"/>
            <a:ext cx="731520" cy="27432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8083296" y="3127248"/>
            <a:ext cx="65836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333344"/>
                </a:solidFill>
                <a:latin typeface="Calibri"/>
              </a:rPr>
              <a:t>+1</a:t>
            </a:r>
          </a:p>
        </p:txBody>
      </p:sp>
      <p:sp>
        <p:nvSpPr>
          <p:cNvPr id="66" name="Rectangle 65"/>
          <p:cNvSpPr/>
          <p:nvPr/>
        </p:nvSpPr>
        <p:spPr>
          <a:xfrm>
            <a:off x="8778240" y="3108960"/>
            <a:ext cx="1828800" cy="27432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8814815" y="3127248"/>
            <a:ext cx="175564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4F8A"/>
                </a:solidFill>
                <a:latin typeface="Calibri"/>
              </a:rPr>
              <a:t>concordante</a:t>
            </a:r>
          </a:p>
        </p:txBody>
      </p:sp>
      <p:sp>
        <p:nvSpPr>
          <p:cNvPr id="68" name="Rectangle 67"/>
          <p:cNvSpPr/>
          <p:nvPr/>
        </p:nvSpPr>
        <p:spPr>
          <a:xfrm>
            <a:off x="365760" y="3383280"/>
            <a:ext cx="3840480" cy="274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02336" y="3401568"/>
            <a:ext cx="376732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333344"/>
                </a:solidFill>
                <a:latin typeface="Calibri"/>
              </a:rPr>
              <a:t>GSRASARAYAARVRARRAAL</a:t>
            </a:r>
          </a:p>
        </p:txBody>
      </p:sp>
      <p:sp>
        <p:nvSpPr>
          <p:cNvPr id="70" name="Rectangle 69"/>
          <p:cNvSpPr/>
          <p:nvPr/>
        </p:nvSpPr>
        <p:spPr>
          <a:xfrm>
            <a:off x="4206240" y="3383280"/>
            <a:ext cx="1097280" cy="274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4242816" y="3401568"/>
            <a:ext cx="1024127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06D6A0"/>
                </a:solidFill>
                <a:latin typeface="Calibri"/>
              </a:rPr>
              <a:t>-13.62</a:t>
            </a:r>
          </a:p>
        </p:txBody>
      </p:sp>
      <p:sp>
        <p:nvSpPr>
          <p:cNvPr id="72" name="Rectangle 71"/>
          <p:cNvSpPr/>
          <p:nvPr/>
        </p:nvSpPr>
        <p:spPr>
          <a:xfrm>
            <a:off x="5303520" y="3383280"/>
            <a:ext cx="731520" cy="274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5340096" y="3401568"/>
            <a:ext cx="65836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333344"/>
                </a:solidFill>
                <a:latin typeface="Calibri"/>
              </a:rPr>
              <a:t>1</a:t>
            </a:r>
          </a:p>
        </p:txBody>
      </p:sp>
      <p:sp>
        <p:nvSpPr>
          <p:cNvPr id="74" name="Rectangle 73"/>
          <p:cNvSpPr/>
          <p:nvPr/>
        </p:nvSpPr>
        <p:spPr>
          <a:xfrm>
            <a:off x="6035040" y="3383280"/>
            <a:ext cx="1280160" cy="274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6071616" y="3401568"/>
            <a:ext cx="1207007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333344"/>
                </a:solidFill>
                <a:latin typeface="Calibri"/>
              </a:rPr>
              <a:t>-78.44</a:t>
            </a:r>
          </a:p>
        </p:txBody>
      </p:sp>
      <p:sp>
        <p:nvSpPr>
          <p:cNvPr id="76" name="Rectangle 75"/>
          <p:cNvSpPr/>
          <p:nvPr/>
        </p:nvSpPr>
        <p:spPr>
          <a:xfrm>
            <a:off x="7315200" y="3383280"/>
            <a:ext cx="731520" cy="274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7351775" y="3401568"/>
            <a:ext cx="65836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333344"/>
                </a:solidFill>
                <a:latin typeface="Calibri"/>
              </a:rPr>
              <a:t>4</a:t>
            </a:r>
          </a:p>
        </p:txBody>
      </p:sp>
      <p:sp>
        <p:nvSpPr>
          <p:cNvPr id="78" name="Rectangle 77"/>
          <p:cNvSpPr/>
          <p:nvPr/>
        </p:nvSpPr>
        <p:spPr>
          <a:xfrm>
            <a:off x="8046720" y="3383280"/>
            <a:ext cx="731520" cy="274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8083296" y="3401568"/>
            <a:ext cx="65836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333344"/>
                </a:solidFill>
                <a:latin typeface="Calibri"/>
              </a:rPr>
              <a:t>-3</a:t>
            </a:r>
          </a:p>
        </p:txBody>
      </p:sp>
      <p:sp>
        <p:nvSpPr>
          <p:cNvPr id="80" name="Rectangle 79"/>
          <p:cNvSpPr/>
          <p:nvPr/>
        </p:nvSpPr>
        <p:spPr>
          <a:xfrm>
            <a:off x="8778240" y="3383280"/>
            <a:ext cx="1828800" cy="274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814815" y="3401568"/>
            <a:ext cx="175564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00B4D8"/>
                </a:solidFill>
                <a:latin typeface="Calibri"/>
              </a:rPr>
              <a:t>bestVina</a:t>
            </a:r>
          </a:p>
        </p:txBody>
      </p:sp>
      <p:sp>
        <p:nvSpPr>
          <p:cNvPr id="82" name="Rectangle 81"/>
          <p:cNvSpPr/>
          <p:nvPr/>
        </p:nvSpPr>
        <p:spPr>
          <a:xfrm>
            <a:off x="365760" y="3657600"/>
            <a:ext cx="3840480" cy="27432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402336" y="3675888"/>
            <a:ext cx="376732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333344"/>
                </a:solidFill>
                <a:latin typeface="Calibri"/>
              </a:rPr>
              <a:t>AARASIRAAAARFRARRAAL</a:t>
            </a:r>
          </a:p>
        </p:txBody>
      </p:sp>
      <p:sp>
        <p:nvSpPr>
          <p:cNvPr id="84" name="Rectangle 83"/>
          <p:cNvSpPr/>
          <p:nvPr/>
        </p:nvSpPr>
        <p:spPr>
          <a:xfrm>
            <a:off x="4206240" y="3657600"/>
            <a:ext cx="1097280" cy="27432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4242816" y="3675888"/>
            <a:ext cx="1024127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333344"/>
                </a:solidFill>
                <a:latin typeface="Calibri"/>
              </a:rPr>
              <a:t>-12.62</a:t>
            </a:r>
          </a:p>
        </p:txBody>
      </p:sp>
      <p:sp>
        <p:nvSpPr>
          <p:cNvPr id="86" name="Rectangle 85"/>
          <p:cNvSpPr/>
          <p:nvPr/>
        </p:nvSpPr>
        <p:spPr>
          <a:xfrm>
            <a:off x="5303520" y="3657600"/>
            <a:ext cx="731520" cy="27432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5340096" y="3675888"/>
            <a:ext cx="65836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333344"/>
                </a:solidFill>
                <a:latin typeface="Calibri"/>
              </a:rPr>
              <a:t>6</a:t>
            </a:r>
          </a:p>
        </p:txBody>
      </p:sp>
      <p:sp>
        <p:nvSpPr>
          <p:cNvPr id="88" name="Rectangle 87"/>
          <p:cNvSpPr/>
          <p:nvPr/>
        </p:nvSpPr>
        <p:spPr>
          <a:xfrm>
            <a:off x="6035040" y="3657600"/>
            <a:ext cx="1280160" cy="27432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6071616" y="3675888"/>
            <a:ext cx="1207007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333344"/>
                </a:solidFill>
                <a:latin typeface="Calibri"/>
              </a:rPr>
              <a:t>-75.45</a:t>
            </a:r>
          </a:p>
        </p:txBody>
      </p:sp>
      <p:sp>
        <p:nvSpPr>
          <p:cNvPr id="90" name="Rectangle 89"/>
          <p:cNvSpPr/>
          <p:nvPr/>
        </p:nvSpPr>
        <p:spPr>
          <a:xfrm>
            <a:off x="7315200" y="3657600"/>
            <a:ext cx="731520" cy="27432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7351775" y="3675888"/>
            <a:ext cx="65836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333344"/>
                </a:solidFill>
                <a:latin typeface="Calibri"/>
              </a:rPr>
              <a:t>5</a:t>
            </a:r>
          </a:p>
        </p:txBody>
      </p:sp>
      <p:sp>
        <p:nvSpPr>
          <p:cNvPr id="92" name="Rectangle 91"/>
          <p:cNvSpPr/>
          <p:nvPr/>
        </p:nvSpPr>
        <p:spPr>
          <a:xfrm>
            <a:off x="8046720" y="3657600"/>
            <a:ext cx="731520" cy="27432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8083296" y="3675888"/>
            <a:ext cx="65836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333344"/>
                </a:solidFill>
                <a:latin typeface="Calibri"/>
              </a:rPr>
              <a:t>+1</a:t>
            </a:r>
          </a:p>
        </p:txBody>
      </p:sp>
      <p:sp>
        <p:nvSpPr>
          <p:cNvPr id="94" name="Rectangle 93"/>
          <p:cNvSpPr/>
          <p:nvPr/>
        </p:nvSpPr>
        <p:spPr>
          <a:xfrm>
            <a:off x="8778240" y="3657600"/>
            <a:ext cx="1828800" cy="27432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8814815" y="3675888"/>
            <a:ext cx="175564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4F8A"/>
                </a:solidFill>
                <a:latin typeface="Calibri"/>
              </a:rPr>
              <a:t>concordante</a:t>
            </a:r>
          </a:p>
        </p:txBody>
      </p:sp>
      <p:sp>
        <p:nvSpPr>
          <p:cNvPr id="96" name="Rectangle 95"/>
          <p:cNvSpPr/>
          <p:nvPr/>
        </p:nvSpPr>
        <p:spPr>
          <a:xfrm>
            <a:off x="365760" y="3931920"/>
            <a:ext cx="3840480" cy="274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402336" y="3950208"/>
            <a:ext cx="376732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333344"/>
                </a:solidFill>
                <a:latin typeface="Calibri"/>
              </a:rPr>
              <a:t>GSLTGRRIAALWKASLAKRK</a:t>
            </a:r>
          </a:p>
        </p:txBody>
      </p:sp>
      <p:sp>
        <p:nvSpPr>
          <p:cNvPr id="98" name="Rectangle 97"/>
          <p:cNvSpPr/>
          <p:nvPr/>
        </p:nvSpPr>
        <p:spPr>
          <a:xfrm>
            <a:off x="4206240" y="3931920"/>
            <a:ext cx="1097280" cy="274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4242816" y="3950208"/>
            <a:ext cx="1024127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333344"/>
                </a:solidFill>
                <a:latin typeface="Calibri"/>
              </a:rPr>
              <a:t>-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5303520" y="3931920"/>
            <a:ext cx="731520" cy="274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5340096" y="3950208"/>
            <a:ext cx="65836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333344"/>
                </a:solidFill>
                <a:latin typeface="Calibri"/>
              </a:rPr>
              <a:t>-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6035040" y="3931920"/>
            <a:ext cx="1280160" cy="274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6071616" y="3950208"/>
            <a:ext cx="1207007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333344"/>
                </a:solidFill>
                <a:latin typeface="Calibri"/>
              </a:rPr>
              <a:t>-69.44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7315200" y="3931920"/>
            <a:ext cx="731520" cy="274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7351775" y="3950208"/>
            <a:ext cx="65836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333344"/>
                </a:solidFill>
                <a:latin typeface="Calibri"/>
              </a:rPr>
              <a:t>6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8046720" y="3931920"/>
            <a:ext cx="731520" cy="274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8083296" y="3950208"/>
            <a:ext cx="65836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333344"/>
                </a:solidFill>
                <a:latin typeface="Calibri"/>
              </a:rPr>
              <a:t>-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8778240" y="3931920"/>
            <a:ext cx="1828800" cy="274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8814815" y="3950208"/>
            <a:ext cx="175564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333344"/>
                </a:solidFill>
                <a:latin typeface="Calibri"/>
              </a:rPr>
              <a:t>Rosetta-only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365760" y="4206240"/>
            <a:ext cx="3840480" cy="27432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402336" y="4224528"/>
            <a:ext cx="376732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333344"/>
                </a:solidFill>
                <a:latin typeface="Calibri"/>
              </a:rPr>
              <a:t>SAAARARQRAVGARMRARVA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4206240" y="4206240"/>
            <a:ext cx="1097280" cy="27432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4242816" y="4224528"/>
            <a:ext cx="1024127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333344"/>
                </a:solidFill>
                <a:latin typeface="Calibri"/>
              </a:rPr>
              <a:t>-12.44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5303520" y="4206240"/>
            <a:ext cx="731520" cy="27432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5340096" y="4224528"/>
            <a:ext cx="65836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333344"/>
                </a:solidFill>
                <a:latin typeface="Calibri"/>
              </a:rPr>
              <a:t>8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6035040" y="4206240"/>
            <a:ext cx="1280160" cy="27432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6071616" y="4224528"/>
            <a:ext cx="1207007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333344"/>
                </a:solidFill>
                <a:latin typeface="Calibri"/>
              </a:rPr>
              <a:t>-63.98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7315200" y="4206240"/>
            <a:ext cx="731520" cy="27432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7351775" y="4224528"/>
            <a:ext cx="65836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333344"/>
                </a:solidFill>
                <a:latin typeface="Calibri"/>
              </a:rPr>
              <a:t>7</a:t>
            </a:r>
          </a:p>
        </p:txBody>
      </p:sp>
      <p:sp>
        <p:nvSpPr>
          <p:cNvPr id="120" name="Rectangle 119"/>
          <p:cNvSpPr/>
          <p:nvPr/>
        </p:nvSpPr>
        <p:spPr>
          <a:xfrm>
            <a:off x="8046720" y="4206240"/>
            <a:ext cx="731520" cy="27432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8083296" y="4224528"/>
            <a:ext cx="65836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333344"/>
                </a:solidFill>
                <a:latin typeface="Calibri"/>
              </a:rPr>
              <a:t>+1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8778240" y="4206240"/>
            <a:ext cx="1828800" cy="27432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8814815" y="4224528"/>
            <a:ext cx="175564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4F8A"/>
                </a:solidFill>
                <a:latin typeface="Calibri"/>
              </a:rPr>
              <a:t>concordante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365760" y="4480560"/>
            <a:ext cx="3840480" cy="274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402336" y="4498848"/>
            <a:ext cx="376732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333344"/>
                </a:solidFill>
                <a:latin typeface="Calibri"/>
              </a:rPr>
              <a:t>AARENIRKAHKTFLERLKKK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4206240" y="4480560"/>
            <a:ext cx="1097280" cy="274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4242816" y="4498848"/>
            <a:ext cx="1024127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333344"/>
                </a:solidFill>
                <a:latin typeface="Calibri"/>
              </a:rPr>
              <a:t>-12.36</a:t>
            </a:r>
          </a:p>
        </p:txBody>
      </p:sp>
      <p:sp>
        <p:nvSpPr>
          <p:cNvPr id="128" name="Rectangle 127"/>
          <p:cNvSpPr/>
          <p:nvPr/>
        </p:nvSpPr>
        <p:spPr>
          <a:xfrm>
            <a:off x="5303520" y="4480560"/>
            <a:ext cx="731520" cy="274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5340096" y="4498848"/>
            <a:ext cx="65836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333344"/>
                </a:solidFill>
                <a:latin typeface="Calibri"/>
              </a:rPr>
              <a:t>7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6035040" y="4480560"/>
            <a:ext cx="1280160" cy="274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6071616" y="4498848"/>
            <a:ext cx="1207007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333344"/>
                </a:solidFill>
                <a:latin typeface="Calibri"/>
              </a:rPr>
              <a:t>-62.74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7315200" y="4480560"/>
            <a:ext cx="731520" cy="274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7351775" y="4498848"/>
            <a:ext cx="65836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333344"/>
                </a:solidFill>
                <a:latin typeface="Calibri"/>
              </a:rPr>
              <a:t>8</a:t>
            </a:r>
          </a:p>
        </p:txBody>
      </p:sp>
      <p:sp>
        <p:nvSpPr>
          <p:cNvPr id="134" name="Rectangle 133"/>
          <p:cNvSpPr/>
          <p:nvPr/>
        </p:nvSpPr>
        <p:spPr>
          <a:xfrm>
            <a:off x="8046720" y="4480560"/>
            <a:ext cx="731520" cy="274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TextBox 134"/>
          <p:cNvSpPr txBox="1"/>
          <p:nvPr/>
        </p:nvSpPr>
        <p:spPr>
          <a:xfrm>
            <a:off x="8083296" y="4498848"/>
            <a:ext cx="65836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333344"/>
                </a:solidFill>
                <a:latin typeface="Calibri"/>
              </a:rPr>
              <a:t>-1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8778240" y="4480560"/>
            <a:ext cx="1828800" cy="274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8814815" y="4498848"/>
            <a:ext cx="175564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4F8A"/>
                </a:solidFill>
                <a:latin typeface="Calibri"/>
              </a:rPr>
              <a:t>concordante</a:t>
            </a:r>
          </a:p>
        </p:txBody>
      </p:sp>
      <p:sp>
        <p:nvSpPr>
          <p:cNvPr id="138" name="Rectangle 137"/>
          <p:cNvSpPr/>
          <p:nvPr/>
        </p:nvSpPr>
        <p:spPr>
          <a:xfrm>
            <a:off x="365760" y="4754880"/>
            <a:ext cx="3840480" cy="27432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TextBox 138"/>
          <p:cNvSpPr txBox="1"/>
          <p:nvPr/>
        </p:nvSpPr>
        <p:spPr>
          <a:xfrm>
            <a:off x="402336" y="4773168"/>
            <a:ext cx="376732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333344"/>
                </a:solidFill>
                <a:latin typeface="Calibri"/>
              </a:rPr>
              <a:t>ALDAVRARARALGARLRARA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4206240" y="4754880"/>
            <a:ext cx="1097280" cy="27432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4242816" y="4773168"/>
            <a:ext cx="1024127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333344"/>
                </a:solidFill>
                <a:latin typeface="Calibri"/>
              </a:rPr>
              <a:t>-</a:t>
            </a:r>
          </a:p>
        </p:txBody>
      </p:sp>
      <p:sp>
        <p:nvSpPr>
          <p:cNvPr id="142" name="Rectangle 141"/>
          <p:cNvSpPr/>
          <p:nvPr/>
        </p:nvSpPr>
        <p:spPr>
          <a:xfrm>
            <a:off x="5303520" y="4754880"/>
            <a:ext cx="731520" cy="27432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TextBox 142"/>
          <p:cNvSpPr txBox="1"/>
          <p:nvPr/>
        </p:nvSpPr>
        <p:spPr>
          <a:xfrm>
            <a:off x="5340096" y="4773168"/>
            <a:ext cx="65836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333344"/>
                </a:solidFill>
                <a:latin typeface="Calibri"/>
              </a:rPr>
              <a:t>-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6035040" y="4754880"/>
            <a:ext cx="1280160" cy="27432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6071616" y="4773168"/>
            <a:ext cx="1207007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333344"/>
                </a:solidFill>
                <a:latin typeface="Calibri"/>
              </a:rPr>
              <a:t>-61.89</a:t>
            </a:r>
          </a:p>
        </p:txBody>
      </p:sp>
      <p:sp>
        <p:nvSpPr>
          <p:cNvPr id="146" name="Rectangle 145"/>
          <p:cNvSpPr/>
          <p:nvPr/>
        </p:nvSpPr>
        <p:spPr>
          <a:xfrm>
            <a:off x="7315200" y="4754880"/>
            <a:ext cx="731520" cy="27432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TextBox 146"/>
          <p:cNvSpPr txBox="1"/>
          <p:nvPr/>
        </p:nvSpPr>
        <p:spPr>
          <a:xfrm>
            <a:off x="7351775" y="4773168"/>
            <a:ext cx="65836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333344"/>
                </a:solidFill>
                <a:latin typeface="Calibri"/>
              </a:rPr>
              <a:t>9</a:t>
            </a:r>
          </a:p>
        </p:txBody>
      </p:sp>
      <p:sp>
        <p:nvSpPr>
          <p:cNvPr id="148" name="Rectangle 147"/>
          <p:cNvSpPr/>
          <p:nvPr/>
        </p:nvSpPr>
        <p:spPr>
          <a:xfrm>
            <a:off x="8046720" y="4754880"/>
            <a:ext cx="731520" cy="27432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TextBox 148"/>
          <p:cNvSpPr txBox="1"/>
          <p:nvPr/>
        </p:nvSpPr>
        <p:spPr>
          <a:xfrm>
            <a:off x="8083296" y="4773168"/>
            <a:ext cx="65836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333344"/>
                </a:solidFill>
                <a:latin typeface="Calibri"/>
              </a:rPr>
              <a:t>-</a:t>
            </a:r>
          </a:p>
        </p:txBody>
      </p:sp>
      <p:sp>
        <p:nvSpPr>
          <p:cNvPr id="150" name="Rectangle 149"/>
          <p:cNvSpPr/>
          <p:nvPr/>
        </p:nvSpPr>
        <p:spPr>
          <a:xfrm>
            <a:off x="8778240" y="4754880"/>
            <a:ext cx="1828800" cy="27432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TextBox 150"/>
          <p:cNvSpPr txBox="1"/>
          <p:nvPr/>
        </p:nvSpPr>
        <p:spPr>
          <a:xfrm>
            <a:off x="8814815" y="4773168"/>
            <a:ext cx="175564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333344"/>
                </a:solidFill>
                <a:latin typeface="Calibri"/>
              </a:rPr>
              <a:t>Rosetta-only</a:t>
            </a:r>
          </a:p>
        </p:txBody>
      </p:sp>
      <p:sp>
        <p:nvSpPr>
          <p:cNvPr id="152" name="Rectangle 151"/>
          <p:cNvSpPr/>
          <p:nvPr/>
        </p:nvSpPr>
        <p:spPr>
          <a:xfrm>
            <a:off x="365760" y="5029200"/>
            <a:ext cx="3840480" cy="274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TextBox 152"/>
          <p:cNvSpPr txBox="1"/>
          <p:nvPr/>
        </p:nvSpPr>
        <p:spPr>
          <a:xfrm>
            <a:off x="402336" y="5047488"/>
            <a:ext cx="376732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333344"/>
                </a:solidFill>
                <a:latin typeface="Calibri"/>
              </a:rPr>
              <a:t>SLARKRAEENAKRFLERVKK</a:t>
            </a:r>
          </a:p>
        </p:txBody>
      </p:sp>
      <p:sp>
        <p:nvSpPr>
          <p:cNvPr id="154" name="Rectangle 153"/>
          <p:cNvSpPr/>
          <p:nvPr/>
        </p:nvSpPr>
        <p:spPr>
          <a:xfrm>
            <a:off x="4206240" y="5029200"/>
            <a:ext cx="1097280" cy="274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TextBox 154"/>
          <p:cNvSpPr txBox="1"/>
          <p:nvPr/>
        </p:nvSpPr>
        <p:spPr>
          <a:xfrm>
            <a:off x="4242816" y="5047488"/>
            <a:ext cx="1024127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333344"/>
                </a:solidFill>
                <a:latin typeface="Calibri"/>
              </a:rPr>
              <a:t>-12.71</a:t>
            </a:r>
          </a:p>
        </p:txBody>
      </p:sp>
      <p:sp>
        <p:nvSpPr>
          <p:cNvPr id="156" name="Rectangle 155"/>
          <p:cNvSpPr/>
          <p:nvPr/>
        </p:nvSpPr>
        <p:spPr>
          <a:xfrm>
            <a:off x="5303520" y="5029200"/>
            <a:ext cx="731520" cy="274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TextBox 156"/>
          <p:cNvSpPr txBox="1"/>
          <p:nvPr/>
        </p:nvSpPr>
        <p:spPr>
          <a:xfrm>
            <a:off x="5340096" y="5047488"/>
            <a:ext cx="65836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333344"/>
                </a:solidFill>
                <a:latin typeface="Calibri"/>
              </a:rPr>
              <a:t>3</a:t>
            </a:r>
          </a:p>
        </p:txBody>
      </p:sp>
      <p:sp>
        <p:nvSpPr>
          <p:cNvPr id="158" name="Rectangle 157"/>
          <p:cNvSpPr/>
          <p:nvPr/>
        </p:nvSpPr>
        <p:spPr>
          <a:xfrm>
            <a:off x="6035040" y="5029200"/>
            <a:ext cx="1280160" cy="274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TextBox 158"/>
          <p:cNvSpPr txBox="1"/>
          <p:nvPr/>
        </p:nvSpPr>
        <p:spPr>
          <a:xfrm>
            <a:off x="6071616" y="5047488"/>
            <a:ext cx="1207007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333344"/>
                </a:solidFill>
                <a:latin typeface="Calibri"/>
              </a:rPr>
              <a:t>-61.41</a:t>
            </a:r>
          </a:p>
        </p:txBody>
      </p:sp>
      <p:sp>
        <p:nvSpPr>
          <p:cNvPr id="160" name="Rectangle 159"/>
          <p:cNvSpPr/>
          <p:nvPr/>
        </p:nvSpPr>
        <p:spPr>
          <a:xfrm>
            <a:off x="7315200" y="5029200"/>
            <a:ext cx="731520" cy="274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TextBox 160"/>
          <p:cNvSpPr txBox="1"/>
          <p:nvPr/>
        </p:nvSpPr>
        <p:spPr>
          <a:xfrm>
            <a:off x="7351775" y="5047488"/>
            <a:ext cx="65836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333344"/>
                </a:solidFill>
                <a:latin typeface="Calibri"/>
              </a:rPr>
              <a:t>10</a:t>
            </a:r>
          </a:p>
        </p:txBody>
      </p:sp>
      <p:sp>
        <p:nvSpPr>
          <p:cNvPr id="162" name="Rectangle 161"/>
          <p:cNvSpPr/>
          <p:nvPr/>
        </p:nvSpPr>
        <p:spPr>
          <a:xfrm>
            <a:off x="8046720" y="5029200"/>
            <a:ext cx="731520" cy="274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TextBox 162"/>
          <p:cNvSpPr txBox="1"/>
          <p:nvPr/>
        </p:nvSpPr>
        <p:spPr>
          <a:xfrm>
            <a:off x="8083296" y="5047488"/>
            <a:ext cx="65836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333344"/>
                </a:solidFill>
                <a:latin typeface="Calibri"/>
              </a:rPr>
              <a:t>-7</a:t>
            </a:r>
          </a:p>
        </p:txBody>
      </p:sp>
      <p:sp>
        <p:nvSpPr>
          <p:cNvPr id="164" name="Rectangle 163"/>
          <p:cNvSpPr/>
          <p:nvPr/>
        </p:nvSpPr>
        <p:spPr>
          <a:xfrm>
            <a:off x="8778240" y="5029200"/>
            <a:ext cx="1828800" cy="274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TextBox 164"/>
          <p:cNvSpPr txBox="1"/>
          <p:nvPr/>
        </p:nvSpPr>
        <p:spPr>
          <a:xfrm>
            <a:off x="8814815" y="5047488"/>
            <a:ext cx="175564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EF476F"/>
                </a:solidFill>
                <a:latin typeface="Calibri"/>
              </a:rPr>
              <a:t>divergente</a:t>
            </a:r>
          </a:p>
        </p:txBody>
      </p:sp>
      <p:sp>
        <p:nvSpPr>
          <p:cNvPr id="166" name="Rectangle 165"/>
          <p:cNvSpPr/>
          <p:nvPr/>
        </p:nvSpPr>
        <p:spPr>
          <a:xfrm>
            <a:off x="365760" y="5074920"/>
            <a:ext cx="11430000" cy="15544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Rectangle 166"/>
          <p:cNvSpPr/>
          <p:nvPr/>
        </p:nvSpPr>
        <p:spPr>
          <a:xfrm>
            <a:off x="365760" y="5074920"/>
            <a:ext cx="54864" cy="1554480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TextBox 167"/>
          <p:cNvSpPr txBox="1"/>
          <p:nvPr/>
        </p:nvSpPr>
        <p:spPr>
          <a:xfrm>
            <a:off x="548640" y="5138928"/>
            <a:ext cx="11064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6D6A0"/>
                </a:solidFill>
                <a:latin typeface="Calibri"/>
              </a:rPr>
              <a:t>GARKSIREYQKRVLERLKKK: melhor I_sc (-86.28) apesar de #2 por Vina — FastRelax revela interface forte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548640" y="5431536"/>
            <a:ext cx="11064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44"/>
                </a:solidFill>
                <a:latin typeface="Calibri"/>
              </a:rPr>
              <a:t>AARASQREYQKKFLERLKKK: sobe de #5 Vina para #2 I_sc (-85.92) — docking rigido subestimava sua afinidade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548640" y="5724144"/>
            <a:ext cx="11064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F476F"/>
                </a:solidFill>
                <a:latin typeface="Calibri"/>
              </a:rPr>
              <a:t>SLARKRAEENAKRFLERVKK: cai de #3 Vina para #10 I_sc (-61.41) — DESCARTADO, interface nao sustenta pos-relax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548640" y="6016752"/>
            <a:ext cx="11064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6D6A0"/>
                </a:solidFill>
                <a:latin typeface="Calibri"/>
              </a:rPr>
              <a:t>GSRASARAYAARVRARRAAL: confirmado por ambos (Vina #1, I_sc #4) — candidato mais robusto para sintese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548640" y="6309360"/>
            <a:ext cx="11064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6D6A0"/>
                </a:solidFill>
                <a:latin typeface="Calibri"/>
              </a:rPr>
              <a:t>Concordancia Vina × Rosetta: criterio mais rigoroso — identifica GARKSIREYQKRVLERLKKK como top real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11521440" y="649224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8899AA"/>
                </a:solidFill>
                <a:latin typeface="Calibri"/>
              </a:rPr>
              <a:t>11/18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960120"/>
            <a:ext cx="12188952" cy="457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45720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Candidatos Prioritarios — Top-3 Confirmados por Dupla Validacao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21792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00B4D8"/>
                </a:solidFill>
                <a:latin typeface="Calibri"/>
              </a:rPr>
              <a:t>Vina (docking rigido) × PyRosetta I_sc (FastRelax) | todos 20 aa | Fmoc-SPPS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170432"/>
            <a:ext cx="11430000" cy="10058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65760" y="1170432"/>
            <a:ext cx="411480" cy="1005840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1426464"/>
            <a:ext cx="411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#1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68680" y="1225296"/>
            <a:ext cx="2011680" cy="256032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86968" y="1234440"/>
            <a:ext cx="199339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Calibri"/>
              </a:rPr>
              <a:t>R/K denso (n=9), Glu/Tyr distr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971800" y="1197864"/>
            <a:ext cx="4754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D2B55"/>
                </a:solidFill>
                <a:latin typeface="Calibri"/>
              </a:rPr>
              <a:t>GARKSIREYQKRVLERLKKK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71800" y="1554480"/>
            <a:ext cx="4754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4F8A"/>
                </a:solidFill>
                <a:latin typeface="Calibri"/>
              </a:rPr>
              <a:t>Vina = -12.76 kcal/mol (rank #2)  |  I_sc = -86.28 kcal/mol (rank #1)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71800" y="1810512"/>
            <a:ext cx="47548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333344"/>
                </a:solidFill>
                <a:latin typeface="Calibri"/>
              </a:rPr>
              <a:t>Melhor I_sc absoluto. FastRelax revela interface excepcional. Melhor candidato por concordancia.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818120" y="1335024"/>
            <a:ext cx="9365284" cy="201168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7229124" y="1335024"/>
            <a:ext cx="6400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00B4D8"/>
                </a:solidFill>
                <a:latin typeface="Calibri"/>
              </a:rPr>
              <a:t>V:-12.8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818120" y="1627632"/>
            <a:ext cx="5607649" cy="201168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3471489" y="1627632"/>
            <a:ext cx="6400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06D6A0"/>
                </a:solidFill>
                <a:latin typeface="Calibri"/>
              </a:rPr>
              <a:t>R:-86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2267712"/>
            <a:ext cx="11430000" cy="10058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65760" y="2267712"/>
            <a:ext cx="411480" cy="100584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5760" y="2523744"/>
            <a:ext cx="411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#2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68680" y="2322576"/>
            <a:ext cx="2011680" cy="25603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86968" y="2331720"/>
            <a:ext cx="199339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Calibri"/>
              </a:rPr>
              <a:t>Gly/Ser N-term, Arg/Ala backbo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971800" y="2295144"/>
            <a:ext cx="4754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D2B55"/>
                </a:solidFill>
                <a:latin typeface="Calibri"/>
              </a:rPr>
              <a:t>GSRASARAYAARVRARRAAL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971800" y="2651760"/>
            <a:ext cx="4754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4F8A"/>
                </a:solidFill>
                <a:latin typeface="Calibri"/>
              </a:rPr>
              <a:t>Vina = -13.62 kcal/mol (rank #1)  |  I_sc = -78.44 kcal/mol (rank #4)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971800" y="2907791"/>
            <a:ext cx="47548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333344"/>
                </a:solidFill>
                <a:latin typeface="Calibri"/>
              </a:rPr>
              <a:t>Melhor Vina absoluto (-13.62). Confirmado por Rosetta (#4 I_sc). Candidato de referencia.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818120" y="2432304"/>
            <a:ext cx="9719157" cy="201168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7582997" y="2432304"/>
            <a:ext cx="6400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00B4D8"/>
                </a:solidFill>
                <a:latin typeface="Calibri"/>
              </a:rPr>
              <a:t>V:-13.6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818120" y="2724912"/>
            <a:ext cx="5285049" cy="201168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3148889" y="2724912"/>
            <a:ext cx="6400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06D6A0"/>
                </a:solidFill>
                <a:latin typeface="Calibri"/>
              </a:rPr>
              <a:t>R:-78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65760" y="3364991"/>
            <a:ext cx="11430000" cy="10058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365760" y="3364991"/>
            <a:ext cx="411480" cy="1005840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3621024"/>
            <a:ext cx="411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#3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68680" y="3419856"/>
            <a:ext cx="2011680" cy="256032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86968" y="3428999"/>
            <a:ext cx="199339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Calibri"/>
              </a:rPr>
              <a:t>Ala N-term, Arg/Lys/Phe C-term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971800" y="3392423"/>
            <a:ext cx="4754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D2B55"/>
                </a:solidFill>
                <a:latin typeface="Calibri"/>
              </a:rPr>
              <a:t>AARASQREYQKKFLERLKKK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971800" y="3749039"/>
            <a:ext cx="4754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4F8A"/>
                </a:solidFill>
                <a:latin typeface="Calibri"/>
              </a:rPr>
              <a:t>Vina = -12.52 kcal/mol (rank #5)  |  I_sc = -85.92 kcal/mol (rank #2)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971800" y="4005072"/>
            <a:ext cx="47548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333344"/>
                </a:solidFill>
                <a:latin typeface="Calibri"/>
              </a:rPr>
              <a:t>Vina #5 mas Rosetta #2. Docking rigido subestimava afinidade real de interface.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818120" y="3529584"/>
            <a:ext cx="9266529" cy="201168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7130369" y="3529584"/>
            <a:ext cx="6400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00B4D8"/>
                </a:solidFill>
                <a:latin typeface="Calibri"/>
              </a:rPr>
              <a:t>V:-12.5</a:t>
            </a:r>
          </a:p>
        </p:txBody>
      </p:sp>
      <p:sp>
        <p:nvSpPr>
          <p:cNvPr id="42" name="Rectangle 41"/>
          <p:cNvSpPr/>
          <p:nvPr/>
        </p:nvSpPr>
        <p:spPr>
          <a:xfrm>
            <a:off x="7818120" y="3822191"/>
            <a:ext cx="5592836" cy="201168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3456676" y="3822191"/>
            <a:ext cx="6400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06D6A0"/>
                </a:solidFill>
                <a:latin typeface="Calibri"/>
              </a:rPr>
              <a:t>R:-86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65760" y="4462272"/>
            <a:ext cx="11430000" cy="10058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365760" y="4462272"/>
            <a:ext cx="411480" cy="1005840"/>
          </a:xfrm>
          <a:prstGeom prst="rect">
            <a:avLst/>
          </a:prstGeom>
          <a:solidFill>
            <a:srgbClr val="1A4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65760" y="4718304"/>
            <a:ext cx="411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#4</a:t>
            </a:r>
          </a:p>
        </p:txBody>
      </p:sp>
      <p:sp>
        <p:nvSpPr>
          <p:cNvPr id="47" name="Rectangle 46"/>
          <p:cNvSpPr/>
          <p:nvPr/>
        </p:nvSpPr>
        <p:spPr>
          <a:xfrm>
            <a:off x="868680" y="4517136"/>
            <a:ext cx="2011680" cy="256032"/>
          </a:xfrm>
          <a:prstGeom prst="rect">
            <a:avLst/>
          </a:prstGeom>
          <a:solidFill>
            <a:srgbClr val="1A4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886968" y="4526280"/>
            <a:ext cx="199339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Calibri"/>
              </a:rPr>
              <a:t>Lys-rico (n=8), alifatico, sol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971800" y="4489704"/>
            <a:ext cx="4754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D2B55"/>
                </a:solidFill>
                <a:latin typeface="Calibri"/>
              </a:rPr>
              <a:t>MKKQRENAKKVAEITLKKAK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971800" y="4846320"/>
            <a:ext cx="4754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4F8A"/>
                </a:solidFill>
                <a:latin typeface="Calibri"/>
              </a:rPr>
              <a:t>Vina = -12.68 kcal/mol (rank #4)  |  I_sc = -80.49 kcal/mol (rank #3)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971800" y="5102352"/>
            <a:ext cx="47548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333344"/>
                </a:solidFill>
                <a:latin typeface="Calibri"/>
              </a:rPr>
              <a:t>Consistente em ambos (#4 Vina, #3 Rosetta). Alto conteudo Lys favorece sintese e solubilidade.</a:t>
            </a:r>
          </a:p>
        </p:txBody>
      </p:sp>
      <p:sp>
        <p:nvSpPr>
          <p:cNvPr id="52" name="Rectangle 51"/>
          <p:cNvSpPr/>
          <p:nvPr/>
        </p:nvSpPr>
        <p:spPr>
          <a:xfrm>
            <a:off x="7818120" y="4626864"/>
            <a:ext cx="9332366" cy="201168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17196206" y="4626864"/>
            <a:ext cx="6400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00B4D8"/>
                </a:solidFill>
                <a:latin typeface="Calibri"/>
              </a:rPr>
              <a:t>V:-12.7</a:t>
            </a:r>
          </a:p>
        </p:txBody>
      </p:sp>
      <p:sp>
        <p:nvSpPr>
          <p:cNvPr id="54" name="Rectangle 53"/>
          <p:cNvSpPr/>
          <p:nvPr/>
        </p:nvSpPr>
        <p:spPr>
          <a:xfrm>
            <a:off x="7818120" y="4919472"/>
            <a:ext cx="5369402" cy="201168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3233242" y="4919472"/>
            <a:ext cx="6400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06D6A0"/>
                </a:solidFill>
                <a:latin typeface="Calibri"/>
              </a:rPr>
              <a:t>R:-80</a:t>
            </a:r>
          </a:p>
        </p:txBody>
      </p:sp>
      <p:sp>
        <p:nvSpPr>
          <p:cNvPr id="56" name="Rectangle 55"/>
          <p:cNvSpPr/>
          <p:nvPr/>
        </p:nvSpPr>
        <p:spPr>
          <a:xfrm>
            <a:off x="365760" y="5559552"/>
            <a:ext cx="11430000" cy="1005840"/>
          </a:xfrm>
          <a:prstGeom prst="rect">
            <a:avLst/>
          </a:prstGeom>
          <a:solidFill>
            <a:srgbClr val="FFEE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365760" y="5559552"/>
            <a:ext cx="411480" cy="1005840"/>
          </a:xfrm>
          <a:prstGeom prst="rect">
            <a:avLst/>
          </a:prstGeom>
          <a:solidFill>
            <a:srgbClr val="EF47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365760" y="5815584"/>
            <a:ext cx="411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✗</a:t>
            </a:r>
          </a:p>
        </p:txBody>
      </p:sp>
      <p:sp>
        <p:nvSpPr>
          <p:cNvPr id="59" name="Rectangle 58"/>
          <p:cNvSpPr/>
          <p:nvPr/>
        </p:nvSpPr>
        <p:spPr>
          <a:xfrm>
            <a:off x="868680" y="5614416"/>
            <a:ext cx="2011680" cy="256032"/>
          </a:xfrm>
          <a:prstGeom prst="rect">
            <a:avLst/>
          </a:prstGeom>
          <a:solidFill>
            <a:srgbClr val="EF47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886968" y="5623560"/>
            <a:ext cx="199339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Calibri"/>
              </a:rPr>
              <a:t>Leu/Ala scaffold + R/K alterna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2971800" y="5586984"/>
            <a:ext cx="4754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EF476F"/>
                </a:solidFill>
                <a:latin typeface="Calibri"/>
              </a:rPr>
              <a:t>SLARKRAEENAKRFLERVKK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2971800" y="5943600"/>
            <a:ext cx="4754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4F8A"/>
                </a:solidFill>
                <a:latin typeface="Calibri"/>
              </a:rPr>
              <a:t>Vina = -12.71 kcal/mol (rank #3)  |  I_sc = -61.41 kcal/mol (rank #10)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971800" y="6199632"/>
            <a:ext cx="47548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333344"/>
                </a:solidFill>
                <a:latin typeface="Calibri"/>
              </a:rPr>
              <a:t>DESCARTADO: Vina #3 mas Rosetta #10. Interface nao sustenta apos FastRelax. Nao sintetizar.</a:t>
            </a:r>
          </a:p>
        </p:txBody>
      </p:sp>
      <p:sp>
        <p:nvSpPr>
          <p:cNvPr id="64" name="Rectangle 63"/>
          <p:cNvSpPr/>
          <p:nvPr/>
        </p:nvSpPr>
        <p:spPr>
          <a:xfrm>
            <a:off x="7818120" y="5724144"/>
            <a:ext cx="9344710" cy="201168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17208550" y="5724144"/>
            <a:ext cx="6400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00B4D8"/>
                </a:solidFill>
                <a:latin typeface="Calibri"/>
              </a:rPr>
              <a:t>V:-12.7</a:t>
            </a:r>
          </a:p>
        </p:txBody>
      </p:sp>
      <p:sp>
        <p:nvSpPr>
          <p:cNvPr id="66" name="Rectangle 65"/>
          <p:cNvSpPr/>
          <p:nvPr/>
        </p:nvSpPr>
        <p:spPr>
          <a:xfrm>
            <a:off x="7818120" y="6016752"/>
            <a:ext cx="4584298" cy="201168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12448138" y="6016752"/>
            <a:ext cx="6400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06D6A0"/>
                </a:solidFill>
                <a:latin typeface="Calibri"/>
              </a:rPr>
              <a:t>R:-61</a:t>
            </a:r>
          </a:p>
        </p:txBody>
      </p:sp>
      <p:sp>
        <p:nvSpPr>
          <p:cNvPr id="68" name="Rectangle 67"/>
          <p:cNvSpPr/>
          <p:nvPr/>
        </p:nvSpPr>
        <p:spPr>
          <a:xfrm>
            <a:off x="365760" y="6601968"/>
            <a:ext cx="11430000" cy="164592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502920" y="6611112"/>
            <a:ext cx="1115568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  <a:latin typeface="Calibri"/>
              </a:rPr>
              <a:t>MD 5/5 CONCLUIDO: MKKQRENAKKVAEITLKKAK (0,447 nm) e GSRASARAYAARVRARRAAL (0,494 nm) ESTAVEIS | ver slide 13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1521440" y="649224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8899AA"/>
                </a:solidFill>
                <a:latin typeface="Calibri"/>
              </a:rPr>
              <a:t>12/18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960120"/>
            <a:ext cx="12188952" cy="457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45720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Dinamica Molecular — Top-5 Candidatos × ACR157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21792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00B4D8"/>
                </a:solidFill>
                <a:latin typeface="Calibri"/>
              </a:rPr>
              <a:t>GROMACS | AMBER99SB-ILDN | TIP3P | 300 K | 10 ns cada | RTX 5070 Ti (~36 min/replica)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1143000"/>
            <a:ext cx="11612880" cy="384048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20040" y="1188720"/>
            <a:ext cx="34747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Candidato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40480" y="1188720"/>
            <a:ext cx="1097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Vina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983480" y="1188720"/>
            <a:ext cx="1097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I_sc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26480" y="1188720"/>
            <a:ext cx="11887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RMSD avg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60920" y="1188720"/>
            <a:ext cx="1097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Rg (nm)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03920" y="1188720"/>
            <a:ext cx="914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Hbond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464040" y="1188720"/>
            <a:ext cx="2377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Estabilidade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74320" y="1572768"/>
            <a:ext cx="11612880" cy="777240"/>
          </a:xfrm>
          <a:prstGeom prst="rect">
            <a:avLst/>
          </a:prstGeom>
          <a:solidFill>
            <a:srgbClr val="D4ED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74320" y="1572768"/>
            <a:ext cx="73152" cy="777240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11480" y="1773936"/>
            <a:ext cx="3383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D2B55"/>
                </a:solidFill>
                <a:latin typeface="Calibri"/>
              </a:rPr>
              <a:t>MKKQRENAKKVAEITLKKAK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840480" y="1773936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33344"/>
                </a:solidFill>
                <a:latin typeface="Calibri"/>
              </a:rPr>
              <a:t>-12,72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983480" y="1773936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33344"/>
                </a:solidFill>
                <a:latin typeface="Calibri"/>
              </a:rPr>
              <a:t>-80,49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26480" y="1773936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33344"/>
                </a:solidFill>
                <a:latin typeface="Calibri"/>
              </a:rPr>
              <a:t>0,447 ± 0,332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60920" y="1773936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33344"/>
                </a:solidFill>
                <a:latin typeface="Calibri"/>
              </a:rPr>
              <a:t>1,785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03920" y="1773936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33344"/>
                </a:solidFill>
                <a:latin typeface="Calibri"/>
              </a:rPr>
              <a:t>161,0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464040" y="1728216"/>
            <a:ext cx="2331720" cy="438912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464040" y="1728216"/>
            <a:ext cx="23317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ESTAVEL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74320" y="2395728"/>
            <a:ext cx="11612880" cy="777240"/>
          </a:xfrm>
          <a:prstGeom prst="rect">
            <a:avLst/>
          </a:prstGeom>
          <a:solidFill>
            <a:srgbClr val="D4ED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274320" y="2395728"/>
            <a:ext cx="73152" cy="777240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11480" y="2596896"/>
            <a:ext cx="3383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D2B55"/>
                </a:solidFill>
                <a:latin typeface="Calibri"/>
              </a:rPr>
              <a:t>GSRASARAYAARVRARRAAL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840480" y="2596896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33344"/>
                </a:solidFill>
                <a:latin typeface="Calibri"/>
              </a:rPr>
              <a:t>-13,62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983480" y="2596896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33344"/>
                </a:solidFill>
                <a:latin typeface="Calibri"/>
              </a:rPr>
              <a:t>-78,44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126480" y="2596896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33344"/>
                </a:solidFill>
                <a:latin typeface="Calibri"/>
              </a:rPr>
              <a:t>0,494 ± 0,414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60920" y="2596896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33344"/>
                </a:solidFill>
                <a:latin typeface="Calibri"/>
              </a:rPr>
              <a:t>1,799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503920" y="2596896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33344"/>
                </a:solidFill>
                <a:latin typeface="Calibri"/>
              </a:rPr>
              <a:t>160,9</a:t>
            </a:r>
          </a:p>
        </p:txBody>
      </p:sp>
      <p:sp>
        <p:nvSpPr>
          <p:cNvPr id="34" name="Rectangle 33"/>
          <p:cNvSpPr/>
          <p:nvPr/>
        </p:nvSpPr>
        <p:spPr>
          <a:xfrm>
            <a:off x="9464040" y="2551176"/>
            <a:ext cx="2331720" cy="438912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464040" y="2551176"/>
            <a:ext cx="23317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ESTAVEL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74320" y="3218688"/>
            <a:ext cx="11612880" cy="777240"/>
          </a:xfrm>
          <a:prstGeom prst="rect">
            <a:avLst/>
          </a:prstGeom>
          <a:solidFill>
            <a:srgbClr val="FFF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74320" y="3218688"/>
            <a:ext cx="73152" cy="777240"/>
          </a:xfrm>
          <a:prstGeom prst="rect">
            <a:avLst/>
          </a:prstGeom>
          <a:solidFill>
            <a:srgbClr val="FFD1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11480" y="3419856"/>
            <a:ext cx="3383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D2B55"/>
                </a:solidFill>
                <a:latin typeface="Calibri"/>
              </a:rPr>
              <a:t>AARASIRAAAARFRARRAAL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840480" y="3419856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33344"/>
                </a:solidFill>
                <a:latin typeface="Calibri"/>
              </a:rPr>
              <a:t>-12,62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983480" y="3419856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33344"/>
                </a:solidFill>
                <a:latin typeface="Calibri"/>
              </a:rPr>
              <a:t>-75,45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126480" y="3419856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33344"/>
                </a:solidFill>
                <a:latin typeface="Calibri"/>
              </a:rPr>
              <a:t>0,945 ± 0,924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360920" y="3419856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33344"/>
                </a:solidFill>
                <a:latin typeface="Calibri"/>
              </a:rPr>
              <a:t>1,836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503920" y="3419856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33344"/>
                </a:solidFill>
                <a:latin typeface="Calibri"/>
              </a:rPr>
              <a:t>163,6</a:t>
            </a:r>
          </a:p>
        </p:txBody>
      </p:sp>
      <p:sp>
        <p:nvSpPr>
          <p:cNvPr id="44" name="Rectangle 43"/>
          <p:cNvSpPr/>
          <p:nvPr/>
        </p:nvSpPr>
        <p:spPr>
          <a:xfrm>
            <a:off x="9464040" y="3374136"/>
            <a:ext cx="2331720" cy="438912"/>
          </a:xfrm>
          <a:prstGeom prst="rect">
            <a:avLst/>
          </a:prstGeom>
          <a:solidFill>
            <a:srgbClr val="FFD1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464040" y="3374136"/>
            <a:ext cx="23317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Marginal</a:t>
            </a:r>
          </a:p>
        </p:txBody>
      </p:sp>
      <p:sp>
        <p:nvSpPr>
          <p:cNvPr id="46" name="Rectangle 45"/>
          <p:cNvSpPr/>
          <p:nvPr/>
        </p:nvSpPr>
        <p:spPr>
          <a:xfrm>
            <a:off x="274320" y="4041648"/>
            <a:ext cx="11612880" cy="777240"/>
          </a:xfrm>
          <a:prstGeom prst="rect">
            <a:avLst/>
          </a:prstGeom>
          <a:solidFill>
            <a:srgbClr val="F8D7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274320" y="4041648"/>
            <a:ext cx="73152" cy="777240"/>
          </a:xfrm>
          <a:prstGeom prst="rect">
            <a:avLst/>
          </a:prstGeom>
          <a:solidFill>
            <a:srgbClr val="FF7F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11480" y="4242816"/>
            <a:ext cx="3383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D2B55"/>
                </a:solidFill>
                <a:latin typeface="Calibri"/>
              </a:rPr>
              <a:t>GARKSIREYQKRVLERLKKK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840480" y="4242816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33344"/>
                </a:solidFill>
                <a:latin typeface="Calibri"/>
              </a:rPr>
              <a:t>-12,76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983480" y="4242816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33344"/>
                </a:solidFill>
                <a:latin typeface="Calibri"/>
              </a:rPr>
              <a:t>-86,28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126480" y="4242816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33344"/>
                </a:solidFill>
                <a:latin typeface="Calibri"/>
              </a:rPr>
              <a:t>1,453 ± 1,003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360920" y="4242816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33344"/>
                </a:solidFill>
                <a:latin typeface="Calibri"/>
              </a:rPr>
              <a:t>1,952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503920" y="4242816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33344"/>
                </a:solidFill>
                <a:latin typeface="Calibri"/>
              </a:rPr>
              <a:t>160,5</a:t>
            </a:r>
          </a:p>
        </p:txBody>
      </p:sp>
      <p:sp>
        <p:nvSpPr>
          <p:cNvPr id="54" name="Rectangle 53"/>
          <p:cNvSpPr/>
          <p:nvPr/>
        </p:nvSpPr>
        <p:spPr>
          <a:xfrm>
            <a:off x="9464040" y="4197096"/>
            <a:ext cx="2331720" cy="438912"/>
          </a:xfrm>
          <a:prstGeom prst="rect">
            <a:avLst/>
          </a:prstGeom>
          <a:solidFill>
            <a:srgbClr val="FF7F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9464040" y="4197096"/>
            <a:ext cx="23317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Instavel</a:t>
            </a:r>
          </a:p>
        </p:txBody>
      </p:sp>
      <p:sp>
        <p:nvSpPr>
          <p:cNvPr id="56" name="Rectangle 55"/>
          <p:cNvSpPr/>
          <p:nvPr/>
        </p:nvSpPr>
        <p:spPr>
          <a:xfrm>
            <a:off x="274320" y="4864608"/>
            <a:ext cx="11612880" cy="777240"/>
          </a:xfrm>
          <a:prstGeom prst="rect">
            <a:avLst/>
          </a:prstGeom>
          <a:solidFill>
            <a:srgbClr val="F8D7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274320" y="4864608"/>
            <a:ext cx="73152" cy="777240"/>
          </a:xfrm>
          <a:prstGeom prst="rect">
            <a:avLst/>
          </a:prstGeom>
          <a:solidFill>
            <a:srgbClr val="FF7F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411480" y="5065776"/>
            <a:ext cx="3383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D2B55"/>
                </a:solidFill>
                <a:latin typeface="Calibri"/>
              </a:rPr>
              <a:t>SLARKRAEENAKRFLERVKK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3840480" y="5065776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33344"/>
                </a:solidFill>
                <a:latin typeface="Calibri"/>
              </a:rPr>
              <a:t>-12,71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983480" y="5065776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33344"/>
                </a:solidFill>
                <a:latin typeface="Calibri"/>
              </a:rPr>
              <a:t>-61,41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126480" y="5065776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33344"/>
                </a:solidFill>
                <a:latin typeface="Calibri"/>
              </a:rPr>
              <a:t>1,700 ± 1,033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360920" y="5065776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33344"/>
                </a:solidFill>
                <a:latin typeface="Calibri"/>
              </a:rPr>
              <a:t>1,910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503920" y="5065776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33344"/>
                </a:solidFill>
                <a:latin typeface="Calibri"/>
              </a:rPr>
              <a:t>170,8</a:t>
            </a:r>
          </a:p>
        </p:txBody>
      </p:sp>
      <p:sp>
        <p:nvSpPr>
          <p:cNvPr id="64" name="Rectangle 63"/>
          <p:cNvSpPr/>
          <p:nvPr/>
        </p:nvSpPr>
        <p:spPr>
          <a:xfrm>
            <a:off x="9464040" y="5020056"/>
            <a:ext cx="2331720" cy="438912"/>
          </a:xfrm>
          <a:prstGeom prst="rect">
            <a:avLst/>
          </a:prstGeom>
          <a:solidFill>
            <a:srgbClr val="FF7F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9464040" y="5020056"/>
            <a:ext cx="23317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Instavel</a:t>
            </a:r>
          </a:p>
        </p:txBody>
      </p:sp>
      <p:sp>
        <p:nvSpPr>
          <p:cNvPr id="66" name="Rectangle 65"/>
          <p:cNvSpPr/>
          <p:nvPr/>
        </p:nvSpPr>
        <p:spPr>
          <a:xfrm>
            <a:off x="274320" y="5733288"/>
            <a:ext cx="11612880" cy="96012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457200" y="5779008"/>
            <a:ext cx="11247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B4D8"/>
                </a:solidFill>
                <a:latin typeface="Calibri"/>
              </a:rPr>
              <a:t>RECLASSIFICACAO FINAL (Vina + I_sc Rosetta + RMSD MD)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57200" y="6144768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0F4F8"/>
                </a:solidFill>
                <a:latin typeface="Calibri"/>
              </a:rPr>
              <a:t>#1 MKKQRENAKKVAEITLKKAK (RMSD 0,447 nm — mais estavel)    #2 GSRASARAYAARVRARRAAL (Vina -13,62 + RMSD 0,494 nm)    GARKSIREYQKRVLERLKKK descartado (melhor I_sc mas RMSD 1,45 nm = instavel em solvente)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1521440" y="649224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8899AA"/>
                </a:solidFill>
                <a:latin typeface="Calibri"/>
              </a:rPr>
              <a:t>13/18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960120"/>
            <a:ext cx="12188952" cy="457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45720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Status das Ferramentas no Servidor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21792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00B4D8"/>
                </a:solidFill>
                <a:latin typeface="Calibri"/>
              </a:rPr>
              <a:t>eulalio@200.235.143.10 | Debian | RTX 5070 Ti 16 GB | sm_120 Blackwell | 2026-06-18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143000"/>
            <a:ext cx="5669280" cy="8046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65760" y="1143000"/>
            <a:ext cx="502920" cy="804672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1325880"/>
            <a:ext cx="502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1197864"/>
            <a:ext cx="4983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D2B55"/>
                </a:solidFill>
                <a:latin typeface="Calibri"/>
              </a:rPr>
              <a:t>Python 3.10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1563624"/>
            <a:ext cx="4983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44"/>
                </a:solidFill>
                <a:latin typeface="Calibri"/>
              </a:rPr>
              <a:t>conda env protein_design_env (pipeline principal)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63640" y="1143000"/>
            <a:ext cx="5669280" cy="8046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263640" y="1143000"/>
            <a:ext cx="502920" cy="804672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63640" y="1325880"/>
            <a:ext cx="502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0" y="1197864"/>
            <a:ext cx="4983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D2B55"/>
                </a:solidFill>
                <a:latin typeface="Calibri"/>
              </a:rPr>
              <a:t>OpenBabel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0" y="1563624"/>
            <a:ext cx="4983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44"/>
                </a:solidFill>
                <a:latin typeface="Calibri"/>
              </a:rPr>
              <a:t>obabel — conversao PDBQT (sem -xr para ligantes)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029967"/>
            <a:ext cx="5669280" cy="804672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65760" y="2029967"/>
            <a:ext cx="502920" cy="804672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65760" y="2212848"/>
            <a:ext cx="502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0120" y="2084831"/>
            <a:ext cx="4983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D2B55"/>
                </a:solidFill>
                <a:latin typeface="Calibri"/>
              </a:rPr>
              <a:t>AutoDock Vina f458505-mod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0120" y="2450591"/>
            <a:ext cx="4983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44"/>
                </a:solidFill>
                <a:latin typeface="Calibri"/>
              </a:rPr>
              <a:t>docking rigido peptideos (TORSDOF=0, best_affinity_kcal)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263640" y="2029967"/>
            <a:ext cx="5669280" cy="804672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263640" y="2029967"/>
            <a:ext cx="502920" cy="804672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63640" y="2212848"/>
            <a:ext cx="502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58000" y="2084831"/>
            <a:ext cx="4983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D2B55"/>
                </a:solidFill>
                <a:latin typeface="Calibri"/>
              </a:rPr>
              <a:t>fpocket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58000" y="2450591"/>
            <a:ext cx="4983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44"/>
                </a:solidFill>
                <a:latin typeface="Calibri"/>
              </a:rPr>
              <a:t>analise e deteccao de bolso de ligacao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65760" y="2916936"/>
            <a:ext cx="5669280" cy="8046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365760" y="2916936"/>
            <a:ext cx="502920" cy="804672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65760" y="3099816"/>
            <a:ext cx="502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60120" y="2971800"/>
            <a:ext cx="4983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D2B55"/>
                </a:solidFill>
                <a:latin typeface="Calibri"/>
              </a:rPr>
              <a:t>GROMACS gmx_mpi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60120" y="3337560"/>
            <a:ext cx="4983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44"/>
                </a:solidFill>
                <a:latin typeface="Calibri"/>
              </a:rPr>
              <a:t>CUDA-MPI, build sm_120 Blackwell, env md-gromacs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263640" y="2916936"/>
            <a:ext cx="5669280" cy="8046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263640" y="2916936"/>
            <a:ext cx="502920" cy="804672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263640" y="3099816"/>
            <a:ext cx="502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858000" y="2971800"/>
            <a:ext cx="4983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D2B55"/>
                </a:solidFill>
                <a:latin typeface="Calibri"/>
              </a:rPr>
              <a:t>PyTorch 2.12.0.dev+cu128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858000" y="3337560"/>
            <a:ext cx="4983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44"/>
                </a:solidFill>
                <a:latin typeface="Calibri"/>
              </a:rPr>
              <a:t>CUDA 12.8, compativel Blackwell (sm_120)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65760" y="3803904"/>
            <a:ext cx="5669280" cy="804672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365760" y="3803904"/>
            <a:ext cx="502920" cy="804672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65760" y="3986784"/>
            <a:ext cx="502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60120" y="3858768"/>
            <a:ext cx="4983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D2B55"/>
                </a:solidFill>
                <a:latin typeface="Calibri"/>
              </a:rPr>
              <a:t>ProteinMPNN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60120" y="4224528"/>
            <a:ext cx="4983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44"/>
                </a:solidFill>
                <a:latin typeface="Calibri"/>
              </a:rPr>
              <a:t>~/ProteinMPNN | 24.513 binders gerados para ACR157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263640" y="3803904"/>
            <a:ext cx="5669280" cy="804672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6263640" y="3803904"/>
            <a:ext cx="502920" cy="804672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263640" y="3986784"/>
            <a:ext cx="502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858000" y="3858768"/>
            <a:ext cx="4983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D2B55"/>
                </a:solidFill>
                <a:latin typeface="Calibri"/>
              </a:rPr>
              <a:t>RFdiffusion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858000" y="4224528"/>
            <a:ext cx="4983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44"/>
                </a:solidFill>
                <a:latin typeface="Calibri"/>
              </a:rPr>
              <a:t>~/RFdiffusion | Complex_base_ckpt.pt 462 MB | 330 backbones</a:t>
            </a:r>
          </a:p>
        </p:txBody>
      </p:sp>
      <p:sp>
        <p:nvSpPr>
          <p:cNvPr id="48" name="Rectangle 47"/>
          <p:cNvSpPr/>
          <p:nvPr/>
        </p:nvSpPr>
        <p:spPr>
          <a:xfrm>
            <a:off x="365760" y="4690872"/>
            <a:ext cx="5669280" cy="8046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365760" y="4690872"/>
            <a:ext cx="502920" cy="804672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65760" y="4873752"/>
            <a:ext cx="502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60120" y="4745736"/>
            <a:ext cx="4983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D2B55"/>
                </a:solidFill>
                <a:latin typeface="Calibri"/>
              </a:rPr>
              <a:t>PyRosetta 2026.25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60120" y="5111496"/>
            <a:ext cx="4983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44"/>
                </a:solidFill>
                <a:latin typeface="Calibri"/>
              </a:rPr>
              <a:t>pyrosetta-installer (sem licenca) | FastRelax + IA Mover</a:t>
            </a:r>
          </a:p>
        </p:txBody>
      </p:sp>
      <p:sp>
        <p:nvSpPr>
          <p:cNvPr id="53" name="Rectangle 52"/>
          <p:cNvSpPr/>
          <p:nvPr/>
        </p:nvSpPr>
        <p:spPr>
          <a:xfrm>
            <a:off x="6263640" y="4690872"/>
            <a:ext cx="5669280" cy="8046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6263640" y="4690872"/>
            <a:ext cx="502920" cy="804672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263640" y="4873752"/>
            <a:ext cx="502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858000" y="4745736"/>
            <a:ext cx="4983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D2B55"/>
                </a:solidFill>
                <a:latin typeface="Calibri"/>
              </a:rPr>
              <a:t>plip 3.0.0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858000" y="5111496"/>
            <a:ext cx="4983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44"/>
                </a:solidFill>
                <a:latin typeface="Calibri"/>
              </a:rPr>
              <a:t>analise de interacoes protein-ligante (conda-forge)</a:t>
            </a:r>
          </a:p>
        </p:txBody>
      </p:sp>
      <p:sp>
        <p:nvSpPr>
          <p:cNvPr id="58" name="Rectangle 57"/>
          <p:cNvSpPr/>
          <p:nvPr/>
        </p:nvSpPr>
        <p:spPr>
          <a:xfrm>
            <a:off x="365760" y="5577840"/>
            <a:ext cx="5669280" cy="804672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365760" y="5577840"/>
            <a:ext cx="502920" cy="804672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365760" y="5760720"/>
            <a:ext cx="502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60120" y="5632703"/>
            <a:ext cx="4983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D2B55"/>
                </a:solidFill>
                <a:latin typeface="Calibri"/>
              </a:rPr>
              <a:t>rdkit, pdbfixer, mdtraj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960120" y="5998464"/>
            <a:ext cx="4983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44"/>
                </a:solidFill>
                <a:latin typeface="Calibri"/>
              </a:rPr>
              <a:t>analise estrutural e preparacao de sistemas MD</a:t>
            </a:r>
          </a:p>
        </p:txBody>
      </p:sp>
      <p:sp>
        <p:nvSpPr>
          <p:cNvPr id="63" name="Rectangle 62"/>
          <p:cNvSpPr/>
          <p:nvPr/>
        </p:nvSpPr>
        <p:spPr>
          <a:xfrm>
            <a:off x="6263640" y="5577840"/>
            <a:ext cx="5669280" cy="804672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6263640" y="5577840"/>
            <a:ext cx="502920" cy="804672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6263640" y="5760720"/>
            <a:ext cx="502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858000" y="5632703"/>
            <a:ext cx="4983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D2B55"/>
                </a:solidFill>
                <a:latin typeface="Calibri"/>
              </a:rPr>
              <a:t>PeptideBuilder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858000" y="5998464"/>
            <a:ext cx="4983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44"/>
                </a:solidFill>
                <a:latin typeface="Calibri"/>
              </a:rPr>
              <a:t>geracao all-atom de peptideos (fallback + Rosetta complex)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1521440" y="649224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8899AA"/>
                </a:solidFill>
                <a:latin typeface="Calibri"/>
              </a:rPr>
              <a:t>14/18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960120"/>
            <a:ext cx="12188952" cy="457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45720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Estrategia Tecnica: Docking Rigido para ML Labels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21792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00B4D8"/>
                </a:solidFill>
                <a:latin typeface="Calibri"/>
              </a:rPr>
              <a:t>Justificativa cientifica e tecnica | binders RFdiffusion 20 aa | TORSDOF 0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188720"/>
            <a:ext cx="2560320" cy="1097280"/>
          </a:xfrm>
          <a:prstGeom prst="rect">
            <a:avLst/>
          </a:prstGeom>
          <a:solidFill>
            <a:srgbClr val="1A4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1252728"/>
            <a:ext cx="237743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Binder
all-atom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737360"/>
            <a:ext cx="237743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F4F8"/>
                </a:solidFill>
                <a:latin typeface="Calibri"/>
              </a:rPr>
              <a:t>PeptideBuilder
(ECEPP/3)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91840" y="1188720"/>
            <a:ext cx="2560320" cy="1097280"/>
          </a:xfrm>
          <a:prstGeom prst="rect">
            <a:avLst/>
          </a:prstGeom>
          <a:solidFill>
            <a:srgbClr val="1A4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383280" y="1252728"/>
            <a:ext cx="237743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PDBQT
all-atom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83280" y="1737360"/>
            <a:ext cx="237743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F4F8"/>
                </a:solidFill>
                <a:latin typeface="Calibri"/>
              </a:rPr>
              <a:t>_pdb_to_pdbqt_minimal()
(N-&gt;N, nao NA!)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17920" y="1188720"/>
            <a:ext cx="2560320" cy="1097280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09359" y="1252728"/>
            <a:ext cx="237743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ROOT wrapper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59" y="1737360"/>
            <a:ext cx="237743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F4F8"/>
                </a:solidFill>
                <a:latin typeface="Calibri"/>
              </a:rPr>
              <a:t>_ensure_ligand
_pdbqt_format()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235440" y="1188720"/>
            <a:ext cx="2560320" cy="1097280"/>
          </a:xfrm>
          <a:prstGeom prst="rect">
            <a:avLst/>
          </a:prstGeom>
          <a:solidFill>
            <a:srgbClr val="FF7F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326880" y="1252728"/>
            <a:ext cx="237743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AutoDock
Vina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326880" y="1737360"/>
            <a:ext cx="237743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F4F8"/>
                </a:solidFill>
                <a:latin typeface="Calibri"/>
              </a:rPr>
              <a:t>Grid 80x80x80 A
exh=8, modes=9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017520" y="155448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00B4D8"/>
                </a:solidFill>
                <a:latin typeface="Calibri"/>
              </a:rPr>
              <a:t>-&gt;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0" y="155448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00B4D8"/>
                </a:solidFill>
                <a:latin typeface="Calibri"/>
              </a:rPr>
              <a:t>-&gt;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15400" y="155448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00B4D8"/>
                </a:solidFill>
                <a:latin typeface="Calibri"/>
              </a:rPr>
              <a:t>-&gt;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65760" y="2468880"/>
            <a:ext cx="11430000" cy="7315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65760" y="2606040"/>
            <a:ext cx="5486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0D2B55"/>
                </a:solidFill>
                <a:latin typeface="Calibri"/>
              </a:rPr>
              <a:t>Por que docking RIGIDO?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5760" y="3063240"/>
            <a:ext cx="11430000" cy="8046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48640" y="3090672"/>
            <a:ext cx="3200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4F8A"/>
                </a:solidFill>
                <a:latin typeface="Calibri"/>
              </a:rPr>
              <a:t>Limite tecnico: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749039" y="3090672"/>
            <a:ext cx="7955279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33344"/>
                </a:solidFill>
                <a:latin typeface="Calibri"/>
              </a:rPr>
              <a:t>Peptideos 20 aa tem &gt;32 ligacoes rotacionaveis (phi+psi+chi). Vina aborta docking flexivel acima de 32 torsional bonds.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65760" y="3931920"/>
            <a:ext cx="11430000" cy="804672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48640" y="3959352"/>
            <a:ext cx="3200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4F8A"/>
                </a:solidFill>
                <a:latin typeface="Calibri"/>
              </a:rPr>
              <a:t>Escala: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749039" y="3959352"/>
            <a:ext cx="7955279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33344"/>
                </a:solidFill>
                <a:latin typeface="Calibri"/>
              </a:rPr>
              <a:t>Para triagem de 24.513 binders (ML labels), docking rigido e viavel. Correlacao Pearson ~0.7 com flexivel para top candidatos.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65760" y="4800600"/>
            <a:ext cx="11430000" cy="8046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8640" y="4828031"/>
            <a:ext cx="3200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4F8A"/>
                </a:solidFill>
                <a:latin typeface="Calibri"/>
              </a:rPr>
              <a:t>Custo: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749039" y="4828031"/>
            <a:ext cx="7955279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33344"/>
                </a:solidFill>
                <a:latin typeface="Calibri"/>
              </a:rPr>
              <a:t>194 candidatos x 8 exhaustiveness ~ 15 min. Docking flexivel completo seria inviavel nessa escala.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65760" y="5669279"/>
            <a:ext cx="11430000" cy="804672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48640" y="5696712"/>
            <a:ext cx="3200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4F8A"/>
                </a:solidFill>
                <a:latin typeface="Calibri"/>
              </a:rPr>
              <a:t>Validacao posterior: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749039" y="5696712"/>
            <a:ext cx="7955279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33344"/>
                </a:solidFill>
                <a:latin typeface="Calibri"/>
              </a:rPr>
              <a:t>Top-10 refinados com PyRosetta FastRelax (I_sc REF2015) e top-5 por MD GROMACS 10 ns — validacao rigorosa em camadas.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521440" y="649224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8899AA"/>
                </a:solidFill>
                <a:latin typeface="Calibri"/>
              </a:rPr>
              <a:t>15/18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960120"/>
            <a:ext cx="12188952" cy="457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45720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Infraestrutura Computacional e Workflow Git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21792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00B4D8"/>
                </a:solidFill>
                <a:latin typeface="Calibri"/>
              </a:rPr>
              <a:t>Notebook Windows 11 &lt;-&gt; GitHub &lt;-&gt; Servidor Debian RTX 5070 Ti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2560320"/>
            <a:ext cx="3474720" cy="1828800"/>
          </a:xfrm>
          <a:prstGeom prst="rect">
            <a:avLst/>
          </a:prstGeom>
          <a:solidFill>
            <a:srgbClr val="1A4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2670048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Notebook Local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3154679"/>
            <a:ext cx="3200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F4F8"/>
                </a:solidFill>
                <a:latin typeface="Calibri"/>
              </a:rPr>
              <a:t>Windows 11
RTX 2050 4 GB
Edicao de codigo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97680" y="2560320"/>
            <a:ext cx="3474720" cy="1828800"/>
          </a:xfrm>
          <a:prstGeom prst="rect">
            <a:avLst/>
          </a:prstGeom>
          <a:solidFill>
            <a:srgbClr val="3333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34840" y="2670048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GitHub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34840" y="3154679"/>
            <a:ext cx="3200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F4F8"/>
                </a:solidFill>
                <a:latin typeface="Calibri"/>
              </a:rPr>
              <a:t>eulaliobqi/design-inibidores
git push / pull
Fonte de verdade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0" y="2560320"/>
            <a:ext cx="3474720" cy="1828800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66760" y="2670048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Servidor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66760" y="3154679"/>
            <a:ext cx="3200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F4F8"/>
                </a:solidFill>
                <a:latin typeface="Calibri"/>
              </a:rPr>
              <a:t>eulalio@200.235.143.10
Debian | 32 cores
RTX 5070 Ti 16 GB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931920" y="338328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i="0">
                <a:solidFill>
                  <a:srgbClr val="00B4D8"/>
                </a:solidFill>
                <a:latin typeface="Calibri"/>
              </a:rPr>
              <a:t>-&gt;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94759" y="379476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00B4D8"/>
                </a:solidFill>
                <a:latin typeface="Calibri"/>
              </a:rPr>
              <a:t>git push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63840" y="338328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i="0">
                <a:solidFill>
                  <a:srgbClr val="00B4D8"/>
                </a:solidFill>
                <a:latin typeface="Calibri"/>
              </a:rPr>
              <a:t>-&gt;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26679" y="379476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00B4D8"/>
                </a:solidFill>
                <a:latin typeface="Calibri"/>
              </a:rPr>
              <a:t>git pull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4663440"/>
            <a:ext cx="11430000" cy="7315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4846320"/>
            <a:ext cx="4572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D2B55"/>
                </a:solidFill>
                <a:latin typeface="Calibri"/>
              </a:rPr>
              <a:t>Comandos padrao no servidor: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65760" y="5257800"/>
            <a:ext cx="11430000" cy="146304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2920" y="5321808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06D6A0"/>
                </a:solidFill>
                <a:latin typeface="Calibri"/>
              </a:rPr>
              <a:t>$ cd ~/design-inibidores &amp;&amp; git pull origin main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2920" y="5669280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06D6A0"/>
                </a:solidFill>
                <a:latin typeface="Calibri"/>
              </a:rPr>
              <a:t>$ conda run -n protein_design_env python scripts/run_pipeline.py --step &lt;step&gt; --resume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" y="6016752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06D6A0"/>
                </a:solidFill>
                <a:latin typeface="Calibri"/>
              </a:rPr>
              <a:t>$ conda run -n md-gromacs python scripts/run_pipeline.py --step md --resume   # apenas MD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2920" y="6364224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06D6A0"/>
                </a:solidFill>
                <a:latin typeface="Calibri"/>
              </a:rPr>
              <a:t>$ screen -S &lt;nome&gt;   # OBRIGATORIO antes de qualquer run longa (SIGTTOU mata background)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521440" y="649224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8899AA"/>
                </a:solidFill>
                <a:latin typeface="Calibri"/>
              </a:rPr>
              <a:t>16/18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960120"/>
            <a:ext cx="12188952" cy="457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45720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Proximos Passos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21792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00B4D8"/>
                </a:solidFill>
                <a:latin typeface="Calibri"/>
              </a:rPr>
              <a:t>MD 5/5 concluido | 2 estaveis: MKKQRENA (0,447 nm) + GSRASARA (0,494 nm) | 2026-06-25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143000"/>
            <a:ext cx="5669280" cy="1508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65760" y="1143000"/>
            <a:ext cx="502920" cy="1508760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1554480"/>
            <a:ext cx="502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14400" y="1179576"/>
            <a:ext cx="1188720" cy="274320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117957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CONCLUIDO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1490472"/>
            <a:ext cx="3840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D2B55"/>
                </a:solidFill>
                <a:latin typeface="Calibri"/>
              </a:rPr>
              <a:t>MD 5 candidatos — RECLASSIFICACAO COMPLETA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1837943"/>
            <a:ext cx="38404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44"/>
                </a:solidFill>
                <a:latin typeface="Calibri"/>
              </a:rPr>
              <a:t>MKKQRENAKKVAEITLKKAK (0,447 nm) e GSRASARAYAARVRARRAAL (0,494 nm) ESTAVEIS
GARKSIREYQKRVLERLKKK descartado (RMSD 1,45 nm apesar de melhor I_sc -86,28)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63440" y="1188720"/>
            <a:ext cx="1280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06D6A0"/>
                </a:solidFill>
                <a:latin typeface="Calibri"/>
              </a:rPr>
              <a:t>done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309360" y="1143000"/>
            <a:ext cx="5669280" cy="1508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309360" y="1143000"/>
            <a:ext cx="502920" cy="1508760"/>
          </a:xfrm>
          <a:prstGeom prst="rect">
            <a:avLst/>
          </a:prstGeom>
          <a:solidFill>
            <a:srgbClr val="FFD1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09360" y="1554480"/>
            <a:ext cx="502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858000" y="1179576"/>
            <a:ext cx="1188720" cy="274320"/>
          </a:xfrm>
          <a:prstGeom prst="rect">
            <a:avLst/>
          </a:prstGeom>
          <a:solidFill>
            <a:srgbClr val="FFD1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58000" y="117957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CURTO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03720" y="1490472"/>
            <a:ext cx="3840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D2B55"/>
                </a:solidFill>
                <a:latin typeface="Calibri"/>
              </a:rPr>
              <a:t>Re-rodar RFdiffusion com comprimentos variados (5-15 aa)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03720" y="1837943"/>
            <a:ext cx="38404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44"/>
                </a:solidFill>
                <a:latin typeface="Calibri"/>
              </a:rPr>
              <a:t>Chamar RFdiffusion com comprimentos independentes por rodada
-&gt; peptideos curtos (5-15 aa) mais praticos para sintese por Fmoc-SPPS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7040" y="1188720"/>
            <a:ext cx="1280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FFD166"/>
                </a:solidFill>
                <a:latin typeface="Calibri"/>
              </a:rPr>
              <a:t>~2h GPU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" y="2834640"/>
            <a:ext cx="5669280" cy="1508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65760" y="2834640"/>
            <a:ext cx="502920" cy="1508760"/>
          </a:xfrm>
          <a:prstGeom prst="rect">
            <a:avLst/>
          </a:prstGeom>
          <a:solidFill>
            <a:srgbClr val="FFD1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65760" y="3246120"/>
            <a:ext cx="502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14400" y="2871216"/>
            <a:ext cx="1188720" cy="274320"/>
          </a:xfrm>
          <a:prstGeom prst="rect">
            <a:avLst/>
          </a:prstGeom>
          <a:solidFill>
            <a:srgbClr val="FFD1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4400" y="28712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CURTO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60120" y="3182112"/>
            <a:ext cx="3840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D2B55"/>
                </a:solidFill>
                <a:latin typeface="Calibri"/>
              </a:rPr>
              <a:t>Docking completo dos 24.513 candidatos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0120" y="3529584"/>
            <a:ext cx="38404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44"/>
                </a:solidFill>
                <a:latin typeface="Calibri"/>
              </a:rPr>
              <a:t>Afinidade Vina para todo o dataset -&gt; labels ML supervisionados completos
Atual: 194 labels / 24.513 totais (0.8%)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663440" y="2880360"/>
            <a:ext cx="1280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FFD166"/>
                </a:solidFill>
                <a:latin typeface="Calibri"/>
              </a:rPr>
              <a:t>~GPU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309360" y="2834640"/>
            <a:ext cx="5669280" cy="1508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309360" y="2834640"/>
            <a:ext cx="502920" cy="1508760"/>
          </a:xfrm>
          <a:prstGeom prst="rect">
            <a:avLst/>
          </a:prstGeom>
          <a:solidFill>
            <a:srgbClr val="1A4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309360" y="3246120"/>
            <a:ext cx="502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858000" y="2871216"/>
            <a:ext cx="1188720" cy="274320"/>
          </a:xfrm>
          <a:prstGeom prst="rect">
            <a:avLst/>
          </a:prstGeom>
          <a:solidFill>
            <a:srgbClr val="1A4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858000" y="28712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MEDIO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903720" y="3182112"/>
            <a:ext cx="3840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D2B55"/>
                </a:solidFill>
                <a:latin typeface="Calibri"/>
              </a:rPr>
              <a:t>Treinamento ML/DL sobre dataset supervisionado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903720" y="3529584"/>
            <a:ext cx="38404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44"/>
                </a:solidFill>
                <a:latin typeface="Calibri"/>
              </a:rPr>
              <a:t>194+ labels Vina + 10 labels Rosetta -&gt; Random Forest -&gt; GNN
Preditor de afinidade: input=seq, output=Vina/I_sc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607040" y="2880360"/>
            <a:ext cx="1280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1A4F8A"/>
                </a:solidFill>
                <a:latin typeface="Calibri"/>
              </a:rPr>
              <a:t>horas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4526280"/>
            <a:ext cx="5669280" cy="1508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365760" y="4526280"/>
            <a:ext cx="502920" cy="1508760"/>
          </a:xfrm>
          <a:prstGeom prst="rect">
            <a:avLst/>
          </a:prstGeom>
          <a:solidFill>
            <a:srgbClr val="1A4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65760" y="4937760"/>
            <a:ext cx="502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43" name="Rectangle 42"/>
          <p:cNvSpPr/>
          <p:nvPr/>
        </p:nvSpPr>
        <p:spPr>
          <a:xfrm>
            <a:off x="914400" y="4562856"/>
            <a:ext cx="1188720" cy="274320"/>
          </a:xfrm>
          <a:prstGeom prst="rect">
            <a:avLst/>
          </a:prstGeom>
          <a:solidFill>
            <a:srgbClr val="1A4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14400" y="456285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MEDIO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60120" y="4873752"/>
            <a:ext cx="3840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D2B55"/>
                </a:solidFill>
                <a:latin typeface="Calibri"/>
              </a:rPr>
              <a:t>Expandir para QCL936, XP273, XP352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60120" y="5221224"/>
            <a:ext cx="38404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44"/>
                </a:solidFill>
                <a:latin typeface="Calibri"/>
              </a:rPr>
              <a:t>Pipeline primario usou ACR157. Rodar docking e Rosetta para outros 3 receptores
-&gt; candidatos com seletividade (especifico para XP273 hidrofobico)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663440" y="4572000"/>
            <a:ext cx="1280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1A4F8A"/>
                </a:solidFill>
                <a:latin typeface="Calibri"/>
              </a:rPr>
              <a:t>~GPU</a:t>
            </a:r>
          </a:p>
        </p:txBody>
      </p:sp>
      <p:sp>
        <p:nvSpPr>
          <p:cNvPr id="48" name="Rectangle 47"/>
          <p:cNvSpPr/>
          <p:nvPr/>
        </p:nvSpPr>
        <p:spPr>
          <a:xfrm>
            <a:off x="365760" y="4526280"/>
            <a:ext cx="11430000" cy="1508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365760" y="4526280"/>
            <a:ext cx="502920" cy="1508760"/>
          </a:xfrm>
          <a:prstGeom prst="rect">
            <a:avLst/>
          </a:prstGeom>
          <a:solidFill>
            <a:srgbClr val="FF7F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65760" y="4937760"/>
            <a:ext cx="502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51" name="Rectangle 50"/>
          <p:cNvSpPr/>
          <p:nvPr/>
        </p:nvSpPr>
        <p:spPr>
          <a:xfrm>
            <a:off x="914400" y="4562856"/>
            <a:ext cx="1188720" cy="274320"/>
          </a:xfrm>
          <a:prstGeom prst="rect">
            <a:avLst/>
          </a:prstGeom>
          <a:solidFill>
            <a:srgbClr val="FF7F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914400" y="456285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LONGO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60120" y="4873752"/>
            <a:ext cx="9601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D2B55"/>
                </a:solidFill>
                <a:latin typeface="Calibri"/>
              </a:rPr>
              <a:t>Sintese e validacao experimental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60120" y="5221224"/>
            <a:ext cx="96012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44"/>
                </a:solidFill>
                <a:latin typeface="Calibri"/>
              </a:rPr>
              <a:t>Top-3 candidatos -&gt; sintese Fmoc-SPPS -&gt; ensaios IC50 in vitro
Tripsinas recombinantes de S. frugiperda e A. gemmatalis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424160" y="4572000"/>
            <a:ext cx="1280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FF7F11"/>
                </a:solidFill>
                <a:latin typeface="Calibri"/>
              </a:rPr>
              <a:t>meses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1521440" y="649224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8899AA"/>
                </a:solidFill>
                <a:latin typeface="Calibri"/>
              </a:rPr>
              <a:t>17/18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14300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97280"/>
            <a:ext cx="12188952" cy="7315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3716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Calibri"/>
              </a:rPr>
              <a:t>Conclusoes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58368"/>
            <a:ext cx="10972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00B4D8"/>
                </a:solidFill>
                <a:latin typeface="Calibri"/>
              </a:rPr>
              <a:t>Pipeline completo executado em modo REAL — 2026-06-18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280160"/>
            <a:ext cx="502920" cy="640080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1344168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1316736"/>
            <a:ext cx="109728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F0F4F8"/>
                </a:solidFill>
                <a:latin typeface="Calibri"/>
              </a:rPr>
              <a:t>330 backbones reais (RFdiffusion, Complex_base_ckpt.pt) | 24.513 binders únicos 20 aa (ProteinMPNN real, bug FASTA corrigido) — dataset 41 features × labels Vina + I_sc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2029967"/>
            <a:ext cx="502920" cy="640080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5760" y="2093976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2066543"/>
            <a:ext cx="109728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F0F4F8"/>
                </a:solidFill>
                <a:latin typeface="Calibri"/>
              </a:rPr>
              <a:t>194/194 poses Vina reais com binders RFdiffusion genuínos (5 bugs críticos corrigidos, incl. inversão da identidade dos candidatos — redesigns de tripsinas identificados e eliminados)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" y="2779776"/>
            <a:ext cx="502920" cy="640080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5760" y="2843784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2816352"/>
            <a:ext cx="109728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F0F4F8"/>
                </a:solidFill>
                <a:latin typeface="Calibri"/>
              </a:rPr>
              <a:t>PyRosetta 2026.25 instalado e integrado | 10/10 complexos refinados (FastRelax + InterfaceAnalyzerMover) | integração docking-&gt;rosetta corrigida (best_affinity_kcal, commits a7ac84f+e16a28f)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760" y="3529584"/>
            <a:ext cx="502920" cy="64008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5760" y="3593591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→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3566160"/>
            <a:ext cx="109728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F0F4F8"/>
                </a:solidFill>
                <a:latin typeface="Calibri"/>
              </a:rPr>
              <a:t>Top-3 por dupla validação Vina+Rosetta: GARKSIREYQKRVLERLKKK (I_sc=-86.28, Vina=-12.76) | GSRASARAYAARVRARRAAL (Vina=-13.62, I_sc=-78.44) | AARASQREYQKKFLERLKKK (I_sc=-85.92)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65760" y="4279392"/>
            <a:ext cx="502920" cy="64008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65760" y="434340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→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0120" y="4315968"/>
            <a:ext cx="109728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F0F4F8"/>
                </a:solidFill>
                <a:latin typeface="Calibri"/>
              </a:rPr>
              <a:t>Padrão composicional: Arg/Lys + Ala/Ser (sem aromáticos) — mecanismo competitivo clássico (Arg-Asp205 S1). SLARKRAEENAKRFLERVKK descartado (Vina #3, Rosetta #10 — divergência indica interface fraca)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65760" y="5029200"/>
            <a:ext cx="502920" cy="640080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65760" y="5093207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0120" y="5065775"/>
            <a:ext cx="109728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F0F4F8"/>
                </a:solidFill>
                <a:latin typeface="Calibri"/>
              </a:rPr>
              <a:t>MD 10 ns concluido para GSRASARAYAARVRARRAAL: RMSD 0,37 nm (avg Run4) | Rg 1,79 nm | Complexo ESTAVEL em 10 ns — valida predicao computacional. Bug 40/41 corrigidos (36a83f6).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5760" y="5779008"/>
            <a:ext cx="502920" cy="640080"/>
          </a:xfrm>
          <a:prstGeom prst="rect">
            <a:avLst/>
          </a:prstGeom>
          <a:solidFill>
            <a:srgbClr val="FFD1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65760" y="5843016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◑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60120" y="5815583"/>
            <a:ext cx="109728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F0F4F8"/>
                </a:solidFill>
                <a:latin typeface="Calibri"/>
              </a:rPr>
              <a:t>Proximos: MD outros 4 candidatos (Bug 40 corrigido) | RFdiffusion 5-15 aa | docking 24.513 | ML/DL 194+ labels | expansao QCL936/XP273/XP352 | sintese Fmoc-SPPS top-3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521440" y="649224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8899AA"/>
                </a:solidFill>
                <a:latin typeface="Calibri"/>
              </a:rPr>
              <a:t>18/18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