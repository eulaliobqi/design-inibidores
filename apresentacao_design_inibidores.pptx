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5669280"/>
            <a:ext cx="178308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5669280"/>
            <a:ext cx="178308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PyTorch 2.11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🌱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🧪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🎯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❓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391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86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73405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8152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429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7764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AutoDock Vina: triagem de afinidade 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239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larga escala (kcal/mol) para 14.923 seqs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7141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81888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GROMACS / AMBER: validação dinâmica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166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dos top candidatos (10–100 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513831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8613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Dataset ML/DL: 14.923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62087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para treinamento de modelos preditivos.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Gerar 30 backbones peptídicos (5–20 aa) via RFdiffusion ancorados ao sítio 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Produzir 14.923 sequências únicas por 10 estratégias complementares (ProteinMPNN)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Obter energias de afinidade Vina (kcal/mol) como labels supervisionados reais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Validar estabilidade dos top-5 candidatos por dinâmica molecular (GROMACS)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Identificar candidatos prioritários para síntese e ensaios biológicos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com fallback heurístico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30 backbones
5–20 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14.923
sequências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F476F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FlexPep
Dock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Vina
kcal/mol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F476F"/>
                </a:solidFill>
                <a:latin typeface="Calibri"/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progresso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Pendente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−1.15 / −1.63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−0.32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−0.34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−1.26 / 5.60 / −5.25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−1.89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• Tyr83 substitui a His catalítica canônica (His-Asp-Ser)
• Ile229 no bolso S1 (ao invés de Asp) → especificidade por resíduos HIDROFÓBICOS (Leu, Ile, Val)
• Justifica a NÃO restrição de P1 no pipeline de geração — permite explorar mecanismos não canônicos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−1.89] Å  |  tamanho = 25×25×25 Å  |  exaustividade = 8  |  modos = 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RFdiffusion (fallback: PeptideBuilder poly-Ala)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  <a:latin typeface="Calibri"/>
              </a:rPr>
              <a:t>Watson et al., Nature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Modelo de difusão estrutural treinado 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PDB → gera backbones condicional ao sítio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noise_scale_ca  = 0.2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hotspot_radius = 6.0 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contig: A1-N/0 L-L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Status no servidor: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✓ git clone ~/RFdiffusion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◑ Base_ckpt.pt em download (~2 GB)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◑ Backbones reais pendentes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Fallback atual: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→ PeptideBuilder (poly-Ala linear)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→ 30 backbones gerados com sucesso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atual)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1645920"/>
            <a:ext cx="10972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664208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1645920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16642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0" y="1645920"/>
            <a:ext cx="16459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5560" y="16642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Seqs únicas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2011680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20299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 aa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2011680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2029968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2011680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20299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0" y="2011680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202996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2359152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23774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359152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0" y="2377440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6800" y="2359152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23774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49840" y="2359152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5560" y="23774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2706624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2724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10 aa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89520" y="2706624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35240" y="2724912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800" y="2706624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32520" y="2724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49840" y="2706624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95560" y="272491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3054096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30723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12 aa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3054096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35240" y="3072384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0" y="3054096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32520" y="30723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49840" y="3054096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95560" y="30723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401568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72200" y="3419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15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89520" y="3401568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35240" y="3419856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86800" y="3401568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32520" y="3419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49840" y="3401568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95560" y="341985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3749039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72200" y="37673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 aa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589520" y="3749039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35240" y="3767328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86800" y="3749039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32520" y="37673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49840" y="3749039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95560" y="376732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2.483 seqs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2200" y="4114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35240" y="411480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5560" y="4114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14.923 únicas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Sequências — ProteinMPNN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estratégias complementares × 500 seqs/backbone → 14.923 únicas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random_uniform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Cobertura uniforme do espaço composicional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hydrophobic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Inibição alostérica/hidrofóbica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charged_positive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Inibição competitiva clássica (R/K no P1)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charged_negative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Interações eletrostáticas alternativas (D/E)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aromatic_cterminal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Contatos com subsítios S1'/S2' (Y/W/F C-term)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aromatic_nterminal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β-hairpin mimético (Y/W/F N-terminal)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amphipathic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α-hélice anfipática (carga + hidrofóbico alt)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proline_rich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Scaffold PPII rígido (Pro a cada 3 pos.)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motif_seeded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+ mutações pontuais (~3 pos)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glycine_scan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Mapeamento de flexibilidade (Gly por posição)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14.923 sequências únicas  |  41 features físico-químicas  |  Seeds BPTI/SKTI incluídos (is_known_inhibitor=1)  |  Cys excluídas automaticamente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14.923 sequências × 41 features calculadas analiticamente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vina_affinity_kcal  ← Vina real (kcal/mol)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← FlexPepDock I_sc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final_score  ← score composto normalizado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sequence, length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199/199 poses validas (Rodada 2) · 6 bugs corrigidos · Score medio -11.73 kcal/mol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✓  Rodada 2 concluida (2026-06-13)  |  199/199 poses validas  |  Score medio: -11.73 kcal/mol  |  Melhor: PYYYLKKRWVSEPKQRIFFN (-13.61 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7451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Histórico de correções do módulo de docking: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11680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39696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11680"/>
            <a:ext cx="110185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048256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atom.set_vector() → atom.coord +=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2257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BioPython sem método → CA-only silencioso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1579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04f20a3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61488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88950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761488"/>
            <a:ext cx="110185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798064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Cache receptor.pdbqt (2 kB inválido)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07238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Arquivo mínimo reutilizado; fix: threshold &gt; 5 kB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907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937a7dc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11296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63931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511296"/>
            <a:ext cx="110185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547872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Peptídeos rígidos via obabel -xr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822191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&gt;32 torsional bonds → Vina rejeita docking flexível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6576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50b5d47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61104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389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261104"/>
            <a:ext cx="110185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297680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--log não suportado em f458505-mod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57200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Fork removeu opção; captura via stdout/stderr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4074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552f7e7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13892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010912"/>
            <a:ext cx="110185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0474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PDBQT sem ROOT/ENDROOT/TORSDOF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32180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obabel gera formato receptor; _ensure_ligand_pdbqt_format()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515721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84e5c0b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760720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888736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5760720"/>
            <a:ext cx="110185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797296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N-terminus no sítio (não COM) + grid 25 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607161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Cadeia 20aa estendia 72 Å para fora; grid adaptativo + COM centering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590702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30aac00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Rodada 1: 11/199  →  Rodada 2: 199/199  |  Score medio -11.73 kcal/mol  |  Top-1: PYYYLKKRWVSEPKQRIFFN (-13.61)  |  Top-1 em 15aa: MAYNMYPNTRRHKKA (-13.59)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Docking — Rodada 2 (2026-06-13)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199/199 poses validas · Score medio -11.73 kcal/mol · Todos candidatos relevantes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6D6A0"/>
                </a:solidFill>
                <a:latin typeface="Calibri"/>
              </a:rPr>
              <a:t>199 / 199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4F8"/>
                </a:solidFill>
                <a:latin typeface="Calibri"/>
              </a:rPr>
              <a:t>poses Vina reais (kcal/mol)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Melhor: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361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  <a:latin typeface="Calibri"/>
              </a:rPr>
              <a:t>-13.61 kcal/mol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Media: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361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-11.73 kcal/mol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Pior: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5361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Calibri"/>
              </a:rPr>
              <a:t>-9.28 kcal/mol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860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Top-10 por Vina puro (energia fisica real):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36576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715768"/>
            <a:ext cx="2926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697480"/>
            <a:ext cx="3749039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715768"/>
            <a:ext cx="367588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Sequencia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2697480"/>
            <a:ext cx="45720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2715768"/>
            <a:ext cx="384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697480"/>
            <a:ext cx="137160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4336" y="2715768"/>
            <a:ext cx="1298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Vina (kcal/mol)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697480"/>
            <a:ext cx="530352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2715768"/>
            <a:ext cx="5230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044952"/>
            <a:ext cx="73152" cy="3017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3044952"/>
            <a:ext cx="36576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" y="3063240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044952"/>
            <a:ext cx="3749039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063240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PYYYLKKRWVSEPKQRIFFN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0" y="3044952"/>
            <a:ext cx="4572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7136" y="3063240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3044952"/>
            <a:ext cx="13716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74336" y="3063240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044952"/>
            <a:ext cx="530352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3063240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Aromatico-N (YYY+FF+W)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346704"/>
            <a:ext cx="73152" cy="3017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346704"/>
            <a:ext cx="3657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3364992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3346704"/>
            <a:ext cx="3749039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3364992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MAYNMYPNTRRHKKA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346704"/>
            <a:ext cx="4572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17136" y="3364992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334670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336" y="3364992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-13.59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3346704"/>
            <a:ext cx="53035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45936" y="3364992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Tyr-rico, R/H/K C-term — 15aa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648456"/>
            <a:ext cx="73152" cy="3017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3648456"/>
            <a:ext cx="36576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" y="3666744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" y="3648456"/>
            <a:ext cx="3749039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" y="3666744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MYEFYEQDPYDANEQPDAIA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80560" y="3648456"/>
            <a:ext cx="4572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17136" y="3666744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0" y="3648456"/>
            <a:ext cx="13716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666744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-13.58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3648456"/>
            <a:ext cx="530352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45936" y="3666744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ACIDO (E3+D3) mecanismo diferente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950208"/>
            <a:ext cx="73152" cy="3017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" y="3950208"/>
            <a:ext cx="3657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" y="3968496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" y="3950208"/>
            <a:ext cx="3749039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" y="3968496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ILQPIHRRWQGVRALHWKTA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80560" y="3950208"/>
            <a:ext cx="4572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17136" y="3968496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37760" y="395020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74336" y="3968496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-13.49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3950208"/>
            <a:ext cx="53035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45936" y="3968496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Hidrofobico + R/W/K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4251960"/>
            <a:ext cx="73152" cy="3017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5760" y="4251960"/>
            <a:ext cx="36576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02336" y="4270248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4251960"/>
            <a:ext cx="3749039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096" y="4270248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RRKMMRSNYFFSGML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4251960"/>
            <a:ext cx="4572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4270248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37760" y="4251960"/>
            <a:ext cx="13716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74336" y="4270248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-13.43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09360" y="4251960"/>
            <a:ext cx="530352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45936" y="4270248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R/R/K N-term + F/F aromatico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553712"/>
            <a:ext cx="3657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2336" y="4572000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1520" y="4553712"/>
            <a:ext cx="3749039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8096" y="4572000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RGMITTRKTFGKWNF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80560" y="4553712"/>
            <a:ext cx="4572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17136" y="4572000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7760" y="4553712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74336" y="4572000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-13.30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09360" y="4553712"/>
            <a:ext cx="53035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45936" y="4572000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R/K central + W/F C-term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855464"/>
            <a:ext cx="36576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02336" y="4873752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31520" y="4855464"/>
            <a:ext cx="3749039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68096" y="4873752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KGTQRNIFWIKYPLSWVHTR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80560" y="4855464"/>
            <a:ext cx="4572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17136" y="4873752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937760" y="4855464"/>
            <a:ext cx="13716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74336" y="4873752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-13.28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309360" y="4855464"/>
            <a:ext cx="530352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4873752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Misto W/F/Y distribuidos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5157216"/>
            <a:ext cx="3657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02336" y="5175504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31520" y="5157216"/>
            <a:ext cx="3749039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68096" y="5175504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HGKILRINSKHVYKTWGMPL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80560" y="5157216"/>
            <a:ext cx="4572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17136" y="5175504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937760" y="5157216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974336" y="5175504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-13.25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5157216"/>
            <a:ext cx="53035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45936" y="5175504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K/W/Y + hidrofobico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5458968"/>
            <a:ext cx="36576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02336" y="5477256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31520" y="5458968"/>
            <a:ext cx="3749039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8096" y="5477256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RVWVFRFREMKWIHNRRKWV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480560" y="5458968"/>
            <a:ext cx="4572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517136" y="5477256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937760" y="5458968"/>
            <a:ext cx="137160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74336" y="5477256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-13.22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309360" y="5458968"/>
            <a:ext cx="5303520" cy="3017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345936" y="5477256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W×3+F×2+R×4 alta densidade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65760" y="5760720"/>
            <a:ext cx="3657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02336" y="5779008"/>
            <a:ext cx="29260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31520" y="5760720"/>
            <a:ext cx="3749039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8096" y="5779008"/>
            <a:ext cx="3675887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LWKMHSRDAYGIWFIYRQKR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80560" y="5760720"/>
            <a:ext cx="4572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17136" y="5779008"/>
            <a:ext cx="3840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937760" y="576072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974336" y="5779008"/>
            <a:ext cx="129844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-13.22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09360" y="5760720"/>
            <a:ext cx="53035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345936" y="5779008"/>
            <a:ext cx="5230368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W/F/Y + R/K C-term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Barra verde = Top-5 selecionados para MD  |  Aromaticos dominam  |  Acidos (#3,#12) = mecanismo alternativo XP273  |  15aa (#2,#5,#6) = prioridade sintese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Candidatos Prioritarios — Top-5 para MD e Sintese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Selecao por Vina puro · Diversidade composicional · Mecanismos distintos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264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243584"/>
            <a:ext cx="1280160" cy="29260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4358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Aromatico-N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PYYYLKKRWVSEPKQRIFFN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572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len=20 aa  |  Vina = -13.61 kcal/mol  |  Prioridade sintese: 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8288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33344"/>
                </a:solidFill>
                <a:latin typeface="Calibri"/>
              </a:rPr>
              <a:t>PYYYY cluster → empilhamento pi com His/Tyr catalitico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490472"/>
            <a:ext cx="19434108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40748" y="15179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-13.61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26771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26771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523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2340864"/>
            <a:ext cx="1280160" cy="29260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23408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Tyr-rico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2313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MAYNMYPNTRRHKKA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6700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len=15 aa  |  Vina = -13.59 kcal/mol  |  Prioridade sintese: 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292608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33344"/>
                </a:solidFill>
                <a:latin typeface="Calibri"/>
              </a:rPr>
              <a:t>15aa — melhor relacao afinidade/comprimento; prioridade sintese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0920" y="2587752"/>
            <a:ext cx="19416918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23558" y="261518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-13.59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364991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3364991"/>
            <a:ext cx="411480" cy="10058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6210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3438144"/>
            <a:ext cx="1280160" cy="2926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43814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341071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MYEFYEQDPYDANEQPDAIA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3767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len=20 aa  |  Vina = -13.58 kcal/mol  |  Prioridade sintese: ★★★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4023359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33344"/>
                </a:solidFill>
                <a:latin typeface="Calibri"/>
              </a:rPr>
              <a:t>E3+D3 — inibicao nao-competitiva? especifico XP273 Ile229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3685031"/>
            <a:ext cx="19408322" cy="3474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814962" y="3712463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-13.58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46227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462272"/>
            <a:ext cx="411480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71830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4535424"/>
            <a:ext cx="1280160" cy="29260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453542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Hidrofobico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45079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ILQPIHRRWQGVRALHWKTA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48646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len=20 aa  |  Vina = -13.49 kcal/mol  |  Prioridade sintese: ★★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40280" y="51206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33344"/>
                </a:solidFill>
                <a:latin typeface="Calibri"/>
              </a:rPr>
              <a:t>Mistura hidrofobica + R/W/K — potencial anfipatico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20" y="4782312"/>
            <a:ext cx="19330964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7604" y="480974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4F8A"/>
                </a:solidFill>
                <a:latin typeface="Calibri"/>
              </a:rPr>
              <a:t>-13.49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55955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55955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8155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" y="5632704"/>
            <a:ext cx="1280160" cy="29260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63270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Anfipático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40280" y="56052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RRKMMRSNYFFSGML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40280" y="5961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len=15 aa  |  Vina = -13.43 kcal/mol  |  Prioridade sintese: ★★★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2179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33344"/>
                </a:solidFill>
                <a:latin typeface="Calibri"/>
              </a:rPr>
              <a:t>15aa; R/R/K N-term + F/F — competitivo classico (P1=Arg)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60920" y="5879592"/>
            <a:ext cx="19279392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686032" y="590702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-13.43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601968"/>
            <a:ext cx="11430000" cy="16459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6611112"/>
            <a:ext cx="11155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MD: GROMACS gmx_mpi · AMBER99SB-ILDN · TIP3P 300K · 10 ns · RTX 5070 Ti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· Debian · RTX 5070 Ti 16 GB · sm_120 Blackwell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conversão PDBQT receptor/ligante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rígido peptídeos (TORSDOF=0)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e detecção de bolso de ligação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RTX 5070 Ti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2.11.0+cu128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compatível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(git clone dauparas/ProteinMPNN)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clonado; Base_ckpt.pt em download ~2 GB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requer licença acadêmica gratuita (pyrosetta.org)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de interações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estrutural e preparação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geração all-atom de peptídeos (fallback backbone)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Estratégia Técnica: Docking Rígido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científica e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Peptídeo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 geometry)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obabel -h -xr
(TORSDOF 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25³ Å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RÍGIDO?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técnico: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Peptídeos ≥9 aa têm &gt;32 ligações rotacionáveis (φ+ψ+χ). Vina aborta docking flexível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Justificativa científica: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14.923 sequências (ML labels), docking rígido é aceitável: correlação Pearson ~0.7 com flexível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 computacional: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200 candidatos × 8 exhaustiveness ≈ 15 min no servidor. Docking flexível completo seria inviável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Validação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Os top-5 por score Vina serão refinados com FlexPepDock (Rosetta) e dinâmica molecular 10 ns (GROMACS) para validação rigorosa.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↔ GitHub ↔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💻  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Edição de código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🌐 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🖥️  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·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find outputs/docking -name 'peptide.pdbqt' -delete  # limpar cache PDBQT antigo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docking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ranking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Próximos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Roteiro para obtenção de candidatos prioritários reais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0432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0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IMEDIATO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813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Re-executar docking com fix PDBQT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013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git pull + find outputs/docking -name 'peptide.pdbqt' -delete
→ conda run ... --step docking (200 cand. × ~15 min)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⏱ ~15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0432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0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IMEDIATO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813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Re-executar ranking com labels Vina reais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013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--step ranking → vina_affinity_kcal (kcal/mol) preenchido no CSV ML
→ top-20 real substituirá ranking heurístico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⏱ ~1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146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514600"/>
            <a:ext cx="502920" cy="11887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7889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542032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542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28529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Re-rodar RFdiffusion após download do Base_ckpt.pt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1729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Base_ckpt.pt (~2 GB) em download → --step rfdiffusion
→ 30 backbones conformacionalmente diversificados (hélices, hairpins)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5603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⏱ ~2h 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5146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514600"/>
            <a:ext cx="502920" cy="1188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7889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542032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542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28529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Dinâmica Molecular dos top-5 candidatos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1729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GROMACS gmx_mpi, AMBER99SB-ILDN, TIP3P, 300 K, 10 ns
→ RMSD, H-bonds, energia de ligação livre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5603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⏱ ~4h GPU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862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886200"/>
            <a:ext cx="502920" cy="11887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1605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3913632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9136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MÉDIO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Instalar PyRosetta + FlexPepDock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445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Licença acadêmica gratuita: pyrosetta.org
→ pip install pyrosetta-installer; refinamento de interface dos top-10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3931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Manual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38862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9360" y="3886200"/>
            <a:ext cx="502920" cy="1188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41605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0" y="3913632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0" y="39136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MÉDIO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2245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Treinar modelos ML/DL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45445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14.923 seqs × 41 features + labels Vina reais
→ Random Forest, GNN, Transformer (XGBoost → DL gradual)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3931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⏱ ~hours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57800"/>
            <a:ext cx="502920" cy="11887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532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5285232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852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59612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Síntese e validação experimental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1616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Top-3 candidatos → síntese (Fmoc-SPPS) → ensaios de inibição in vitro
→ IC₅₀ contra tripsinas recombinantes de S. frugiperda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0" y="53035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Design racional de inibidores peptídicos por IA generativa — estado atual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Pipeline multiagente de 10 módulos implementado em Python 3.10 — executa em modo fallback heurístico ou real dependendo das ferramentas disponíveis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14.923 sequências únicas × 41 features físico-químicas; 199 labels Vina reais (kcal/mol) integrados ao dataset ML/DL para treinamento supervisionado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199/199 poses Vina reais obtidas (Rodada 2, 2026-06-13); score médio −11,73 kcal/mol; melhor binder: PYYYLKKRWVSEPKQRIFFN (−13,61 kcal/mol)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6 bugs sistemáticos corrigidos; COM centering + grid adaptativo (max(40, L×3.6+8) Å) elevou taxa de sucesso de 11/199 → 199/199 (Rodada 1 → Rodada 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Aromáticos (Tyr/Trp/Phe) dominam o top-15 por Vina; candidato ácido MYEFYEQDPYDANEQPDAIA (−13,58 kcal/mol) sugere mecanismo alternativo específico para XP273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Top-5 definidos para MD (GROMACS, 10 ns); MAYNMYPNTRRHKKA e RRKMMRSNYFFSGML (15aa) priorizados para síntese — custo e praticidade experimental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Próximos passos: MD top-5 · RFdiffusion (Base_ckpt.pt) · PyRosetta · Docking completo 14.924 restantes · Treinamento ML/DL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