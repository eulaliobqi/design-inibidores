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26280"/>
            <a:ext cx="12188952" cy="457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Design Racional de Inibidores Peptídicos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B4D8"/>
                </a:solidFill>
                <a:latin typeface="Calibri"/>
              </a:rPr>
              <a:t>de Tripsinas de Lepidoptera por IA Generativa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0F4F8"/>
                </a:solidFill>
                <a:latin typeface="Calibri"/>
              </a:rPr>
              <a:t>Pipeline Multiagente: RFdiffusion → ProteinMPNN → PyRosetta → Vina → GROMACS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0F4F8"/>
                </a:solidFill>
                <a:latin typeface="Calibri"/>
              </a:rPr>
              <a:t>Eulalio B. Q. Santos  |  UFV Viçosa-MG  |  eulalio.santos@ufv.br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B4D8"/>
                </a:solidFill>
                <a:latin typeface="Calibri"/>
              </a:rPr>
              <a:t>github.com/eulaliobqi/design-inibidores  |  Junho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669280"/>
            <a:ext cx="173736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RFdiffusion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3160" y="5669280"/>
            <a:ext cx="173736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ProteinMPNN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5669280"/>
            <a:ext cx="17373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PyRosetta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199" y="5669280"/>
            <a:ext cx="17373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19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AutoDock Vina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19" y="5669280"/>
            <a:ext cx="17373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GROMACS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5669280"/>
            <a:ext cx="173736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Python 3.10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1/18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Contextualização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Por que inibidores de tripsinas de Lepidoptera?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029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  <a:latin typeface="Calibri"/>
              </a:rPr>
              <a:t>O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Spodoptera frugiperda e Agrotis gemmatalis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1226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causam bilhões USD/ano em perdas agrícolas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3288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5351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Inseticidas químicos: resistência crescente,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7413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toxicidade ambiental e resíduos em alimentos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9476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1538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Tripsinas digestivas são essenciais para 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3600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desenvolvimento larval — alvos comprovados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5663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7725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Quais peptídeos inibem essas tripsinas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9788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com alta seletividade e baixa toxicidade?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143000"/>
            <a:ext cx="57607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1143000"/>
            <a:ext cx="576072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2344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A OPORTUNIDADE DA IA GENERATIVA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6916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RFdiffusion (Nature 2023): gera backbones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02082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proteicos condicionados a sítios de ligação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5000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67919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ProteinMPNN (Science 2022): otimiza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00837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sequências para backbones de interesse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3375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66674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PyRosetta (2026.25): refinamento de interface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399592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FastRelax + InterfaceAnalyzerMover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32511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465429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AutoDock Vina: triagem de afinidade 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498347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larga escala (194 poses reais, kcal/mol)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531266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564184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Dataset ML/DL: 24.513 seqs × 41 features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5971031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para treinar modelos preditivos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Design computacional racional + dataset para ML/DL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D2B55"/>
                </a:solidFill>
                <a:latin typeface="Calibri"/>
              </a:rPr>
              <a:t>Objetivo geral: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44"/>
                </a:solidFill>
                <a:latin typeface="Calibri"/>
              </a:rPr>
              <a:t>Gerar e validar computacionalmente peptídeos inibidores de tripsinas digestivas de Lepidoptera-praga usando pipeline multiagente de IA generativa estrutural, produzindo simultaneamente um dataset ML/DL supervisionado com scores Vina + Rosetta como labels.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55"/>
                </a:solidFill>
                <a:latin typeface="Calibri"/>
              </a:rPr>
              <a:t>Objetivos específicos: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620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Identificar resíduos catalíticos e bolso S1 de 4 tripsinas lepidópteras (ACR157/QCL936/XP273/XP352)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364991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Gerar 330 backbones peptídicos de 20 aa via RFdiffusion ancorados ao sítio S1 de ACR157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86791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Produzir 24.513 sequências binder únicas por ProteinMPNN (extração cadeia B, bug FASTA corrigido)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37083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Anotar 41 features físico-químicas para cada sequência (dataset ML/DL supervisionado)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87375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Obter energias de afinidade Vina reais como labels — 194/194 poses válidas (binders RFdiffusion)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766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Refinar top-10 candidatos com PyRosetta FastRelax + InterfaceAnalyzerMover (I_sc REF2015)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87959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Validar top-5 por dinâmica molecular 10 ns (GROMACS gmx_mpi, AMBER99SB-ILDN, TIP3P, 300 K)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Pipeline Multiagente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10 módulos especializados — TODAS as etapas principais concluídas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Structure
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Sítio S1
Hotspots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24328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88336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1576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5768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RFdiffusion
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5768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330 backbones
20 aa reais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1728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8616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2624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0055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0055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ProteinMPNN
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0055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24.513
binders únicos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32904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96912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2434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7882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4344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Rosetta
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4344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PyRosetta
I_sc REF2015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0304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37192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0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8311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8632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Docking
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28632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194/194
Vina reais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61188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4048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79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5960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79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MD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79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GROMACS
10 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77440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24328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8336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1576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7024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15768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Ranking
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15768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Score
composto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81728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28616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992624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0055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74536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0055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Visualize
Agent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0055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6 figuras
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86016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32904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296912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2434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7882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24344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Report
Agent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24344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HTML + MD
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90304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37192" y="3611880"/>
            <a:ext cx="2057400" cy="210312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01200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2863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18311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333344"/>
                </a:solidFill>
                <a:latin typeface="Calibr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28632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Optimize
Agent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28632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Redesign
top-10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0040" y="6492240"/>
            <a:ext cx="274320" cy="2286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Concluído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06040" y="6492240"/>
            <a:ext cx="274320" cy="2286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880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Em execução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92040" y="6492240"/>
            <a:ext cx="274320" cy="2286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166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Aguarda MD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Alvo Molecular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Tripsinas digestivas de Lepidoptera-praga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4 modelos estruturais de tripsinas: ACR157, QCL936, XP273, XP352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1280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72768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19" y="1554480"/>
            <a:ext cx="14630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39" y="1572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His/Tyr (Cat)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554480"/>
            <a:ext cx="13258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79" y="1572768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Asp (Tríade)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554480"/>
            <a:ext cx="14173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57276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Ser/Ala (Nuc)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554480"/>
            <a:ext cx="11887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1572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S1 (Esp)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554480"/>
            <a:ext cx="2423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157276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Centro (X,Y,Z) 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93852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195681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ACR157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19" y="193852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1639" y="195681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His69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193852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79" y="195681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193852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195681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193852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7880" y="195681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193852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195681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7.09 / -1.15 / -1.63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30428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232257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QCL936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19" y="230428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91639" y="23225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His92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08960" y="230428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54679" y="232257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Asp142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34840" y="230428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60" y="232257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Ser247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230428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97880" y="232257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0" y="230428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232257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2.94 / 5.55 / -0.32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267004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268833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XP273 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45919" y="267004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91639" y="268833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Tyr83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267004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54679" y="268833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Asp132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34840" y="267004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0" y="268833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Ser234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52160" y="267004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97880" y="26883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Ile229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40880" y="267004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86600" y="268833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1.67 / 8.29 / -0.34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03580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05409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XP352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45919" y="303580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91639" y="30540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08960" y="303580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54679" y="305409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Asp166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34840" y="303580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60" y="305409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Ala268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52160" y="303580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97880" y="305409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Asp262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40880" y="303580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86600" y="305409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-1.26 / 5.60 / -5.25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3401568"/>
            <a:ext cx="1280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341985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Consenso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19" y="3401568"/>
            <a:ext cx="14630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91639" y="341985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08960" y="3401568"/>
            <a:ext cx="13258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54679" y="341985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34840" y="3401568"/>
            <a:ext cx="14173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480560" y="34198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852160" y="3401568"/>
            <a:ext cx="11887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897880" y="341985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040880" y="3401568"/>
            <a:ext cx="2423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086600" y="341985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2.61 / 4.57 / -1.89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480560"/>
            <a:ext cx="11430000" cy="132588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65760" y="4480560"/>
            <a:ext cx="73152" cy="13258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4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★ XP273 — Tripsina Atípica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4892040"/>
            <a:ext cx="109728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Tyr83 substitui His catalítica canônica | Ile229 no bolso S1 (ao invés de Asp) -&gt; especificidade hidrofóbica
Justifica NAO restringir P1 no pipeline — candidatos acidos (D/E) podem atuar via mecanismo nao-canonico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65760" y="5897880"/>
            <a:ext cx="11430000" cy="6858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5989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Grid box Vina (consenso):  centro = [2.61, 4.57, -1.89] A  |  tamanho adaptativo = max(40, len*3.6+8) A  |  exaustividade = 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Geração de Backbones Peptídicos — RFdiffusion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330 backbones de novo | Watson et al., Nature 2023 | checkpoint Complex_base_ckpt.pt 462 MB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3035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RFdiffusion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0F4F8"/>
                </a:solidFill>
                <a:latin typeface="Calibri"/>
              </a:rPr>
              <a:t>Instalado em ~/RFdiffusion | Python 3.10 (protein_design_env)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~/RFdiffusion instalado e funcional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6771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Complex_base_ckpt.pt (462 MB) baixado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6946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330 backbones gerados para ACR157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71215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7296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Parâmetros usados: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747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noise_scale_ca  = 0.2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7647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noise_scale_frame = 0.1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7822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contig: A1-231/0 20-20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7997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inference.ckpt_override_path=.../models/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8172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98348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Pre-processamento obrigatório: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28523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prep_pdbs.py: chain blank -&gt;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86983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renumeração residuos 1..N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88873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9048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Limitação desta rodada: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922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Todos os 330 backbones -&gt; 20 aa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79399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(comprimento variavel em rodadas futuras)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143000"/>
            <a:ext cx="57607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11887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Backbones gerados (modo REAL)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645920"/>
            <a:ext cx="19202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166420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Categoria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1645920"/>
            <a:ext cx="1280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92440" y="1664208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Backbones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26880" y="1645920"/>
            <a:ext cx="24688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166420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Comprimento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2011680"/>
            <a:ext cx="1920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202996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len5 (cat.)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2011680"/>
            <a:ext cx="128016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2440" y="2029968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26880" y="2011680"/>
            <a:ext cx="2468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72600" y="202996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359152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0" y="2377440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len7 (cat.)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2359152"/>
            <a:ext cx="1280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92440" y="2377440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26880" y="2359152"/>
            <a:ext cx="2468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72600" y="2377440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26480" y="2706624"/>
            <a:ext cx="1920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27249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len10 (cat.)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2706624"/>
            <a:ext cx="128016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2440" y="2724912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26880" y="2706624"/>
            <a:ext cx="2468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72600" y="2724912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26480" y="3054096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72200" y="307238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len12 (cat.)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0" y="3054096"/>
            <a:ext cx="1280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92440" y="3072384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326880" y="3054096"/>
            <a:ext cx="2468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72600" y="3072384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26480" y="3401568"/>
            <a:ext cx="1920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72200" y="341985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len15 (cat.)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46720" y="3401568"/>
            <a:ext cx="128016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92440" y="3419856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326880" y="3401568"/>
            <a:ext cx="2468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372600" y="341985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3749039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72200" y="376732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len20 (cat.)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46720" y="3749039"/>
            <a:ext cx="1280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92440" y="3767328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326880" y="3749039"/>
            <a:ext cx="2468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372600" y="376732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26480" y="4096512"/>
            <a:ext cx="56692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72200" y="41148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92440" y="4114800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D6A0"/>
                </a:solidFill>
                <a:latin typeface="Calibri"/>
              </a:rPr>
              <a:t>330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72600" y="4114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todos 20 aa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035040" y="5806440"/>
            <a:ext cx="576072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72200" y="585216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330 backbones conformacionalmente diversos (helices, estendidos, hairpins)
Proxima rodada: comprimentos variados independentes (5-15 aa) para sintese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Design de Sequências — ProteinMPNN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330 backbones × 500 seqs = 165.000 brutas → 24.513 binders únicos 20 aa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ProteinMPNN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Redesenho da cadeia B (binder 20 aa) para cada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143000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Temperatura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sampling_temp = 0.1 | backbone_noise = 0.05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167128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filtro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Excluídos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Cys, X (--omit_AAs CX) — evitar pontes dissulfeto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2167128"/>
            <a:ext cx="73152" cy="91440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Bug 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BUG CRÍTICO CORRIGIDO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replace('/','') concatenava receptor+binder (240+ aa)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91256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corrigido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Fix (commit e9024bc)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parts = seq.split('/'); binder = parts[-1]  -&gt; 20 aa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3191256"/>
            <a:ext cx="73152" cy="914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Deduplicação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165.000 brutas -&gt; 24.513 únicas (83.8% redundância)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4215384"/>
            <a:ext cx="73152" cy="9144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nota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Homogeneidade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Todos os 24.513 binders têm 20 aa (limitação desta rodada)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4215384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otimizacao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Cache inteligente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Não re-roda ProteinMPNN se FASTAs já existem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239512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ML label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is_known_inhibitor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Seeds BPTI/SKTI incluídos como âncoras positivas 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3640" y="5239512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CSV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652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Dataset exportado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outputs/dataset/ml_training_dataset.csv — 41 features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  <a:latin typeface="Calibri"/>
              </a:rPr>
              <a:t>24.513 binders únicos 20 aa  |  165.000 brutas  |  41 features  |  Bug FASTA corrigido (commit e9024bc)  |  Cys excluídas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Dataset ML/DL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24.513 sequências × 41 features + labels Vina/Rosetta reais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F8A"/>
                </a:solidFill>
                <a:latin typeface="Calibri"/>
              </a:rPr>
              <a:t>Arquivo: outputs/dataset/ml_training_dataset.csv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Globais (7)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length, mw_da, net_charge (pH 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isoelectric_point, instability_index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aliphatic_index, boman_index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00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5394960" cy="3657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27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Hidrofobicidade (2)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11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hydrophobicity_kd (Kyte-Doolittle)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941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frac_hydrophobic (AILMFWV)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43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370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por classe (3)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54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frac_aromatic, frac_charged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84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n_arg_lys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30352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303520"/>
            <a:ext cx="5394960" cy="36576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309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Features binárias (3)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71500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has_aromatic_cterminal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4418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has_charged_nterminal, has_pro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1554480"/>
            <a:ext cx="539496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AA (19)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frac_A, frac_D, frac_E, frac_F,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frac_G, frac_H, frac_I, frac_K,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frac_L, frac_M, frac_N, frac_P,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953512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frac_Q, frac_R, frac_S, frac_T,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32826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frac_V, frac_W, frac_Y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411480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0" y="4114800"/>
            <a:ext cx="53949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35040" y="41422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Labels supervisionados (3)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5262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best_affinity_kcal  &lt;- Vina real (194 labels)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48554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rosetta_I_sc  &lt;- PyRosetta I_sc REF2015 (10 labels)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18464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is_known_inhibitor (BPTI/SKTI=1)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57784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43600" y="5577840"/>
            <a:ext cx="5394960" cy="365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40" y="560527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Metadados (2)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98932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sequence (20 aa), length (categoria)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631850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backbone (stem do PDB RFdiffusion)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Docking Molecular — AutoDock Vina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194/194 poses validas | binders RFdiffusion+ProteinMPNN reais | 39 bugs total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5029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91440" cy="5029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0700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3344"/>
                </a:solidFill>
                <a:latin typeface="Calibri"/>
              </a:rPr>
              <a:t>Rodada com binders reais (2026-06-17): 194/194 poses validas | top-1: GSRASARAYAARVRARRAAL (-13.62 kcal/mol)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737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Bugs criticos desta sessao (binders RFdiffusion):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21408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2677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29-31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121408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139696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NA atom type rejeitado pelo Vina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441448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"N":"NA" (sodio) em vez de nitrogênio backbone -&gt; "N":"N"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28600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603cc04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889503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03580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2889503"/>
            <a:ext cx="1088136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2907791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obabel -xr gerava formato de RECEPTOR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209544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Sem ROOT/ENDROOT para ligante -&gt; remover -xr; _ensure_ligand_pdbqt_format() reescreve sempre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305409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603cc04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657600"/>
            <a:ext cx="548640" cy="658368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803904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33 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657600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675887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76F"/>
                </a:solidFill>
                <a:latin typeface="Calibri"/>
              </a:rPr>
              <a:t>TOP CANDIDATOS ERAM REDESIGNS DAS TRIPSINAS (bug critico)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977639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replace('/','') concatenava receptor+binder (240+ aa) -&gt; parts[-1] extrai binder 20 aa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3822191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e9024bc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425696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5720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425696"/>
            <a:ext cx="1088136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443983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seq[-L:] cortava binders reais de 20 aa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745736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len(seq)&gt;L*2 triggava para len5 (20&gt;10) -&gt; remocao do corte artificial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459028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ad6fa9e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193792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34009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5193792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12079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Grid dimensionado por label (5/7/10), nao comprimento real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13831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item['length']=categoria -&gt; len(item['sequence'])=20 -&gt; grid 80x80x80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09560" y="5358383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ad6fa9e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961888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38-39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" y="5961888"/>
            <a:ext cx="1088136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5980175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Rosetta selecionava por heuristica, nao por Vina | campo vina_affinity inexistente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" y="6281927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_select_top_sequences() le docking_results.json | campo correto: best_affinity_kcal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6126479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a7ac84f+e16a28f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Resultados Docking — Binders RFdiffusion+ProteinMPNN (2026-06-17)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194/194 poses validas | perfil basico/alifatico | mecanismo competitivo classico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9144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70432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6D6A0"/>
                </a:solidFill>
                <a:latin typeface="Calibri"/>
              </a:rPr>
              <a:t>194 / 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4F8"/>
                </a:solidFill>
                <a:latin typeface="Calibri"/>
              </a:rPr>
              <a:t>poses Vina reais (kcal/mol)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Melhor: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517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D6A0"/>
                </a:solidFill>
                <a:latin typeface="Calibri"/>
              </a:rPr>
              <a:t>-13.62 kcal/mol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Media: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517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~-12.2 kcal/mol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Pior: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517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166"/>
                </a:solidFill>
                <a:latin typeface="Calibri"/>
              </a:rPr>
              <a:t>~-10.8 kcal/mol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14884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Top-10 por Vina puro: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60320"/>
            <a:ext cx="347472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578608"/>
            <a:ext cx="2743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2560320"/>
            <a:ext cx="38404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578608"/>
            <a:ext cx="376732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Sequencia (20 aa)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53712" y="2560320"/>
            <a:ext cx="384048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2578608"/>
            <a:ext cx="31089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2560320"/>
            <a:ext cx="10972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4336" y="2578608"/>
            <a:ext cx="102412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Vina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560320"/>
            <a:ext cx="557784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2578608"/>
            <a:ext cx="550468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 composicional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880360"/>
            <a:ext cx="64008" cy="2834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880360"/>
            <a:ext cx="347472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2336" y="2898648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2880360"/>
            <a:ext cx="38404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2898648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GSRASARAYAARVRARRAAL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53712" y="2880360"/>
            <a:ext cx="384048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90288" y="2898648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2880360"/>
            <a:ext cx="10972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74336" y="2898648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-13.62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880360"/>
            <a:ext cx="557784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71616" y="2898648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Gly/Ser N-term + Arg/Ala central — melhor absoluto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163824"/>
            <a:ext cx="64008" cy="2834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3163824"/>
            <a:ext cx="34747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6" y="3182112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3232" y="3163824"/>
            <a:ext cx="38404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" y="3182112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GARKSIREYQKRVLERLKKK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53712" y="3163824"/>
            <a:ext cx="384048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90288" y="3182112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37760" y="3163824"/>
            <a:ext cx="10972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336" y="3182112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-12.76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0" y="3163824"/>
            <a:ext cx="557784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71616" y="3182112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Alta densidade R/K (n=9) + Glu/Tyr — melhor I_sc Rosetta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447288"/>
            <a:ext cx="64008" cy="2834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3447288"/>
            <a:ext cx="347472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2336" y="3465576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3232" y="3447288"/>
            <a:ext cx="38404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8" y="3465576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SLARKRAEENAKRFLERVKK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53712" y="3447288"/>
            <a:ext cx="384048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90288" y="3465576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37760" y="3447288"/>
            <a:ext cx="10972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74336" y="3465576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-12.71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3447288"/>
            <a:ext cx="557784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71616" y="3465576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Leu/Ala scaffold + R/K alternados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3730752"/>
            <a:ext cx="64008" cy="283464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5760" y="3730752"/>
            <a:ext cx="34747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2336" y="3749039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13232" y="3730752"/>
            <a:ext cx="38404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9808" y="3749039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MKKQRENAKKVAEITLKKAK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53712" y="3730752"/>
            <a:ext cx="384048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90288" y="3749039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37760" y="3730752"/>
            <a:ext cx="10972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74336" y="3749039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35040" y="3730752"/>
            <a:ext cx="557784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616" y="3749039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Lys-rico (n=8), alifatico, solúvel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4014215"/>
            <a:ext cx="64008" cy="283464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65760" y="4014215"/>
            <a:ext cx="347472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02336" y="4032504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3232" y="4014215"/>
            <a:ext cx="38404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9808" y="4032504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AARASIRAAAARFRARRAAL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53712" y="4014215"/>
            <a:ext cx="384048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90288" y="4032504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37760" y="4014215"/>
            <a:ext cx="10972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974336" y="4032504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35040" y="4014215"/>
            <a:ext cx="557784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71616" y="4032504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Ala-rico com Arg interno e Phe aromático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297680"/>
            <a:ext cx="64008" cy="283464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65760" y="4297680"/>
            <a:ext cx="34747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2336" y="4315968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13232" y="4297680"/>
            <a:ext cx="38404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49808" y="4315968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AARASQREYQKKFLERLKKK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53712" y="4297680"/>
            <a:ext cx="384048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90288" y="4315968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937760" y="4297680"/>
            <a:ext cx="10972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974336" y="4315968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-12.52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35040" y="4297680"/>
            <a:ext cx="557784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071616" y="4315968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 N-term + R/K/F C-term — 2o melhor I_sc Rosetta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" y="4581144"/>
            <a:ext cx="347472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02336" y="4599431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13232" y="4581144"/>
            <a:ext cx="38404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9808" y="4599431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AARASQREYAARFAERLAAK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553712" y="4581144"/>
            <a:ext cx="384048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590288" y="4599431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0" y="4581144"/>
            <a:ext cx="10972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974336" y="4599431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-12.52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035040" y="4581144"/>
            <a:ext cx="557784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071616" y="4599431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Tyr/Phe + Glu C-term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4864608"/>
            <a:ext cx="34747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02336" y="4882896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13232" y="4864608"/>
            <a:ext cx="38404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49808" y="4882896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SAAARARQRAVIARARARVA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553712" y="4864608"/>
            <a:ext cx="384048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590288" y="4882896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937760" y="4864608"/>
            <a:ext cx="10972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974336" y="4882896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-12.44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035040" y="4864608"/>
            <a:ext cx="557784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071616" y="4882896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Ala/Arg alternados (anfipático regular)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65760" y="5148072"/>
            <a:ext cx="347472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02336" y="5166360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9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13232" y="5148072"/>
            <a:ext cx="38404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49808" y="5166360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SAAARARQRAVGARMRARVA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553712" y="5148072"/>
            <a:ext cx="384048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90288" y="5166360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937760" y="5148072"/>
            <a:ext cx="10972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974336" y="5166360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-12.44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035040" y="5148072"/>
            <a:ext cx="557784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071616" y="5166360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Ala/Arg/Met — variante de #8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65760" y="5431536"/>
            <a:ext cx="34747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02336" y="5449824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13232" y="5431536"/>
            <a:ext cx="38404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49808" y="5449824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AARENIRKAHKTFLERLKKK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553712" y="5431536"/>
            <a:ext cx="384048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90288" y="5449824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937760" y="5431536"/>
            <a:ext cx="10972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974336" y="5449824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-12.36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035040" y="5431536"/>
            <a:ext cx="557784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071616" y="5449824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Ala/Leu + R/K/H distribuídos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5760" y="6492240"/>
            <a:ext cx="11430000" cy="25603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02920" y="6510528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Padrao: Arg/Lys + Ala/Ser (sem aromaticos) — mecanismo competitivo classico (Arg-Asp205 S1) | contraste com candidatos heuristicos anteriores (aromatico-ricos)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PyRosetta 2026.25 — Refinamento de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FastRelax + InterfaceAnalyzerMover('A_B') | I_sc REF2015 | 10/10 complexos refinados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91440" cy="5943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3344"/>
                </a:solidFill>
                <a:latin typeface="Calibri"/>
              </a:rPr>
              <a:t>Instalado: pyrosetta-2026.25+release (pyrosetta-installer, sem licenca separada) | Python 3.10 | protein_design_env | 2026-06-17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Cross-validation Vina × I_sc Rosetta — top-10 candidatos: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40280"/>
            <a:ext cx="38404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2258568"/>
            <a:ext cx="376732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Sequencia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2240280"/>
            <a:ext cx="10972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42816" y="2258568"/>
            <a:ext cx="102412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0" y="2240280"/>
            <a:ext cx="73152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096" y="2258568"/>
            <a:ext cx="65836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RankV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240280"/>
            <a:ext cx="128016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1616" y="2258568"/>
            <a:ext cx="120700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I_sc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2240280"/>
            <a:ext cx="73152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5" y="2258568"/>
            <a:ext cx="65836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RankR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2240280"/>
            <a:ext cx="73152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83296" y="2258568"/>
            <a:ext cx="65836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Delta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2240280"/>
            <a:ext cx="182880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14815" y="2258568"/>
            <a:ext cx="175564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56032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257860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GARKSIREYQKRVLERLKKK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256032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42816" y="257860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-12.76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0" y="256032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0096" y="25786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56032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1616" y="257860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-86.28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0" y="256032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51775" y="25786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0" y="256032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296" y="25786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256032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14815" y="257860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bestI_sc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3464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6" y="285292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AARASQREYQKKFLERLKKK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283464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42816" y="285292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-12.52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283464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0096" y="28529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283464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71616" y="285292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-85.92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0" y="283464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51775" y="28529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283464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83296" y="28529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78240" y="283464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14815" y="285292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elevado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10896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2336" y="312724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MKKQRENAKKVAEITLKKAK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06240" y="310896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42816" y="312724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03520" y="310896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40096" y="31272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310896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616" y="312724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-80.49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310896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51775" y="31272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46720" y="310896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83296" y="31272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778240" y="310896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14815" y="312724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338328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02336" y="340156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GSRASARAYAARVRARRAAL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06240" y="338328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42816" y="340156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-13.62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03520" y="338328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40096" y="34015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35040" y="338328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71616" y="340156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-78.44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0" y="338328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51775" y="34015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338328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83296" y="34015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78240" y="338328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14815" y="340156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bestVina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65760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2336" y="367588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AARASIRAAAARFRARRAAL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06240" y="365760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42816" y="367588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303520" y="365760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40096" y="36758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035040" y="365760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071616" y="367588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-75.45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00" y="365760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351775" y="36758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46720" y="365760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83296" y="36758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778240" y="365760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814815" y="367588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393192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02336" y="395020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GSLTGRRIAALWKASLAKRK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06240" y="393192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42816" y="395020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303520" y="393192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340096" y="39502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035040" y="393192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071616" y="395020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-69.44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0" y="393192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351775" y="39502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046720" y="393192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083296" y="39502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778240" y="393192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14815" y="395020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Rosetta-only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65760" y="420624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02336" y="422452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SAAARARQRAVGARMRARVA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206240" y="420624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242816" y="422452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-12.44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303520" y="420624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340096" y="42245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035040" y="420624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071616" y="422452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-63.98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315200" y="420624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351775" y="42245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046720" y="420624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083296" y="42245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778240" y="420624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814815" y="422452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65760" y="448056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02336" y="449884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AARENIRKAHKTFLERLKKK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206240" y="448056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242816" y="449884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-12.36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303520" y="448056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340096" y="44988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035040" y="448056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616" y="449884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-62.74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315200" y="448056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351775" y="44988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046720" y="448056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083296" y="44988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778240" y="448056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814815" y="449884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65760" y="475488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02336" y="477316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ALDAVRARARALGARLRARA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206240" y="475488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42816" y="477316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303520" y="475488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340096" y="47731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035040" y="475488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071616" y="477316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-61.89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315200" y="475488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351775" y="47731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9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8046720" y="475488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083296" y="47731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778240" y="475488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814815" y="477316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Rosetta-only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65760" y="502920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02336" y="504748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SLARKRAEENAKRFLERVKK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206240" y="502920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242816" y="504748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-12.71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303520" y="502920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340096" y="50474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035040" y="502920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071616" y="504748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-61.41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315200" y="502920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351775" y="50474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046720" y="502920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083296" y="50474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-7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8778240" y="502920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8814815" y="504748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F476F"/>
                </a:solidFill>
                <a:latin typeface="Calibri"/>
              </a:rPr>
              <a:t>divergente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65760" y="5074920"/>
            <a:ext cx="11430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365760" y="5074920"/>
            <a:ext cx="54864" cy="15544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48640" y="5138928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GARKSIREYQKRVLERLKKK: melhor I_sc (-86.28) apesar de #2 por Vina — FastRelax revela interface forte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48640" y="543153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AARASQREYQKKFLERLKKK: sobe de #5 Vina para #2 I_sc (-85.92) — docking rigido subestimava sua afinidade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48640" y="5724144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76F"/>
                </a:solidFill>
                <a:latin typeface="Calibri"/>
              </a:rPr>
              <a:t>SLARKRAEENAKRFLERVKK: cai de #3 Vina para #10 I_sc (-61.41) — DESCARTADO, interface nao sustenta pos-relax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48640" y="601675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GSRASARAYAARVRARRAAL: confirmado por ambos (Vina #1, I_sc #4) — candidato mais robusto para sintese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Concordancia Vina × Rosetta: criterio mais rigoroso — identifica GARKSIREYQKRVLERLKKK como top real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Candidatos Prioritarios — Top-3 Confirmados por Dupla Validacao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Vina (docking rigido) × PyRosetta I_sc (FastRelax) | todos 20 aa | Fmoc-SPPS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7043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70432"/>
            <a:ext cx="411480" cy="10058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264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1225296"/>
            <a:ext cx="2011680" cy="2560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123444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R/K denso (n=9), Glu/Tyr distr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19786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GARKSIREYQKRVLERLKKK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5544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-12.76 kcal/mol (rank #2)  |  I_sc = -86.28 kcal/mol (rank #1)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181051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Melhor I_sc absoluto. FastRelax revela interface excepcional. Melhor candidato por concordancia.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1335024"/>
            <a:ext cx="9365284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229124" y="133502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627632"/>
            <a:ext cx="5607649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471489" y="162763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R:-86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6771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267712"/>
            <a:ext cx="411480" cy="10058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52374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2322576"/>
            <a:ext cx="2011680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233172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Gly/Ser N-term, Arg/Ala backbo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229514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GSRASARAYAARVRARRAAL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1800" y="265176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-13.62 kcal/mol (rank #1)  |  I_sc = -78.44 kcal/mol (rank #4)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2907791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Melhor Vina absoluto (-13.62). Confirmado por Rosetta (#4 I_sc). Candidato de referencia.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18120" y="2432304"/>
            <a:ext cx="9719157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582997" y="243230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V:-13.6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2724912"/>
            <a:ext cx="5285049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148889" y="272491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R:-78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64991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364991"/>
            <a:ext cx="411480" cy="10058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62102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3419856"/>
            <a:ext cx="2011680" cy="2560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3428999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Ala N-term, Arg/Lys/Phe C-term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3392423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AARASQREYQKKFLERLKKK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71800" y="3749039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-12.52 kcal/mol (rank #5)  |  I_sc = -85.92 kcal/mol (rank #2)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400507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Vina #5 mas Rosetta #2. Docking rigido subestimava afinidade real de interface.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18120" y="3529584"/>
            <a:ext cx="9266529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30369" y="352958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3822191"/>
            <a:ext cx="5592836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456676" y="3822191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R:-86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46227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4462272"/>
            <a:ext cx="411480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471830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517136"/>
            <a:ext cx="2011680" cy="25603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6968" y="452628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Lys-rico (n=8), alifatico, sol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71800" y="448970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MKKQRENAKKVAEITLKKAK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71800" y="484632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-12.68 kcal/mol (rank #4)  |  I_sc = -80.49 kcal/mol (rank #3)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71800" y="510235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Consistente em ambos (#4 Vina, #3 Rosetta). Alto conteudo Lys favorece sintese e solubilidade.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18120" y="4626864"/>
            <a:ext cx="9332366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7196206" y="462686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18120" y="4919472"/>
            <a:ext cx="5369402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233242" y="491947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R:-80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559552"/>
            <a:ext cx="11430000" cy="1005840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559552"/>
            <a:ext cx="411480" cy="100584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58155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8680" y="5614416"/>
            <a:ext cx="2011680" cy="25603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" y="562356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Leu/Ala scaffold + R/K alterna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71800" y="558698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76F"/>
                </a:solidFill>
                <a:latin typeface="Calibri"/>
              </a:rPr>
              <a:t>SLARKRAEENAKRFLERVKK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71800" y="594360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-12.71 kcal/mol (rank #3)  |  I_sc = -61.41 kcal/mol (rank #10)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71800" y="619963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DESCARTADO: Vina #3 mas Rosetta #10. Interface nao sustenta apos FastRelax. Nao sintetizar.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818120" y="5724144"/>
            <a:ext cx="9344710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208550" y="572414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18120" y="6016752"/>
            <a:ext cx="4584298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448138" y="601675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6601968"/>
            <a:ext cx="11430000" cy="1645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611112"/>
            <a:ext cx="11155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MD CONCLUIDO: GSRASARAYAARVRARRAAL | RMSD 0,37 nm | Rg 1,79 nm | Complexo ESTAVEL em 10 ns | ver slide 13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Dinamica Molecular — GSRASARAYAARVRARRAAL × ACR157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GROMACS | AMBER99SB-ILDN | TIP3P | 300 K | NVT 200 ps + NPT 500 ps + MD 10 ns | 3 replicas completas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2120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Calibri"/>
              </a:rPr>
              <a:t>Metricas de Estabilidade (10 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642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Melhor replica (Run 4, mais equilibrado):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93392"/>
            <a:ext cx="5120640" cy="777240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993392"/>
            <a:ext cx="109728" cy="7772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03911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4F8"/>
                </a:solidFill>
                <a:latin typeface="Calibri"/>
              </a:rPr>
              <a:t>RMSD backbone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020824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06D6A0"/>
                </a:solidFill>
                <a:latin typeface="Calibri"/>
              </a:rPr>
              <a:t>0,365 nm (avg)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43230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ABBCC"/>
                </a:solidFill>
                <a:latin typeface="Calibri"/>
              </a:rPr>
              <a:t>0,375 nm (final)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62072"/>
            <a:ext cx="5120640" cy="777240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862072"/>
            <a:ext cx="109728" cy="77724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90779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4F8"/>
                </a:solidFill>
                <a:latin typeface="Calibri"/>
              </a:rPr>
              <a:t>RMSD maximo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889503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FD166"/>
                </a:solidFill>
                <a:latin typeface="Calibri"/>
              </a:rPr>
              <a:t>2,507 nm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0098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ABBCC"/>
                </a:solidFill>
                <a:latin typeface="Calibri"/>
              </a:rPr>
              <a:t>fase inicial (&lt;2 ns)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30752"/>
            <a:ext cx="5120640" cy="777240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730752"/>
            <a:ext cx="109728" cy="7772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77647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4F8"/>
                </a:solidFill>
                <a:latin typeface="Calibri"/>
              </a:rPr>
              <a:t>Rg complexo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3758184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06D6A0"/>
                </a:solidFill>
                <a:latin typeface="Calibri"/>
              </a:rPr>
              <a:t>1,792 nm (avg)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16966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ABBCC"/>
                </a:solidFill>
                <a:latin typeface="Calibri"/>
              </a:rPr>
              <a:t>std = 0,023 nm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99431"/>
            <a:ext cx="5120640" cy="777240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599431"/>
            <a:ext cx="109728" cy="777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64515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4F8"/>
                </a:solidFill>
                <a:latin typeface="Calibri"/>
              </a:rPr>
              <a:t>H-bonds sist.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626864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00B4D8"/>
                </a:solidFill>
                <a:latin typeface="Calibri"/>
              </a:rPr>
              <a:t>160,1 (avg)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03834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ABBCC"/>
                </a:solidFill>
                <a:latin typeface="Calibri"/>
              </a:rPr>
              <a:t>max 182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53212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Replica Run 3 (ref. adicional):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8815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AA"/>
                </a:solidFill>
                <a:latin typeface="Calibri"/>
              </a:rPr>
              <a:t>RMSD avg 0,522 nm | final 0,462 nm | Rg 1,840 ± 0,077 nm | Hbond avg 169,0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0350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67788"/>
                </a:solidFill>
                <a:latin typeface="Calibri"/>
              </a:rPr>
              <a:t>Consistente com Run 4 — convergencia progressiva entre replicas (1,20-&gt;0,52-&gt;0,37 nm avg RMSD)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1143000"/>
            <a:ext cx="585216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43600" y="1143000"/>
            <a:ext cx="5852160" cy="45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26480" y="120700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Interpretacao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1627632"/>
            <a:ext cx="109728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0" y="1645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RMSD &lt; 0,5 nm ao final (0,375 nm)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19385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Peptideo MANTEM pose de ligacao em 10 ns. Sem dissociacao.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377440"/>
            <a:ext cx="109728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239572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Rg 1,792 nm, std 0,023 nm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2688336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ACR157 mantem compacidade estrutural. Sem desnaturacao.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127248"/>
            <a:ext cx="109728" cy="6400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31455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Pico RMSD ~2,5 nm em t&lt;2 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3438144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Relaxamento inicial do complexo — comportamento normal. Pose estavel apos equilibracao.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77056"/>
            <a:ext cx="109728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0" y="389534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H-bonds sistema avg 160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18795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Total proteina+peptideo (inter+intramolecular). Interface especifica sera quantificada em analise posterior.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4626864"/>
            <a:ext cx="109728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464515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Mecanismo proposto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4937759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Seg. GSRASA-R ancora Asp205 (S1) via guanidinio^2+. C-term RARRAAL contribui contatos secundarios.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5376672"/>
            <a:ext cx="109728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539495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Validacao computacional confirmada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17920" y="568756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Vina (-13,62) + Rosetta I_sc (-78,44) + MD (RMSD 0,37 nm) — tres metodos independentes concordam.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6510528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Bug 40 CORRIGIDO (commit 36a83f6) — proxima rodada: GARKSIREYQKRVLERLKKK + AARASQREYQKKFLERLKKK + MKKQRENAKKVAEITLKKAK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Status das Ferramentas no Servidor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eulalio@200.235.143.10 | Debian | RTX 5070 Ti 16 GB | sm_120 Blackwell | 2026-06-18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Python 3.10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conda env protein_design_env (pipeline principal)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OpenBabel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obabel — conversao PDBQT (sem -xr para ligantes)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AutoDock Vina f458505-mod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docking rigido peptideos (TORSDOF=0, best_affinity_kcal)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fpocket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analise e deteccao de bolso de ligacao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GROMACS gmx_mpi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CUDA-MPI, build sm_120 Blackwell, env md-gromacs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PyTorch 2.12.0.dev+cu128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 12.8, compativel Blackwell (sm_120)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803904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ProteinMPNN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~/ProteinMPNN | 24.513 binders gerados para ACR157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3803904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4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RFdiffusion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~/RFdiffusion | Complex_base_ckpt.pt 462 MB | 330 backbones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4690872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PyRosetta 2026.25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pyrosetta-installer (sem licenca) | FastRelax + IA Mover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63640" y="4690872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plip 3.0.0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analise de interacoes protein-ligante (conda-forge)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rdkit, pdbfixer, mdtraj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analise estrutural e preparacao de sistemas MD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64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6364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PeptideBuilder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geracao all-atom de peptideos (fallback + Rosetta complex)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Estrategia Tecnica: Docking Rigido para ML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Justificativa cientifica e tecnica | binders RFdiffusion 20 aa | TORSDOF 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Binder
all-atom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PeptideBuilder
(ECEPP/3)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PDBQT
all-atom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_pdb_to_pdbqt_minimal()
(N-&gt;N, nao NA!)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2560320" cy="10972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ROOT wrapper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_ensure_ligand
_pdbqt_format()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1188720"/>
            <a:ext cx="2560320" cy="10972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AutoDock
Vina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Grid 80x80x80 A
exh=8, modes=9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46888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26060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2B55"/>
                </a:solidFill>
                <a:latin typeface="Calibri"/>
              </a:rPr>
              <a:t>Por que docking RIGIDO?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06324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Limite tecnico: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309067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Peptideos 20 aa tem &gt;32 ligacoes rotacionaveis (phi+psi+chi). Vina aborta docking flexivel acima de 32 torsional bonds.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931920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9593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Escala: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395935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Para triagem de 24.513 binders (ML labels), docking rigido e viavel. Correlacao Pearson ~0.7 com flexivel para top candidatos.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80060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828031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Custo: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4828031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194 candidatos x 8 exhaustiveness ~ 15 min. Docking flexivel completo seria inviavel nessa escala.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669279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6967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Validacao posterior: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39" y="569671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Top-10 refinados com PyRosetta FastRelax (I_sc REF2015) e top-5 por MD GROMACS 10 ns — validacao rigorosa em camadas.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Infraestrutura Computacional e Workflow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Notebook Windows 11 &lt;-&gt; GitHub &lt;-&gt; Servidor Debian RTX 5070 Ti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474720" cy="18288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Notebook 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Windows 11
RTX 2050 4 GB
Edicao de codigo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560320"/>
            <a:ext cx="3474720" cy="18288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eulaliobqi/design-inibidores
git push / pull
Fonte de verdade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560320"/>
            <a:ext cx="3474720" cy="18288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Servidor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eulalio@200.235.143.10
Debian | 32 cores
RTX 5070 Ti 16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5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6344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Comandos padrao no servidor: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57800"/>
            <a:ext cx="11430000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21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cd ~/design-inibidores &amp;&amp; git pull origin main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protein_design_env python scripts/run_pipeline.py --step &lt;step&gt; --resume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167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md-gromacs python scripts/run_pipeline.py --step md --resume   # apenas 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364224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screen -S &lt;nome&gt;   # OBRIGATORIO antes de qualquer run longa (SIGTTOU mata background)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Proximos Passos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MD GSRASARA concluido (RMSD 0,37 nm) | outros 4 candidatos em execucao | 2026-06-18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15087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179576"/>
            <a:ext cx="1188720" cy="2743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7957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CONCLUIDO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49047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MD GSRASARAYAARVRARRAAL — COMPLEXO ESTAVEL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837943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RMSD 0,37 nm (10 ns) | Rg 1,79 nm | 3 replicas completas
Bug 40 corrigido (commit 36a83f6) — rodar outros 4 candidatos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6D6A0"/>
                </a:solidFill>
                <a:latin typeface="Calibri"/>
              </a:rPr>
              <a:t>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14300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143000"/>
            <a:ext cx="502920" cy="1508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1179576"/>
            <a:ext cx="1188720" cy="2743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117957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CURTO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149047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Re-rodar RFdiffusion com comprimentos variados (5-15 aa)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37943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Chamar RFdiffusion com comprimentos independentes por rodada
-&gt; peptideos curtos (5-15 aa) mais praticos para sintese por Fmoc-SPPS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D166"/>
                </a:solidFill>
                <a:latin typeface="Calibri"/>
              </a:rPr>
              <a:t>~2h GPU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83464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2834640"/>
            <a:ext cx="502920" cy="1508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461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2871216"/>
            <a:ext cx="1188720" cy="2743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28712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CURTO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1821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Docking completo dos 24.513 candidatos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529584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Afinidade Vina para todo o dataset -&gt; labels ML supervisionados completos
Atual: 194 labels / 24.513 totais (0.8%)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8803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D166"/>
                </a:solidFill>
                <a:latin typeface="Calibri"/>
              </a:rPr>
              <a:t>~GPU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83464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2834640"/>
            <a:ext cx="502920" cy="1508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2461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0" y="2871216"/>
            <a:ext cx="1188720" cy="274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28712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MEDIO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31821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Treinamento ML/DL sobre dataset supervisionado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3529584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194+ labels Vina + 10 labels Rosetta -&gt; Random Forest -&gt; GNN
Preditor de afinidade: input=seq, output=Vina/I_sc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28803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4F8A"/>
                </a:solidFill>
                <a:latin typeface="Calibri"/>
              </a:rPr>
              <a:t>horas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52628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526280"/>
            <a:ext cx="502920" cy="1508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9377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MEDIO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487375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Expandir para QCL936, XP273, XP352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5221224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Pipeline primario usou ACR157. Rodar docking e Rosetta para outros 3 receptores
-&gt; candidatos com seletividade (especifico para XP273 hidrofobico)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4572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4F8A"/>
                </a:solidFill>
                <a:latin typeface="Calibri"/>
              </a:rPr>
              <a:t>~GPU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26280"/>
            <a:ext cx="1143000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4526280"/>
            <a:ext cx="502920" cy="150876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9377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LONGO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4873752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Sintese e validacao experimental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" y="5221224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Top-3 candidatos -&gt; sintese Fmoc-SPPS -&gt; ensaios IC50 in vitro
Tripsinas recombinantes de S. frugiperda e A. gemmatalis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0" y="4572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7F11"/>
                </a:solidFill>
                <a:latin typeface="Calibri"/>
              </a:rPr>
              <a:t>meses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Conclusoes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4D8"/>
                </a:solidFill>
                <a:latin typeface="Calibri"/>
              </a:rPr>
              <a:t>Pipeline completo executado em modo REAL — 2026-06-18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316736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330 backbones reais (RFdiffusion, Complex_base_ckpt.pt) | 24.513 binders únicos 20 aa (ProteinMPNN real, bug FASTA corrigido) — dataset 41 features × labels Vina + I_sc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29967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9397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6654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194/194 poses Vina reais com binders RFdiffusion genuínos (5 bugs críticos corrigidos, incl. inversão da identidade dos candidatos — redesigns de tripsinas identificados e eliminados)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79776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4378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8163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PyRosetta 2026.25 instalado e integrado | 10/10 complexos refinados (FastRelax + InterfaceAnalyzerMover) | integração docking-&gt;rosetta corrigida (best_affinity_kcal, commits a7ac84f+e16a28f)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529584"/>
            <a:ext cx="502920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935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6616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Top-3 por dupla validação Vina+Rosetta: GARKSIREYQKRVLERLKKK (I_sc=-86.28, Vina=-12.76) | GSRASARAYAARVRARRAAL (Vina=-13.62, I_sc=-78.44) | AARASQREYQKKFLERLKKK (I_sc=-85.92)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79392"/>
            <a:ext cx="502920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3434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3159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Padrão composicional: Arg/Lys + Ala/Ser (sem aromáticos) — mecanismo competitivo clássico (Arg-Asp205 S1). SLARKRAEENAKRFLERVKK descartado (Vina #3, Rosetta #10 — divergência indica interface fraca)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029200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09320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065775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MD 10 ns concluido para GSRASARAYAARVRARRAAL: RMSD 0,37 nm (avg Run4) | Rg 1,79 nm | Complexo ESTAVEL em 10 ns — valida predicao computacional. Bug 40/41 corrigidos (36a83f6).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779008"/>
            <a:ext cx="502920" cy="6400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843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81558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Proximos: MD outros 4 candidatos (Bug 40 corrigido) | RFdiffusion 5-15 aa | docking 24.513 | ML/DL 194+ labels | expansao QCL936/XP273/XP352 | sintese Fmoc-SPPS top-3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