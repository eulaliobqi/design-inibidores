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28600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526280"/>
            <a:ext cx="12188952" cy="4572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8229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Calibri"/>
              </a:rPr>
              <a:t>Design Racional de Inibidores Peptídicos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0B4D8"/>
                </a:solidFill>
                <a:latin typeface="Calibri"/>
              </a:rPr>
              <a:t>de Tripsinas de Lepidoptera por IA Generativa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F0F4F8"/>
                </a:solidFill>
                <a:latin typeface="Calibri"/>
              </a:rPr>
              <a:t>Pipeline Multiagente: RFdiffusion → ProteinMPNN → Rosetta → Vina → GROMACS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7091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0F4F8"/>
                </a:solidFill>
                <a:latin typeface="Calibri"/>
              </a:rPr>
              <a:t>Eulalio B. Q. Santos  |  UFV Viçosa-MG  |  eulalio.santos@ufv.br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120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0B4D8"/>
                </a:solidFill>
                <a:latin typeface="Calibri"/>
              </a:rPr>
              <a:t>github.com/eulaliobqi/design-inibidores  |  Junho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669280"/>
            <a:ext cx="178308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5687568"/>
            <a:ext cx="1691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RFdiffusion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68880" y="5669280"/>
            <a:ext cx="178308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14600" y="5687568"/>
            <a:ext cx="1691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ProteinMPNN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5669280"/>
            <a:ext cx="1783080" cy="3474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5687568"/>
            <a:ext cx="1691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AutoDock Vina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5669280"/>
            <a:ext cx="1783080" cy="3474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5687568"/>
            <a:ext cx="1691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GROMACS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5669280"/>
            <a:ext cx="178308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20" y="5687568"/>
            <a:ext cx="1691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PyTorch 2.11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149840" y="5669280"/>
            <a:ext cx="178308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95560" y="5687568"/>
            <a:ext cx="16916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Python 3.10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1/15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Contextualização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Por que inibidores de tripsinas de Lepidoptera?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5303520" cy="50292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B4D8"/>
                </a:solidFill>
                <a:latin typeface="Calibri"/>
              </a:rPr>
              <a:t>O PROBLEMA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91640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🌱  Spodoptera frugiperda e Agrotis gemmatalis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112264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      causam bilhões USD/ano em perdas agrícolas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532888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953512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🧪  Inseticidas químicos: resistência crescente,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374136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      toxicidade ambiental e resíduos em alimentos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794760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215384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🎯  Tripsinas digestivas são essenciais para 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636008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      desenvolvimento larval — alvos comprovados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056632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477256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❓  Quais peptídeos inibem essas tripsinas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897880"/>
            <a:ext cx="50292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4F8"/>
                </a:solidFill>
                <a:latin typeface="Calibri"/>
              </a:rPr>
              <a:t>      com alta seletividade e baixa toxicidade?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1143000"/>
            <a:ext cx="5760720" cy="502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35040" y="1143000"/>
            <a:ext cx="576072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1234440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2B55"/>
                </a:solidFill>
                <a:latin typeface="Calibri"/>
              </a:rPr>
              <a:t>A OPORTUNIDADE DA IA GENERATIVA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169164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✦  RFdiffusion (Nature 2023): gera backbones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203911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    proteicos condicionados a sítios de ligação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200" y="238658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200" y="2734056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✦  ProteinMPNN (Science 2022): otimiza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2200" y="3081528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    sequências para backbones de interesse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2200" y="34290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3776472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✦  AutoDock Vina: triagem de afinidade em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200" y="412394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    larga escala (kcal/mol) para 14.923 seqs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2200" y="4471416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/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4818888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✦  GROMACS / AMBER: validação dinâmica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72200" y="516636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    dos top candidatos (10–100 ns)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72200" y="5513831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2200" y="5861304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✦  Dataset ML/DL: 14.923 seqs × 41 features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72200" y="6208776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    para treinar modelos preditivos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2/15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Objetivos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Design computacional racional + dataset para ML/DL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D2B55"/>
                </a:solidFill>
                <a:latin typeface="Calibri"/>
              </a:rPr>
              <a:t>Objetivo geral: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0876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333344"/>
                </a:solidFill>
                <a:latin typeface="Calibri"/>
              </a:rPr>
              <a:t>Gerar e validar computacionalmente peptídeos inibidores de tripsinas digestivas de Lepidoptera-praga usando pipeline multiagente de IA generativa estrutural, produzindo simultaneamente um dataset ML/DL supervisionado para treinamento de modelos preditivos.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231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D2B55"/>
                </a:solidFill>
                <a:latin typeface="Calibri"/>
              </a:rPr>
              <a:t>Objetivos específicos: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834640"/>
            <a:ext cx="411480" cy="38404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83464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1.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862072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44"/>
                </a:solidFill>
                <a:latin typeface="Calibri"/>
              </a:rPr>
              <a:t>Identificar resíduos catalíticos e bolso S1 de 4 tripsinas lepidópteras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337560"/>
            <a:ext cx="411480" cy="38404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33756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364991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44"/>
                </a:solidFill>
                <a:latin typeface="Calibri"/>
              </a:rPr>
              <a:t>Gerar 30 backbones peptídicos (5–20 aa) via RFdiffusion ancorados ao sítio S1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40480"/>
            <a:ext cx="411480" cy="38404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84048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3.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867912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44"/>
                </a:solidFill>
                <a:latin typeface="Calibri"/>
              </a:rPr>
              <a:t>Produzir 14.923 sequências únicas por 10 estratégias complementares (ProteinMPNN)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343400"/>
            <a:ext cx="411480" cy="38404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34340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4.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370832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44"/>
                </a:solidFill>
                <a:latin typeface="Calibri"/>
              </a:rPr>
              <a:t>Anotar 41 features físico-químicas para cada sequência (dataset ML/DL)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846320"/>
            <a:ext cx="411480" cy="38404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84632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5.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873752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44"/>
                </a:solidFill>
                <a:latin typeface="Calibri"/>
              </a:rPr>
              <a:t>Obter energias de afinidade Vina (kcal/mol) como labels supervisionados reais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349240"/>
            <a:ext cx="411480" cy="38404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34924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6.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376672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44"/>
                </a:solidFill>
                <a:latin typeface="Calibri"/>
              </a:rPr>
              <a:t>Validar estabilidade dos top-5 candidatos por dinâmica molecular (GROMACS)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852160"/>
            <a:ext cx="411480" cy="384048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585216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7.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5879592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33344"/>
                </a:solidFill>
                <a:latin typeface="Calibri"/>
              </a:rPr>
              <a:t>Identificar candidatos prioritários para síntese e ensaios biológicos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3/15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Pipeline Multiagente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10 módulos especializados com fallback heurístico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143000"/>
            <a:ext cx="2057400" cy="21031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120700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06D6A0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55448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Structure
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214884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Sítio S1
Hotspots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196596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24328" y="1143000"/>
            <a:ext cx="2057400" cy="210312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88336" y="120700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15768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D166"/>
                </a:solidFill>
                <a:latin typeface="Calibr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0248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FFD166"/>
                </a:solidFill>
                <a:latin typeface="Calibri"/>
              </a:rPr>
              <a:t>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15768" y="155448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RFdiffusion
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15768" y="214884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30 backbones
5–20 aa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81728" y="196596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28616" y="1143000"/>
            <a:ext cx="2057400" cy="210312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992624" y="120700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0055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D166"/>
                </a:solidFill>
                <a:latin typeface="Calibr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74536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FFD166"/>
                </a:solidFill>
                <a:latin typeface="Calibri"/>
              </a:rPr>
              <a:t>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0055" y="155448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ProteinMPNN
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0055" y="214884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14.923
sequências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196596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32904" y="1143000"/>
            <a:ext cx="2057400" cy="2103120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296912" y="120700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24344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76F"/>
                </a:solidFill>
                <a:latin typeface="Calibri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78824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EF476F"/>
                </a:solidFill>
                <a:latin typeface="Calibri"/>
              </a:rPr>
              <a:t>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24344" y="155448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Rosetta
Agent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24344" y="214884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FlexPep
Dock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90304" y="196596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537192" y="1143000"/>
            <a:ext cx="2057400" cy="210312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601200" y="120700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28632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D166"/>
                </a:solidFill>
                <a:latin typeface="Calibri"/>
              </a:rP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83112" y="12344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FFD166"/>
                </a:solidFill>
                <a:latin typeface="Calibri"/>
              </a:rPr>
              <a:t>◑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28632" y="155448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Docking
Agent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28632" y="214884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Vina
kcal/mol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3611880"/>
            <a:ext cx="2057400" cy="2103120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84048" y="367588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79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76F"/>
                </a:solidFill>
                <a:latin typeface="Calibri"/>
              </a:rPr>
              <a:t>06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65960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EF476F"/>
                </a:solidFill>
                <a:latin typeface="Calibri"/>
              </a:rPr>
              <a:t>✗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1479" y="402336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MD Agent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1479" y="461772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GROMACS
10 ns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377440" y="443484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24328" y="3611880"/>
            <a:ext cx="2057400" cy="210312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688336" y="367588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715768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D166"/>
                </a:solidFill>
                <a:latin typeface="Calibri"/>
              </a:rPr>
              <a:t>07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70248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FFD166"/>
                </a:solidFill>
                <a:latin typeface="Calibri"/>
              </a:rPr>
              <a:t>◑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715768" y="402336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Ranking
Agent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715768" y="461772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Score
composto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681728" y="443484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28616" y="3611880"/>
            <a:ext cx="2057400" cy="21031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992624" y="367588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20055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  <a:latin typeface="Calibri"/>
              </a:rPr>
              <a:t>08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74536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06D6A0"/>
                </a:solidFill>
                <a:latin typeface="Calibri"/>
              </a:rPr>
              <a:t>✓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20055" y="402336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Visualize
Agent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20055" y="461772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6 figuras
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86016" y="443484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232904" y="3611880"/>
            <a:ext cx="2057400" cy="21031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296912" y="367588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324344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D6A0"/>
                </a:solidFill>
                <a:latin typeface="Calibri"/>
              </a:rPr>
              <a:t>09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878824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06D6A0"/>
                </a:solidFill>
                <a:latin typeface="Calibri"/>
              </a:rPr>
              <a:t>✓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24344" y="402336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Report
Agent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24344" y="461772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HTML + MD
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290304" y="4434840"/>
            <a:ext cx="246888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37192" y="3611880"/>
            <a:ext cx="2057400" cy="2103120"/>
          </a:xfrm>
          <a:prstGeom prst="rect">
            <a:avLst/>
          </a:prstGeom>
          <a:solidFill>
            <a:srgbClr val="333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601200" y="3675888"/>
            <a:ext cx="1929384" cy="19751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628632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33344"/>
                </a:solidFill>
                <a:latin typeface="Calibri"/>
              </a:rPr>
              <a:t>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183112" y="37033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1" i="0">
                <a:solidFill>
                  <a:srgbClr val="333344"/>
                </a:solidFill>
                <a:latin typeface="Calibri"/>
              </a:rPr>
              <a:t>—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628632" y="4023360"/>
            <a:ext cx="1874519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Optimize
Agent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28632" y="4617720"/>
            <a:ext cx="187451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Redesign
top-10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20040" y="6492240"/>
            <a:ext cx="274320" cy="22860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94360" y="646480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 Concluído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606040" y="6492240"/>
            <a:ext cx="274320" cy="22860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880360" y="646480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 Em progresso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892040" y="6492240"/>
            <a:ext cx="274320" cy="228600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166360" y="646480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33344"/>
                </a:solidFill>
                <a:latin typeface="Calibri"/>
              </a:rPr>
              <a:t> Pendente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4/15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Alvo Molecular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Tripsinas digestivas de Lepidoptera-praga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2B55"/>
                </a:solidFill>
                <a:latin typeface="Calibri"/>
              </a:rPr>
              <a:t>4 modelos estruturais de tripsinas: ACR157, QCL936, XP273, XP352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554480"/>
            <a:ext cx="128016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572768"/>
            <a:ext cx="118871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Modelo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45919" y="1554480"/>
            <a:ext cx="146304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91639" y="157276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His/Tyr (Cat)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0" y="1554480"/>
            <a:ext cx="132588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54679" y="1572768"/>
            <a:ext cx="12344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Asp (Tríade)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1554480"/>
            <a:ext cx="141732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0" y="1572768"/>
            <a:ext cx="1325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Ser/Ala (Nuc)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2160" y="1554480"/>
            <a:ext cx="118872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97880" y="1572768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S1 (Esp)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0" y="1554480"/>
            <a:ext cx="242316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6600" y="1572768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Centro (X,Y,Z) 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1938528"/>
            <a:ext cx="12801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1956816"/>
            <a:ext cx="11887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ACR157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45919" y="1938528"/>
            <a:ext cx="146304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691639" y="195681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His69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08960" y="1938528"/>
            <a:ext cx="13258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54679" y="1956816"/>
            <a:ext cx="1234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Asp114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34840" y="1938528"/>
            <a:ext cx="14173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0560" y="1956816"/>
            <a:ext cx="1325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Ser211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52160" y="1938528"/>
            <a:ext cx="11887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97880" y="1956816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Asp205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40880" y="1938528"/>
            <a:ext cx="24231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86600" y="1956816"/>
            <a:ext cx="2331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7.09 / −1.15 / −1.63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304288"/>
            <a:ext cx="128016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2322576"/>
            <a:ext cx="11887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QCL936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45919" y="2304288"/>
            <a:ext cx="146304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691639" y="232257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His92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08960" y="2304288"/>
            <a:ext cx="132588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154679" y="2322576"/>
            <a:ext cx="1234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Asp142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434840" y="2304288"/>
            <a:ext cx="141732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80560" y="2322576"/>
            <a:ext cx="1325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Ser247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52160" y="2304288"/>
            <a:ext cx="118872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897880" y="2322576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Asp241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040880" y="2304288"/>
            <a:ext cx="242316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86600" y="2322576"/>
            <a:ext cx="2331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2.94 / 5.55 / −0.32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2670048"/>
            <a:ext cx="12801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2688336"/>
            <a:ext cx="11887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XP273 ★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645919" y="2670048"/>
            <a:ext cx="146304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691639" y="268833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Tyr83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108960" y="2670048"/>
            <a:ext cx="132588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54679" y="2688336"/>
            <a:ext cx="1234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Asp132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434840" y="2670048"/>
            <a:ext cx="14173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80560" y="2688336"/>
            <a:ext cx="1325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Ser234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852160" y="2670048"/>
            <a:ext cx="118872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897880" y="2688336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Ile229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040880" y="2670048"/>
            <a:ext cx="2423160" cy="3657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086600" y="2688336"/>
            <a:ext cx="2331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1.67 / 8.29 / −0.34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3035808"/>
            <a:ext cx="128016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3054096"/>
            <a:ext cx="11887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XP352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645919" y="3035808"/>
            <a:ext cx="146304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691639" y="305409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His112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108960" y="3035808"/>
            <a:ext cx="132588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154679" y="3054096"/>
            <a:ext cx="1234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Asp166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434840" y="3035808"/>
            <a:ext cx="141732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480560" y="3054096"/>
            <a:ext cx="1325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Ala268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852160" y="3035808"/>
            <a:ext cx="118872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897880" y="3054096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Asp262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040880" y="3035808"/>
            <a:ext cx="2423160" cy="365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086600" y="3054096"/>
            <a:ext cx="2331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−1.26 / 5.60 / −5.25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65760" y="3401568"/>
            <a:ext cx="128016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1480" y="3419856"/>
            <a:ext cx="118871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Consenso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645919" y="3401568"/>
            <a:ext cx="146304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91639" y="341985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—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108960" y="3401568"/>
            <a:ext cx="132588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154679" y="3419856"/>
            <a:ext cx="12344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—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434840" y="3401568"/>
            <a:ext cx="141732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480560" y="3419856"/>
            <a:ext cx="1325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—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852160" y="3401568"/>
            <a:ext cx="118872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897880" y="3419856"/>
            <a:ext cx="1097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—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040880" y="3401568"/>
            <a:ext cx="242316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086600" y="3419856"/>
            <a:ext cx="2331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2.61 / 4.57 / −1.89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4480560"/>
            <a:ext cx="11430000" cy="132588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365760" y="4480560"/>
            <a:ext cx="73152" cy="132588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48640" y="4526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2B55"/>
                </a:solidFill>
                <a:latin typeface="Calibri"/>
              </a:rPr>
              <a:t>★ XP273 — Tripsina Atípica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48640" y="4892040"/>
            <a:ext cx="10972800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• Tyr83 substitui a His catalítica canônica (His-Asp-Ser)
• Ile229 no bolso S1 (ao invés de Asp) → especificidade por resíduos HIDROFÓBICOS (Leu, Ile, Val)
• Justifica a NÃO restrição de P1 no pipeline de geração — permite explorar mecanismos não canônicos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65760" y="5897880"/>
            <a:ext cx="11430000" cy="6858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48640" y="59893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Calibri"/>
              </a:rPr>
              <a:t>Grid box Vina (consenso):  centro = [2.61, 4.57, −1.89] Å  |  tamanho = 25×25×25 Å  |  exaustividade = 8  |  modos = 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5/15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Geração de Backbones Peptídicos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RFdiffusion (fallback: PeptideBuilder poly-Ala)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5303520" cy="53035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B4D8"/>
                </a:solidFill>
                <a:latin typeface="Calibri"/>
              </a:rPr>
              <a:t>RFdiffusion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002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F0F4F8"/>
                </a:solidFill>
                <a:latin typeface="Calibri"/>
              </a:rPr>
              <a:t>Watson et al., Nature 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96596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Modelo de difusão estrutural treinado 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267712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PDB → gera backbones condicional ao sítio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569464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2871215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Parâmetros: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172968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  noise_scale_ca  = 0.2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47472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  noise_scale_frame = 0.1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776472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  hotspot_radius = 6.0 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078224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  contig: A1-N/0 L-L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379976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681728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Status no servidor: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98348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  ✓ git clone ~/RFdiffusion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285232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D166"/>
                </a:solidFill>
                <a:latin typeface="Calibri"/>
              </a:rPr>
              <a:t>  ◑ Base_ckpt.pt em download (~2 GB)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586983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D166"/>
                </a:solidFill>
                <a:latin typeface="Calibri"/>
              </a:rPr>
              <a:t>  ◑ Backbones reais pendentes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888736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190488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Fallback atual: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92240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  → PeptideBuilder (poly-Ala linear)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793992"/>
            <a:ext cx="49377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  → 30 backbones gerados com sucesso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35040" y="1143000"/>
            <a:ext cx="5760720" cy="5303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17920" y="118872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2B55"/>
                </a:solidFill>
                <a:latin typeface="Calibri"/>
              </a:rPr>
              <a:t>Backbones gerados (modo atual)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6480" y="1645920"/>
            <a:ext cx="146304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72200" y="1664208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Comprimento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89520" y="1645920"/>
            <a:ext cx="109728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35240" y="1664208"/>
            <a:ext cx="1005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Backbones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86800" y="1645920"/>
            <a:ext cx="146304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732520" y="1664208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Modo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149840" y="1645920"/>
            <a:ext cx="164592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95560" y="1664208"/>
            <a:ext cx="1554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Seqs únicas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26480" y="2011680"/>
            <a:ext cx="146304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72200" y="2029968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5 aa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589520" y="2011680"/>
            <a:ext cx="109728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35240" y="2029968"/>
            <a:ext cx="10058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686800" y="2011680"/>
            <a:ext cx="146304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32520" y="2029968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Fallback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149840" y="2011680"/>
            <a:ext cx="164592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95560" y="2029968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2.490 seqs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26480" y="2359152"/>
            <a:ext cx="14630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72200" y="2377440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7 aa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589520" y="2359152"/>
            <a:ext cx="10972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35240" y="2377440"/>
            <a:ext cx="10058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686800" y="2359152"/>
            <a:ext cx="14630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732520" y="2377440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Fallback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149840" y="2359152"/>
            <a:ext cx="16459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195560" y="2377440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2.490 seqs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126480" y="2706624"/>
            <a:ext cx="146304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72200" y="2724912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10 aa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589520" y="2706624"/>
            <a:ext cx="109728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635240" y="2724912"/>
            <a:ext cx="10058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686800" y="2706624"/>
            <a:ext cx="146304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732520" y="2724912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Fallback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149840" y="2706624"/>
            <a:ext cx="164592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195560" y="2724912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2.490 seqs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26480" y="3054096"/>
            <a:ext cx="14630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172200" y="3072384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12 aa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589520" y="3054096"/>
            <a:ext cx="10972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635240" y="3072384"/>
            <a:ext cx="10058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5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686800" y="3054096"/>
            <a:ext cx="14630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732520" y="3072384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Fallback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149840" y="3054096"/>
            <a:ext cx="16459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195560" y="3072384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2.490 seqs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26480" y="3401568"/>
            <a:ext cx="146304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172200" y="3419856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15 aa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589520" y="3401568"/>
            <a:ext cx="109728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635240" y="3419856"/>
            <a:ext cx="10058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686800" y="3401568"/>
            <a:ext cx="146304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732520" y="3419856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Fallback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149840" y="3401568"/>
            <a:ext cx="1645920" cy="3474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195560" y="3419856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2.490 seqs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26480" y="3749039"/>
            <a:ext cx="14630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72200" y="3767328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20 aa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589520" y="3749039"/>
            <a:ext cx="109728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635240" y="3767328"/>
            <a:ext cx="1005839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5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686800" y="3749039"/>
            <a:ext cx="14630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732520" y="3767328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Fallback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149840" y="3749039"/>
            <a:ext cx="16459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195560" y="3767328"/>
            <a:ext cx="1554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2.483 seqs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126480" y="4096512"/>
            <a:ext cx="566928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172200" y="411480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Total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635240" y="4114800"/>
            <a:ext cx="1005839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195560" y="4114800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6D6A0"/>
                </a:solidFill>
                <a:latin typeface="Calibri"/>
              </a:rPr>
              <a:t>14.923 únicas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6/15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Geração de Sequências — ProteinMPNN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10 estratégias complementares × 500 seqs/backbone → 14.923 únicas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143000"/>
            <a:ext cx="73152" cy="9144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03520" y="1188720"/>
            <a:ext cx="68580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118872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197864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random_uniform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581912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Cobertura uniforme do espaço composicional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143000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143000"/>
            <a:ext cx="73152" cy="9144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201400" y="1188720"/>
            <a:ext cx="68580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201400" y="118872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1197864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hydrophobic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1581912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Inibição alostérica/hidrofóbica (AILMFWV)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167128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2167128"/>
            <a:ext cx="73152" cy="91440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303520" y="2212848"/>
            <a:ext cx="685800" cy="3474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0" y="2212848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221992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charged_positive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60604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Inibição competitiva clássica (R/K no P1)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2167128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63640" y="2167128"/>
            <a:ext cx="73152" cy="9144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201400" y="2212848"/>
            <a:ext cx="68580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201400" y="2212848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2221992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charged_negative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6520" y="260604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Interações eletrostáticas alternativas (D/E)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3191256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3191256"/>
            <a:ext cx="73152" cy="9144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303520" y="3236976"/>
            <a:ext cx="68580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0" y="3236976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3246120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aromatic_cterminal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3630168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Contatos com subsítios S1'/S2' (Y/W/F C-term)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63640" y="3191256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63640" y="3191256"/>
            <a:ext cx="73152" cy="9144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1201400" y="3236976"/>
            <a:ext cx="68580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201400" y="3236976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46520" y="3246120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aromatic_nterminal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46520" y="3630168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β-hairpin mimético (Y/W/F N-terminal)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4215384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65760" y="4215384"/>
            <a:ext cx="73152" cy="9144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303520" y="4261104"/>
            <a:ext cx="68580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03520" y="4261104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4270248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amphipathic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4654296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α-hélice anfipática (carga + hidrofóbico alt)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63640" y="4215384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263640" y="4215384"/>
            <a:ext cx="73152" cy="9144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1201400" y="4261104"/>
            <a:ext cx="68580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201400" y="4261104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46520" y="4270248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proline_rich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46520" y="4654296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Scaffold PPII rígido (Pro a cada 3 pos.)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5239512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65760" y="5239512"/>
            <a:ext cx="73152" cy="914400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303520" y="5285232"/>
            <a:ext cx="685800" cy="347472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303520" y="5285232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8640" y="529437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motif_seeded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48640" y="5678424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Seeds BPTI/SKTI + mutações pontuais (~3 pos)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63640" y="5239512"/>
            <a:ext cx="56692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263640" y="5239512"/>
            <a:ext cx="73152" cy="9144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1201400" y="5285232"/>
            <a:ext cx="685800" cy="347472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201400" y="5285232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46520" y="5294376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glycine_scan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46520" y="5678424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Mapeamento de flexibilidade (Gly por posição)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6126480"/>
            <a:ext cx="11430000" cy="59436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619963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B4D8"/>
                </a:solidFill>
                <a:latin typeface="Calibri"/>
              </a:rPr>
              <a:t>14.923 sequências únicas  |  41 features físico-químicas  |  Seeds BPTI/SKTI incluídos (is_known_inhibitor=1)  |  Cys excluídas automaticamente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7/15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Dataset ML/DL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14.923 sequências × 41 features calculadas analiticamente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09728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4F8A"/>
                </a:solidFill>
                <a:latin typeface="Calibri"/>
              </a:rPr>
              <a:t>Arquivo: outputs/dataset/ml_training_dataset.csv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554480"/>
            <a:ext cx="5394960" cy="1453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554480"/>
            <a:ext cx="539496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58191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Globais (7)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965960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length, mw_da, net_charge (pH 7)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29514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isoelectric_point, instability_index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624328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aliphatic_index, boman_index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200400"/>
            <a:ext cx="5394960" cy="11064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3200400"/>
            <a:ext cx="5394960" cy="36576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22783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Hidrofobicidade (2)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611880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hydrophobicity_kd (Kyte-Doolittle)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94106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frac_hydrophobic (AILMFWV)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343400"/>
            <a:ext cx="5394960" cy="11064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539496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37083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Composição por classe (3)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754880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frac_aromatic, frac_charged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08406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n_arg_lys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303520"/>
            <a:ext cx="5394960" cy="11064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5303520"/>
            <a:ext cx="5394960" cy="365760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33095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Features binárias (3)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715000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has_aromatic_cterminal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04418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has_charged_nterminal, has_pro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0" y="1554480"/>
            <a:ext cx="5394960" cy="2148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943600" y="1554480"/>
            <a:ext cx="5394960" cy="36576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35040" y="158191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Composição AA (19)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60" y="1965960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frac_A, frac_D, frac_E, frac_F,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0760" y="229514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frac_G, frac_H, frac_I, frac_K,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0760" y="2624328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frac_L, frac_M, frac_N, frac_P,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2953512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frac_Q, frac_R, frac_S, frac_T,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80760" y="3282696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frac_V, frac_W, frac_Y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43600" y="4114800"/>
            <a:ext cx="5394960" cy="1453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943600" y="4114800"/>
            <a:ext cx="5394960" cy="3657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35040" y="414223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Labels (3)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80760" y="4526280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vina_affinity_kcal  ← Vina real (kcal/mol)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80760" y="485546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rosetta_I_sc  ← FlexPepDock I_sc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80760" y="5184648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final_score  ← score composto normalizado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0" y="5577840"/>
            <a:ext cx="5394960" cy="11064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943600" y="5577840"/>
            <a:ext cx="5394960" cy="36576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35040" y="560527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Metadados (3)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80760" y="5989320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sequence, length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80760" y="6318504"/>
            <a:ext cx="5166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is_known_inhibitor (BPTI/SKTI=1)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8/15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Docking Molecular — AutoDock Vina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Triagem de 200 candidatos rígidos · 5 bugs corrigidos · aguarda re-run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11430000" cy="59436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143000"/>
            <a:ext cx="91440" cy="59436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0700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33344"/>
                </a:solidFill>
                <a:latin typeface="Calibri"/>
              </a:rPr>
              <a:t>✓  AutoDock Vina f458505-mod instalado  |  ✓ obabel (PDBQT all-atom)  |  ◑  Re-execução pendente após commit 84e5c0b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874519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2B55"/>
                </a:solidFill>
                <a:latin typeface="Calibri"/>
              </a:rPr>
              <a:t>Histórico de correções do módulo de docking: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331720"/>
            <a:ext cx="411480" cy="68580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496312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2331720"/>
            <a:ext cx="1101852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368296"/>
            <a:ext cx="7132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atom.set_vector() → atom.coord +=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679191"/>
            <a:ext cx="7132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BioPython: método inexistente → fallback CA-only silencioso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2496312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4F8A"/>
                </a:solidFill>
                <a:latin typeface="Calibri"/>
              </a:rPr>
              <a:t>04f20a3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136391"/>
            <a:ext cx="411480" cy="68580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3300984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136391"/>
            <a:ext cx="11018520" cy="6858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172968"/>
            <a:ext cx="7132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Cache receptor.pdbqt (2 kB inválido)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3483863"/>
            <a:ext cx="7132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Reutilizava arquivo mínimo sem H; threshold → 5 kB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0" y="3300984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4F8A"/>
                </a:solidFill>
                <a:latin typeface="Calibri"/>
              </a:rPr>
              <a:t>937a7dc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941063"/>
            <a:ext cx="411480" cy="68580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4105655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3941063"/>
            <a:ext cx="1101852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3977639"/>
            <a:ext cx="7132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Peptídeos rígidos via obabel -xr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4288536"/>
            <a:ext cx="7132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&gt;32 torsional bonds → Vina rejeita docking flexível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0" y="4105655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4F8A"/>
                </a:solidFill>
                <a:latin typeface="Calibri"/>
              </a:rPr>
              <a:t>50b5d47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745736"/>
            <a:ext cx="411480" cy="68580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4910327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4745736"/>
            <a:ext cx="11018520" cy="6858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4782312"/>
            <a:ext cx="7132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--log não suportado em f458505-mod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" y="5093207"/>
            <a:ext cx="7132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Fork removeu argumento; captura via stdout/stderr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4910327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4F8A"/>
                </a:solidFill>
                <a:latin typeface="Calibri"/>
              </a:rPr>
              <a:t>552f7e7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5550408"/>
            <a:ext cx="411480" cy="68580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5715000"/>
            <a:ext cx="411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" y="5550408"/>
            <a:ext cx="1101852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" y="5586984"/>
            <a:ext cx="7132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PDBQT sem ROOT/ENDROOT/TORSDOF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5897880"/>
            <a:ext cx="7132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obabel gera formato receptor; _ensure_ligand_pdbqt_format()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01000" y="5715000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4F8A"/>
                </a:solidFill>
                <a:latin typeface="Calibri"/>
              </a:rPr>
              <a:t>84e5c0b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9/15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Top-20 Candidatos — Ranking Heurístico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vina_affinity = null (aguarda re-run) · score = n_hb × 0.20 + n_alk × 0.10 + n_vina × 0.35 + ...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143000"/>
            <a:ext cx="45720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1170432"/>
            <a:ext cx="402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Rank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1143000"/>
            <a:ext cx="384048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170432"/>
            <a:ext cx="378561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Sequência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17720" y="1143000"/>
            <a:ext cx="45720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2" y="1170432"/>
            <a:ext cx="402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74920" y="1143000"/>
            <a:ext cx="68580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02352" y="1170432"/>
            <a:ext cx="6309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Score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60720" y="1143000"/>
            <a:ext cx="50292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88152" y="1170432"/>
            <a:ext cx="44805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R+K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1143000"/>
            <a:ext cx="68580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91072" y="1170432"/>
            <a:ext cx="6309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Carga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49440" y="1143000"/>
            <a:ext cx="868680" cy="384048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76872" y="1170432"/>
            <a:ext cx="8138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MW(Da)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1527048"/>
            <a:ext cx="45720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7472" y="1545336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1527048"/>
            <a:ext cx="384048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1545336"/>
            <a:ext cx="3749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B55"/>
                </a:solidFill>
                <a:latin typeface="Calibri"/>
              </a:rPr>
              <a:t>RRHKERRKTMKSRVRVSRWK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617720" y="1527048"/>
            <a:ext cx="45720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45152" y="1545336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74920" y="1527048"/>
            <a:ext cx="68580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02352" y="1545336"/>
            <a:ext cx="630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0.650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760720" y="1527048"/>
            <a:ext cx="50292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88152" y="1545336"/>
            <a:ext cx="4480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11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63640" y="1527048"/>
            <a:ext cx="68580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91072" y="1545336"/>
            <a:ext cx="630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+10.1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949440" y="1527048"/>
            <a:ext cx="86868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76872" y="1545336"/>
            <a:ext cx="8138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2681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1856231"/>
            <a:ext cx="45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7472" y="1874519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" y="1856231"/>
            <a:ext cx="38404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1874519"/>
            <a:ext cx="3749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B55"/>
                </a:solidFill>
                <a:latin typeface="Calibri"/>
              </a:rPr>
              <a:t>RRYKKKRRKYKQMDH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617720" y="1856231"/>
            <a:ext cx="45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645152" y="1874519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15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74920" y="1856231"/>
            <a:ext cx="6858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02352" y="1874519"/>
            <a:ext cx="630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0.595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760720" y="1856231"/>
            <a:ext cx="5029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88152" y="1874519"/>
            <a:ext cx="4480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9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63640" y="1856231"/>
            <a:ext cx="6858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91072" y="1874519"/>
            <a:ext cx="630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+8.1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49440" y="1856231"/>
            <a:ext cx="8686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6872" y="1874519"/>
            <a:ext cx="8138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2122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" y="2185415"/>
            <a:ext cx="45720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47472" y="220370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77240" y="2185415"/>
            <a:ext cx="384048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22960" y="2203704"/>
            <a:ext cx="3749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B55"/>
                </a:solidFill>
                <a:latin typeface="Calibri"/>
              </a:rPr>
              <a:t>YPRTRNIRKIWRPRVRRRTL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617720" y="2185415"/>
            <a:ext cx="45720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645152" y="220370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74920" y="2185415"/>
            <a:ext cx="68580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102352" y="2203704"/>
            <a:ext cx="630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0.595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760720" y="2185415"/>
            <a:ext cx="50292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788152" y="2203704"/>
            <a:ext cx="4480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9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63640" y="2185415"/>
            <a:ext cx="68580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291072" y="2203704"/>
            <a:ext cx="630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+9.0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949440" y="2185415"/>
            <a:ext cx="86868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976872" y="2203704"/>
            <a:ext cx="8138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2694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20040" y="2514600"/>
            <a:ext cx="45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47472" y="2532888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4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77240" y="2514600"/>
            <a:ext cx="38404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22960" y="2532888"/>
            <a:ext cx="3749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B55"/>
                </a:solidFill>
                <a:latin typeface="Calibri"/>
              </a:rPr>
              <a:t>WKRMKMQYTKLRKDKDGFVR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617720" y="2514600"/>
            <a:ext cx="45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645152" y="2532888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74920" y="2514600"/>
            <a:ext cx="6858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102352" y="2532888"/>
            <a:ext cx="630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0.568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760720" y="2514600"/>
            <a:ext cx="5029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788152" y="2532888"/>
            <a:ext cx="4480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8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63640" y="2514600"/>
            <a:ext cx="6858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91072" y="2532888"/>
            <a:ext cx="630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+6.0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949440" y="2514600"/>
            <a:ext cx="8686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976872" y="2532888"/>
            <a:ext cx="8138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2615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20040" y="2843784"/>
            <a:ext cx="45720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47472" y="2862072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5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77240" y="2843784"/>
            <a:ext cx="384048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2960" y="2862072"/>
            <a:ext cx="3749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B55"/>
                </a:solidFill>
                <a:latin typeface="Calibri"/>
              </a:rPr>
              <a:t>KRRMRAPMTKMRRIG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617720" y="2843784"/>
            <a:ext cx="45720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645152" y="2862072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15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074920" y="2843784"/>
            <a:ext cx="68580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102352" y="2862072"/>
            <a:ext cx="630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0.541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760720" y="2843784"/>
            <a:ext cx="50292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88152" y="2862072"/>
            <a:ext cx="4480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7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263640" y="2843784"/>
            <a:ext cx="68580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91072" y="2862072"/>
            <a:ext cx="630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+7.0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949440" y="2843784"/>
            <a:ext cx="86868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976872" y="2862072"/>
            <a:ext cx="8138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1888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20040" y="3172968"/>
            <a:ext cx="45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47472" y="3191256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6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77240" y="3172968"/>
            <a:ext cx="38404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2960" y="3191256"/>
            <a:ext cx="3749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B55"/>
                </a:solidFill>
                <a:latin typeface="Calibri"/>
              </a:rPr>
              <a:t>RVWVFRFREMKWIHNRRKWV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617720" y="3172968"/>
            <a:ext cx="45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645152" y="3191256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074920" y="3172968"/>
            <a:ext cx="6858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102352" y="3191256"/>
            <a:ext cx="630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0.541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760720" y="3172968"/>
            <a:ext cx="5029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88152" y="3191256"/>
            <a:ext cx="4480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7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263640" y="3172968"/>
            <a:ext cx="6858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291072" y="3191256"/>
            <a:ext cx="630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+6.1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949440" y="3172968"/>
            <a:ext cx="8686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976872" y="3191256"/>
            <a:ext cx="8138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2830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20040" y="3502152"/>
            <a:ext cx="45720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47472" y="3520440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7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77240" y="3502152"/>
            <a:ext cx="384048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22960" y="3520440"/>
            <a:ext cx="3749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B55"/>
                </a:solidFill>
                <a:latin typeface="Calibri"/>
              </a:rPr>
              <a:t>FPYWKKKRQLSYKDKARGLY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617720" y="3502152"/>
            <a:ext cx="45720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4645152" y="3520440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74920" y="3502152"/>
            <a:ext cx="68580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02352" y="3520440"/>
            <a:ext cx="630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0.541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760720" y="3502152"/>
            <a:ext cx="50292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788152" y="3520440"/>
            <a:ext cx="4480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7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263640" y="3502152"/>
            <a:ext cx="68580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291072" y="3520440"/>
            <a:ext cx="630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+6.0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49440" y="3502152"/>
            <a:ext cx="86868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6872" y="3520440"/>
            <a:ext cx="8138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2576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20040" y="3831335"/>
            <a:ext cx="45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347472" y="384962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8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777240" y="3831335"/>
            <a:ext cx="38404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22960" y="3849624"/>
            <a:ext cx="3749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B55"/>
                </a:solidFill>
                <a:latin typeface="Calibri"/>
              </a:rPr>
              <a:t>RKPWNVRKLIKKGKM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617720" y="3831335"/>
            <a:ext cx="45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645152" y="3849624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15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074920" y="3831335"/>
            <a:ext cx="6858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102352" y="3849624"/>
            <a:ext cx="630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0.541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760720" y="3831335"/>
            <a:ext cx="5029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788152" y="3849624"/>
            <a:ext cx="4480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7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263640" y="3831335"/>
            <a:ext cx="6858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291072" y="3849624"/>
            <a:ext cx="630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+7.0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949440" y="3831335"/>
            <a:ext cx="8686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976872" y="3849624"/>
            <a:ext cx="8138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1882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320040" y="4160520"/>
            <a:ext cx="45720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347472" y="4178808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9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777240" y="4160520"/>
            <a:ext cx="384048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822960" y="4178808"/>
            <a:ext cx="3749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B55"/>
                </a:solidFill>
                <a:latin typeface="Calibri"/>
              </a:rPr>
              <a:t>KAWRMNRSQDRSELKIKEKA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4617720" y="4160520"/>
            <a:ext cx="45720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4645152" y="4178808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074920" y="4160520"/>
            <a:ext cx="68580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102352" y="4178808"/>
            <a:ext cx="630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0.541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760720" y="4160520"/>
            <a:ext cx="50292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788152" y="4178808"/>
            <a:ext cx="4480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7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63640" y="4160520"/>
            <a:ext cx="68580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291072" y="4178808"/>
            <a:ext cx="630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+4.0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6949440" y="4160520"/>
            <a:ext cx="868680" cy="32918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6976872" y="4178808"/>
            <a:ext cx="8138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2475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320040" y="4489704"/>
            <a:ext cx="45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347472" y="4507992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10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77240" y="4489704"/>
            <a:ext cx="38404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822960" y="4507992"/>
            <a:ext cx="3749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B55"/>
                </a:solidFill>
                <a:latin typeface="Calibri"/>
              </a:rPr>
              <a:t>SADRNNRVDRRDHNKKFGYK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4617720" y="4489704"/>
            <a:ext cx="457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645152" y="4507992"/>
            <a:ext cx="4023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5074920" y="4489704"/>
            <a:ext cx="6858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102352" y="4507992"/>
            <a:ext cx="630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0.541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760720" y="4489704"/>
            <a:ext cx="5029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88152" y="4507992"/>
            <a:ext cx="44805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7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63640" y="4489704"/>
            <a:ext cx="6858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291072" y="4507992"/>
            <a:ext cx="63093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+4.1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6949440" y="4489704"/>
            <a:ext cx="8686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976872" y="4507992"/>
            <a:ext cx="8138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333344"/>
                </a:solidFill>
                <a:latin typeface="Calibri"/>
              </a:rPr>
              <a:t>2477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8092440" y="1143000"/>
            <a:ext cx="4663440" cy="50292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8229600" y="12344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  <a:latin typeface="Calibri"/>
              </a:rPr>
              <a:t>Interpretação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8229600" y="1691640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4F8"/>
                </a:solidFill>
                <a:latin typeface="Calibri"/>
              </a:rPr>
              <a:t>Ranking atual usa score heurístico: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8229600" y="1956816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4F8"/>
                </a:solidFill>
                <a:latin typeface="Calibri"/>
              </a:rPr>
              <a:t>n_vina = 0.5 (placeholder)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29600" y="2221992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4F8"/>
                </a:solidFill>
                <a:latin typeface="Calibri"/>
              </a:rPr>
              <a:t>n_ros = 0.5 (placeholder)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229600" y="2487168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4F8"/>
                </a:solidFill>
                <a:latin typeface="Calibri"/>
              </a:rPr>
              <a:t>n_hb = n_alk = f(R+K count)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229600" y="2752344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4F8"/>
                </a:solidFill>
                <a:latin typeface="Calibri"/>
              </a:rPr>
              <a:t/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8229600" y="3017520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D6A0"/>
                </a:solidFill>
                <a:latin typeface="Calibri"/>
              </a:rPr>
              <a:t>→ Viés para peptídeos 20 aa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8229600" y="3282696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4F8"/>
                </a:solidFill>
                <a:latin typeface="Calibri"/>
              </a:rPr>
              <a:t>  com alta densidade R/K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229600" y="3547872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4F8"/>
                </a:solidFill>
                <a:latin typeface="Calibri"/>
              </a:rPr>
              <a:t/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29600" y="3813048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4F8"/>
                </a:solidFill>
                <a:latin typeface="Calibri"/>
              </a:rPr>
              <a:t>Após Vina real: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229600" y="4078224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D6A0"/>
                </a:solidFill>
                <a:latin typeface="Calibri"/>
              </a:rPr>
              <a:t>→ vina_affinity_kcal (kcal/mol)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8229600" y="4343400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D6A0"/>
                </a:solidFill>
                <a:latin typeface="Calibri"/>
              </a:rPr>
              <a:t>→ score recalculado sem viés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8229600" y="4608576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6D6A0"/>
                </a:solidFill>
                <a:latin typeface="Calibri"/>
              </a:rPr>
              <a:t>→ peptídeos curtos podem subir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229600" y="4873752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4F8"/>
                </a:solidFill>
                <a:latin typeface="Calibri"/>
              </a:rPr>
              <a:t/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8229600" y="5138927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4F8"/>
                </a:solidFill>
                <a:latin typeface="Calibri"/>
              </a:rPr>
              <a:t>Score composto: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8229600" y="5404104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B4D8"/>
                </a:solidFill>
                <a:latin typeface="Calibri"/>
              </a:rPr>
              <a:t>0.35 × Vina  (energia física)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8229600" y="5669279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B4D8"/>
                </a:solidFill>
                <a:latin typeface="Calibri"/>
              </a:rPr>
              <a:t>0.25 × Rosetta  (I_sc)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229600" y="5934456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B4D8"/>
                </a:solidFill>
                <a:latin typeface="Calibri"/>
              </a:rPr>
              <a:t>0.20 × H-bond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8229600" y="6199631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B4D8"/>
                </a:solidFill>
                <a:latin typeface="Calibri"/>
              </a:rPr>
              <a:t>0.10 × RMSD-MD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8229600" y="6464808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0B4D8"/>
                </a:solidFill>
                <a:latin typeface="Calibri"/>
              </a:rPr>
              <a:t>0.10 × n(R+K)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10/15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Status das Ferramentas no Servidor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eulalio@200.235.143.10 · Debian · RTX 5070 Ti 16 GB · sm_120 Blackwell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56692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143000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2588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119786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Python 3.10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156362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conda env protein_design_env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143000"/>
            <a:ext cx="56692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63640" y="1143000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132588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119786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OpenBabel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156362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obabel — conversão PDBQT receptor/ligante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029967"/>
            <a:ext cx="566928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2029967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21284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084831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AutoDock Vina f458505-mod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2450591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docking rígido peptídeos (TORSDOF=0)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2029967"/>
            <a:ext cx="566928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2029967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221284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2084831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fpocket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0" y="2450591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análise e detecção de bolso de ligação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916936"/>
            <a:ext cx="56692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2916936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099816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2971800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GROMACS gmx_mpi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" y="3337560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CUDA-MPI, build sm_120 Blackwell, RTX 5070 Ti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2916936"/>
            <a:ext cx="56692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63640" y="2916936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63640" y="3099816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0" y="2971800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PyTorch 2.11.0+cu128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0" y="3337560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CUDA 12.8, compatível Blackwell (sm_120)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3803904"/>
            <a:ext cx="566928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3803904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3986784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3858768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ProteinMPNN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" y="4224528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~/ProteinMPNN (git clone dauparas/ProteinMPNN)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63640" y="3803904"/>
            <a:ext cx="566928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263640" y="3803904"/>
            <a:ext cx="502920" cy="804672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263640" y="3986784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◑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0" y="3858768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RFdiffusion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0" y="4224528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~/RFdiffusion clonado; Base_ckpt.pt em download ~2 GB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4690872"/>
            <a:ext cx="56692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65760" y="4690872"/>
            <a:ext cx="502920" cy="804672"/>
          </a:xfrm>
          <a:prstGeom prst="rect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4873752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✗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" y="4745736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PyRosetta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0120" y="5111496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requer licença acadêmica gratuita (pyrosetta.org)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63640" y="4690872"/>
            <a:ext cx="566928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263640" y="4690872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263640" y="4873752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0" y="4745736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plip 3.0.0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0" y="5111496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análise de interações protein-ligante (conda-forge)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5760" y="5577840"/>
            <a:ext cx="566928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65760" y="5577840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57607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0120" y="5632703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rdkit, pdbfixer, mdtraj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0120" y="599846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análise estrutural e preparação de sistemas MD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263640" y="5577840"/>
            <a:ext cx="566928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263640" y="5577840"/>
            <a:ext cx="502920" cy="804672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263640" y="57607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0" y="5632703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2B55"/>
                </a:solidFill>
                <a:latin typeface="Calibri"/>
              </a:rPr>
              <a:t>PeptideBuilder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0" y="5998464"/>
            <a:ext cx="4983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geração all-atom de peptídeos (fallback backbone)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11/15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Estratégia Técnica: Docking Rígido para ML Labels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Justificativa científica e técnica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88720"/>
            <a:ext cx="2560320" cy="109728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252728"/>
            <a:ext cx="23774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Peptídeo
all-atom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37360"/>
            <a:ext cx="23774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PeptideBuilder
(ECEPP/3 geometry)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91840" y="1188720"/>
            <a:ext cx="2560320" cy="109728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252728"/>
            <a:ext cx="23774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PDBQT
all-atom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1737360"/>
            <a:ext cx="23774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obabel -h -xr
(TORSDOF 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188720"/>
            <a:ext cx="2560320" cy="109728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59" y="1252728"/>
            <a:ext cx="23774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ROOT wrapper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1737360"/>
            <a:ext cx="23774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_ensure_ligand
_pdbqt_format()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1188720"/>
            <a:ext cx="2560320" cy="1097280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0" y="1252728"/>
            <a:ext cx="23774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AutoDock
Vina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1737360"/>
            <a:ext cx="23774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Grid 25³ Å
exh=8, modes=9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40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468880"/>
            <a:ext cx="11430000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260604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D2B55"/>
                </a:solidFill>
                <a:latin typeface="Calibri"/>
              </a:rPr>
              <a:t>Por que docking RÍGIDO?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063240"/>
            <a:ext cx="114300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09067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4F8A"/>
                </a:solidFill>
                <a:latin typeface="Calibri"/>
              </a:rPr>
              <a:t>Limite técnico: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49039" y="3090672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Peptídeos ≥9 aa têm &gt;32 ligações rotacionáveis (φ+ψ+χ). Vina aborta docking flexível acima de 32 torsional bonds.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3931920"/>
            <a:ext cx="1143000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395935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4F8A"/>
                </a:solidFill>
                <a:latin typeface="Calibri"/>
              </a:rPr>
              <a:t>Justificativa científica: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9039" y="3959352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Para triagem de 14.923 sequências (ML labels), docking rígido é aceitável: correlação Pearson ~0.7 com flexível para top candidatos.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4800600"/>
            <a:ext cx="11430000" cy="8046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4828031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4F8A"/>
                </a:solidFill>
                <a:latin typeface="Calibri"/>
              </a:rPr>
              <a:t>Custo computacional: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4828031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200 candidatos × 8 exhaustiveness ≈ 15 min no servidor. Docking flexível completo seria inviável nessa escala.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5669279"/>
            <a:ext cx="11430000" cy="804672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569671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4F8A"/>
                </a:solidFill>
                <a:latin typeface="Calibri"/>
              </a:rPr>
              <a:t>Validação posterior: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49039" y="5696712"/>
            <a:ext cx="795527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33344"/>
                </a:solidFill>
                <a:latin typeface="Calibri"/>
              </a:rPr>
              <a:t>Os top-5 por score Vina serão refinados com FlexPepDock (Rosetta) e dinâmica molecular 10 ns (GROMACS) para validação rigorosa.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12/15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Infraestrutura Computacional e Workflow Git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Notebook Windows 11 ↔ GitHub ↔ Servidor Debian RTX 5070 Ti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560320"/>
            <a:ext cx="3474720" cy="182880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67004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💻  Notebook Local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154679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Windows 11
RTX 2050 4 GB
Edição de código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2560320"/>
            <a:ext cx="3474720" cy="1828800"/>
          </a:xfrm>
          <a:prstGeom prst="rect">
            <a:avLst/>
          </a:prstGeom>
          <a:solidFill>
            <a:srgbClr val="3333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4840" y="267004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🌐  GitHub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3154679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eulaliobqi/design-inibidores
git push / pull
Fonte de verdade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2560320"/>
            <a:ext cx="3474720" cy="182880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267004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🖥️  Servidor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154679"/>
            <a:ext cx="320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4F8"/>
                </a:solidFill>
                <a:latin typeface="Calibri"/>
              </a:rPr>
              <a:t>eulalio@200.235.143.10
Debian · 32 cores
RTX 5070 Ti 16 GB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383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59" y="37947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B4D8"/>
                </a:solidFill>
                <a:latin typeface="Calibri"/>
              </a:rPr>
              <a:t>git push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3383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0B4D8"/>
                </a:solidFill>
                <a:latin typeface="Calibri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79" y="379476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00B4D8"/>
                </a:solidFill>
                <a:latin typeface="Calibri"/>
              </a:rPr>
              <a:t>git pull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663440"/>
            <a:ext cx="11430000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46320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D2B55"/>
                </a:solidFill>
                <a:latin typeface="Calibri"/>
              </a:rPr>
              <a:t>Comandos no servidor: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257800"/>
            <a:ext cx="11430000" cy="14630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5321808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$ cd ~/design-inibidores &amp;&amp; git pull origin main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66928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$ find outputs/docking -name 'peptide.pdbqt' -delete  # limpar cache PDBQT antigo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0167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$ conda run -n protein_design_env python scripts/run_pipeline.py --step docking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364224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6D6A0"/>
                </a:solidFill>
                <a:latin typeface="Calibri"/>
              </a:rPr>
              <a:t>$ conda run -n protein_design_env python scripts/run_pipeline.py --step ranking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13/15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57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Próximos Passos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0B4D8"/>
                </a:solidFill>
                <a:latin typeface="Calibri"/>
              </a:rPr>
              <a:t>Roteiro para obtenção de candidatos prioritários reais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143000"/>
            <a:ext cx="566928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143000"/>
            <a:ext cx="502920" cy="11887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41732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1170432"/>
            <a:ext cx="1188720" cy="2743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17043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IMEDIATO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48132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Re-executar docking com fix PDBQT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1801368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git pull + find outputs/docking -name 'peptide.pdbqt' -delete
→ conda run ... --step docking (200 cand. × ~15 min)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118872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6D6A0"/>
                </a:solidFill>
                <a:latin typeface="Calibri"/>
              </a:rPr>
              <a:t>⏱ ~15 min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143000"/>
            <a:ext cx="566928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143000"/>
            <a:ext cx="502920" cy="11887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141732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0" y="1170432"/>
            <a:ext cx="1188720" cy="27432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117043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IMEDIATO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03720" y="148132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Re-executar ranking com labels Vina reais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1801368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--step ranking → vina_affinity_kcal (kcal/mol) preenchido no CSV ML
→ top-20 real substituirá ranking heurístico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118872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06D6A0"/>
                </a:solidFill>
                <a:latin typeface="Calibri"/>
              </a:rPr>
              <a:t>⏱ ~1 min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514600"/>
            <a:ext cx="566928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65760" y="2514600"/>
            <a:ext cx="502920" cy="118872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278892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" y="2542032"/>
            <a:ext cx="1188720" cy="27432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254203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CURTO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285292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Re-rodar RFdiffusion após download do Base_ckpt.pt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3172968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Base_ckpt.pt (~2 GB) em download → --step rfdiffusion
→ 30 backbones conformacionalmente diversificados (hélices, hairpins)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256032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FD166"/>
                </a:solidFill>
                <a:latin typeface="Calibri"/>
              </a:rPr>
              <a:t>⏱ ~2h GPU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2514600"/>
            <a:ext cx="566928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09360" y="2514600"/>
            <a:ext cx="502920" cy="118872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0" y="278892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58000" y="2542032"/>
            <a:ext cx="1188720" cy="27432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58000" y="254203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CURTO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03720" y="285292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Dinâmica Molecular dos top-5 candidatos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20" y="3172968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GROMACS gmx_mpi, AMBER99SB-ILDN, TIP3P, 300 K, 10 ns
→ RMSD, H-bonds, energia de ligação livre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07040" y="256032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A4F8A"/>
                </a:solidFill>
                <a:latin typeface="Calibri"/>
              </a:rPr>
              <a:t>⏱ ~4h GPU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886200"/>
            <a:ext cx="566928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5760" y="3886200"/>
            <a:ext cx="502920" cy="118872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16052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4400" y="3913632"/>
            <a:ext cx="1188720" cy="27432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391363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MÉDIO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422452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Instalar PyRosetta + FlexPepDock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" y="4544568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Licença acadêmica gratuita: pyrosetta.org
→ pip install pyrosetta-installer; refinamento de interface dos top-10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393192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FD166"/>
                </a:solidFill>
                <a:latin typeface="Calibri"/>
              </a:rPr>
              <a:t>Manual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09360" y="3886200"/>
            <a:ext cx="566928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309360" y="3886200"/>
            <a:ext cx="502920" cy="118872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0" y="416052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58000" y="3913632"/>
            <a:ext cx="1188720" cy="274320"/>
          </a:xfrm>
          <a:prstGeom prst="rect">
            <a:avLst/>
          </a:prstGeom>
          <a:solidFill>
            <a:srgbClr val="1A4F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858000" y="391363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MÉDIO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03720" y="4224528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Treinar modelos ML/DL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03720" y="4544568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14.923 seqs × 41 features + labels Vina reais
→ Random Forest, GNN, Transformer (XGBoost → DL gradual)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07040" y="393192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1A4F8A"/>
                </a:solidFill>
                <a:latin typeface="Calibri"/>
              </a:rPr>
              <a:t>⏱ ~hours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5257800"/>
            <a:ext cx="1143000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65760" y="5257800"/>
            <a:ext cx="502920" cy="1188720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5760" y="553212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14400" y="5285232"/>
            <a:ext cx="1188720" cy="274320"/>
          </a:xfrm>
          <a:prstGeom prst="rect">
            <a:avLst/>
          </a:prstGeom>
          <a:solidFill>
            <a:srgbClr val="FF7F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4400" y="5285232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LONGO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0120" y="5596128"/>
            <a:ext cx="9601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2B55"/>
                </a:solidFill>
                <a:latin typeface="Calibri"/>
              </a:rPr>
              <a:t>Síntese e validação experimental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60120" y="5916168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33344"/>
                </a:solidFill>
                <a:latin typeface="Calibri"/>
              </a:rPr>
              <a:t>Top-3 candidatos → síntese (Fmoc-SPPS) → ensaios de inibição in vitro
→ IC₅₀ contra tripsinas recombinantes de S. frugiperda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24160" y="530352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FF7F11"/>
                </a:solidFill>
                <a:latin typeface="Calibri"/>
              </a:rPr>
              <a:t>Meses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14/15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1430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Conclusões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8368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00B4D8"/>
                </a:solidFill>
                <a:latin typeface="Calibri"/>
              </a:rPr>
              <a:t>Design racional de inibidores peptídicos por IA generativa — estado atual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502920" cy="64008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34416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316736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0F4F8"/>
                </a:solidFill>
                <a:latin typeface="Calibri"/>
              </a:rPr>
              <a:t>Pipeline multiagente de 10 módulos implementado em Python 3.10 — executa em modo fallback heurístico ou real dependendo das ferramentas disponíveis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029967"/>
            <a:ext cx="502920" cy="64008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09397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066543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0F4F8"/>
                </a:solidFill>
                <a:latin typeface="Calibri"/>
              </a:rPr>
              <a:t>4 tripsinas de Lepidoptera mapeadas: resíduos catalíticos, bolso S1, hotspots e centro de ligação consenso [2.61, 4.57, −1.89] Å identificados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779776"/>
            <a:ext cx="502920" cy="64008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843784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81635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0F4F8"/>
                </a:solidFill>
                <a:latin typeface="Calibri"/>
              </a:rPr>
              <a:t>14.923 sequências únicas geradas por 10 estratégias complementares, anotadas com 41 features físico-químicas — dataset ML/DL estruturado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529584"/>
            <a:ext cx="502920" cy="64008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593591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56616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0F4F8"/>
                </a:solidFill>
                <a:latin typeface="Calibri"/>
              </a:rPr>
              <a:t>Infraestrutura completa instalada: Vina, obabel, fpocket, GROMACS gmx_mpi, PyTorch 2.11+CUDA 12.8, ProteinMPNN e RFdiffusion (pesos em download)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279392"/>
            <a:ext cx="502920" cy="640080"/>
          </a:xfrm>
          <a:prstGeom prst="rect">
            <a:avLst/>
          </a:prstGeom>
          <a:solidFill>
            <a:srgbClr val="06D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43434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31596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0F4F8"/>
                </a:solidFill>
                <a:latin typeface="Calibri"/>
              </a:rPr>
              <a:t>5 bugs críticos no módulo de docking corrigidos sistematicamente; PDBQT ROOT wrapper resolve o último obstáculo para scores Vina reais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029200"/>
            <a:ext cx="502920" cy="64008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5093207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5065775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0F4F8"/>
                </a:solidFill>
                <a:latin typeface="Calibri"/>
              </a:rPr>
              <a:t>Docking real pendente de re-execução (commit 84e5c0b); top-20 atual ainda baseado em heurística (n_arg_lys)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779008"/>
            <a:ext cx="502920" cy="6400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584301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5815583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0F4F8"/>
                </a:solidFill>
                <a:latin typeface="Calibri"/>
              </a:rPr>
              <a:t>XP273 identificada como alvo atípico (Tyr83/Ile229): justifica exploração de P1 hidrofóbico — não restringir P1=Arg/Lys é decisão de design validada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521440" y="649224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8899AA"/>
                </a:solidFill>
                <a:latin typeface="Calibri"/>
              </a:rPr>
              <a:t>15/15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