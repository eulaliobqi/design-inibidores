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526280"/>
            <a:ext cx="12188952" cy="4572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Design Racional de Inibidores Peptídicos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00B4D8"/>
                </a:solidFill>
                <a:latin typeface="Calibri"/>
              </a:rPr>
              <a:t>de Tripsinas de Lepidoptera por IA Generativa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F0F4F8"/>
                </a:solidFill>
                <a:latin typeface="Calibri"/>
              </a:rPr>
              <a:t>Pipeline Multiagente: RFdiffusion → ProteinMPNN → PyRosetta → Vina → GROMACS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091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0F4F8"/>
                </a:solidFill>
                <a:latin typeface="Calibri"/>
              </a:rPr>
              <a:t>Eulalio B. Q. Santos  |  UFV Viçosa-MG  |  eulalio.santos@ufv.br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120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B4D8"/>
                </a:solidFill>
                <a:latin typeface="Calibri"/>
              </a:rPr>
              <a:t>github.com/eulaliobqi/design-inibidores  |  Junho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669280"/>
            <a:ext cx="173736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5687568"/>
            <a:ext cx="16459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RFdiffusion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23160" y="5669280"/>
            <a:ext cx="173736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68879" y="5687568"/>
            <a:ext cx="16459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ProteinMPNN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79" y="5669280"/>
            <a:ext cx="1737360" cy="3474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399" y="5687568"/>
            <a:ext cx="16459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PyRosetta 2026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199" y="5669280"/>
            <a:ext cx="1737360" cy="3474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19" y="5687568"/>
            <a:ext cx="16459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AutoDock Vina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46719" y="5669280"/>
            <a:ext cx="1737360" cy="3474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92440" y="5687568"/>
            <a:ext cx="16459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GROMACS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21240" y="5669280"/>
            <a:ext cx="173736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66960" y="5687568"/>
            <a:ext cx="16459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Python 3.10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1/18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Contextualização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Por que inibidores de tripsinas de Lepidoptera?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5303520" cy="50292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3444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B4D8"/>
                </a:solidFill>
                <a:latin typeface="Calibri"/>
              </a:rPr>
              <a:t>O PROBLEMA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91640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>  Spodoptera frugiperda e Agrotis gemmatalis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112264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>      causam bilhões USD/ano em perdas agrícolas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532888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953512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>  Inseticidas químicos: resistência crescente,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374136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>      toxicidade ambiental e resíduos em alimentos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794760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215384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>  Tripsinas digestivas são essenciais para 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636008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>      desenvolvimento larval — alvos comprovados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056632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477256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>  Quais peptídeos inibem essas tripsinas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897880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>      com alta seletividade e baixa toxicidade?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0" y="1143000"/>
            <a:ext cx="5760720" cy="5029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35040" y="1143000"/>
            <a:ext cx="576072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0" y="123444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2B55"/>
                </a:solidFill>
                <a:latin typeface="Calibri"/>
              </a:rPr>
              <a:t>A OPORTUNIDADE DA IA GENERATIVA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169164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RFdiffusion (Nature 2023): gera backbones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2020824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    proteicos condicionados a sítios de ligação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2350008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2679192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ProteinMPNN (Science 2022): otimiza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2200" y="3008376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    sequências para backbones de interesse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2200" y="333756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/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3666744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PyRosetta (2026.25): refinamento de interface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2200" y="3995928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    FastRelax + InterfaceAnalyzerMover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2200" y="4325112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4654296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AutoDock Vina: triagem de afinidade em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2200" y="4983479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    larga escala (194 poses reais, kcal/mol)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2200" y="5312664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/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2200" y="5641848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Dataset ML/DL: 24.513 seqs × 41 features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72200" y="5971031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    para treinar modelos preditivos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2/18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Objetivos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Design computacional racional + dataset para ML/DL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0D2B55"/>
                </a:solidFill>
                <a:latin typeface="Calibri"/>
              </a:rPr>
              <a:t>Objetivo geral: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0876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33344"/>
                </a:solidFill>
                <a:latin typeface="Calibri"/>
              </a:rPr>
              <a:t>Gerar e validar computacionalmente peptídeos inibidores de tripsinas digestivas de Lepidoptera-praga usando pipeline multiagente de IA generativa estrutural, produzindo simultaneamente um dataset ML/DL supervisionado com scores Vina + Rosetta como labels.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23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D2B55"/>
                </a:solidFill>
                <a:latin typeface="Calibri"/>
              </a:rPr>
              <a:t>Objetivos específicos: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834640"/>
            <a:ext cx="411480" cy="384048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834640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1.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862072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Identificar resíduos catalíticos e bolso S1 de 4 tripsinas lepidópteras (ACR157/QCL936/XP273/XP352)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337560"/>
            <a:ext cx="411480" cy="384048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337560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364991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Gerar 330 backbones peptídicos de 20 aa via RFdiffusion ancorados ao sítio S1 de ACR157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40480"/>
            <a:ext cx="411480" cy="384048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840480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3.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867912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Produzir 24.513 sequências binder únicas por ProteinMPNN (extração cadeia B, bug FASTA corrigido)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43400"/>
            <a:ext cx="411480" cy="384048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343400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4.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370832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Anotar 41 features físico-químicas para cada sequência (dataset ML/DL supervisionado)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846320"/>
            <a:ext cx="411480" cy="384048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846320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5.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873752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Obter energias de afinidade Vina reais como labels — 194/194 poses válidas (binders RFdiffusion)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349240"/>
            <a:ext cx="411480" cy="384048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349240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6.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376672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Refinar top-10 candidatos com PyRosetta FastRelax + InterfaceAnalyzerMover (I_sc REF2015)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852160"/>
            <a:ext cx="411480" cy="384048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5852160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7.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5879592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Validar top-5 por dinâmica molecular 10 ns (GROMACS gmx_mpi, AMBER99SB-ILDN, TIP3P, 300 K)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3/18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Pipeline Multiagente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10 módulos especializados — TODAS as etapas principais concluídas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143000"/>
            <a:ext cx="2057400" cy="21031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120700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79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A0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06D6A0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55448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Structure
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214884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Sítio S1
Hotspots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1965960"/>
            <a:ext cx="24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24328" y="1143000"/>
            <a:ext cx="2057400" cy="21031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688336" y="120700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15768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A0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0248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06D6A0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15768" y="155448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RFdiffusion
Agent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15768" y="214884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330 backbones
20 aa reais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81728" y="1965960"/>
            <a:ext cx="24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28616" y="1143000"/>
            <a:ext cx="2057400" cy="21031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992624" y="120700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0055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A0"/>
                </a:solidFill>
                <a:latin typeface="Calibri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74536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06D6A0"/>
                </a:solidFill>
                <a:latin typeface="Calibr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0055" y="155448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ProteinMPNN
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0055" y="214884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24.513
binders únicos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1965960"/>
            <a:ext cx="24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32904" y="1143000"/>
            <a:ext cx="2057400" cy="21031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296912" y="120700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24344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A0"/>
                </a:solidFill>
                <a:latin typeface="Calibri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78824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06D6A0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24344" y="155448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Rosetta
Agent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24344" y="214884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PyRosetta
I_sc REF2015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90304" y="1965960"/>
            <a:ext cx="24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537192" y="1143000"/>
            <a:ext cx="2057400" cy="21031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601200" y="120700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28632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A0"/>
                </a:solidFill>
                <a:latin typeface="Calibri"/>
              </a:rPr>
              <a:t>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83112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06D6A0"/>
                </a:solidFill>
                <a:latin typeface="Calibri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28632" y="155448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Docking
Agent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28632" y="214884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194/194
Vina reais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" y="3611880"/>
            <a:ext cx="2057400" cy="210312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84048" y="367588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79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D166"/>
                </a:solidFill>
                <a:latin typeface="Calibri"/>
              </a:rPr>
              <a:t>06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65960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FFD166"/>
                </a:solidFill>
                <a:latin typeface="Calibri"/>
              </a:rPr>
              <a:t>◑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1479" y="402336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MD Agent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1479" y="461772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GROMACS
10 ns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377440" y="4434840"/>
            <a:ext cx="24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24328" y="3611880"/>
            <a:ext cx="2057400" cy="21031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688336" y="367588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715768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A0"/>
                </a:solidFill>
                <a:latin typeface="Calibri"/>
              </a:rPr>
              <a:t>07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70248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06D6A0"/>
                </a:solidFill>
                <a:latin typeface="Calibri"/>
              </a:rPr>
              <a:t>✓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15768" y="402336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Ranking
Agent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715768" y="461772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Score
composto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681728" y="4434840"/>
            <a:ext cx="24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28616" y="3611880"/>
            <a:ext cx="2057400" cy="21031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992624" y="367588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20055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A0"/>
                </a:solidFill>
                <a:latin typeface="Calibri"/>
              </a:rPr>
              <a:t>08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74536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06D6A0"/>
                </a:solidFill>
                <a:latin typeface="Calibri"/>
              </a:rPr>
              <a:t>✓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20055" y="402336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Visualize
Agent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020055" y="461772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6 figuras
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86016" y="4434840"/>
            <a:ext cx="24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232904" y="3611880"/>
            <a:ext cx="2057400" cy="21031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296912" y="367588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324344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A0"/>
                </a:solidFill>
                <a:latin typeface="Calibri"/>
              </a:rPr>
              <a:t>09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878824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06D6A0"/>
                </a:solidFill>
                <a:latin typeface="Calibri"/>
              </a:rPr>
              <a:t>✓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24344" y="402336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Report
Agent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24344" y="461772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HTML + MD
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290304" y="4434840"/>
            <a:ext cx="24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37192" y="3611880"/>
            <a:ext cx="2057400" cy="2103120"/>
          </a:xfrm>
          <a:prstGeom prst="rect">
            <a:avLst/>
          </a:prstGeom>
          <a:solidFill>
            <a:srgbClr val="333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601200" y="367588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628632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33344"/>
                </a:solidFill>
                <a:latin typeface="Calibri"/>
              </a:rPr>
              <a:t>10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183112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333344"/>
                </a:solidFill>
                <a:latin typeface="Calibri"/>
              </a:rPr>
              <a:t>—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628632" y="402336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Optimize
Agent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28632" y="461772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Redesign
top-10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20040" y="6492240"/>
            <a:ext cx="274320" cy="22860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94360" y="646480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 Concluído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606040" y="6492240"/>
            <a:ext cx="274320" cy="22860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880360" y="646480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 Em execução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892040" y="6492240"/>
            <a:ext cx="274320" cy="228600"/>
          </a:xfrm>
          <a:prstGeom prst="rect">
            <a:avLst/>
          </a:prstGeom>
          <a:solidFill>
            <a:srgbClr val="333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166360" y="646480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 Aguarda MD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4/18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Alvo Molecular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Tripsinas digestivas de Lepidoptera-praga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2B55"/>
                </a:solidFill>
                <a:latin typeface="Calibri"/>
              </a:rPr>
              <a:t>4 modelos estruturais de tripsinas: ACR157, QCL936, XP273, XP352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554480"/>
            <a:ext cx="128016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572768"/>
            <a:ext cx="11887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Modelo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45919" y="1554480"/>
            <a:ext cx="146304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91639" y="157276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His/Tyr (Cat)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0" y="1554480"/>
            <a:ext cx="132588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54679" y="1572768"/>
            <a:ext cx="1234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Asp (Tríade)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4840" y="1554480"/>
            <a:ext cx="141732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0" y="1572768"/>
            <a:ext cx="1325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Ser/Ala (Nuc)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52160" y="1554480"/>
            <a:ext cx="118872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97880" y="157276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S1 (Esp)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0880" y="1554480"/>
            <a:ext cx="242316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6600" y="1572768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Centro (X,Y,Z) 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1938528"/>
            <a:ext cx="12801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1956816"/>
            <a:ext cx="118871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ACR157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645919" y="1938528"/>
            <a:ext cx="146304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91639" y="1956816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His69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08960" y="1938528"/>
            <a:ext cx="13258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54679" y="1956816"/>
            <a:ext cx="1234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Asp114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34840" y="1938528"/>
            <a:ext cx="14173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0" y="1956816"/>
            <a:ext cx="1325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Ser211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52160" y="1938528"/>
            <a:ext cx="11887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97880" y="1956816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Asp205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40880" y="1938528"/>
            <a:ext cx="24231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86600" y="1956816"/>
            <a:ext cx="2331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7.09 / -1.15 / -1.63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304288"/>
            <a:ext cx="128016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2322576"/>
            <a:ext cx="118871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QCL936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45919" y="2304288"/>
            <a:ext cx="146304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691639" y="2322576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His92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08960" y="2304288"/>
            <a:ext cx="132588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154679" y="2322576"/>
            <a:ext cx="1234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Asp142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34840" y="2304288"/>
            <a:ext cx="141732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80560" y="2322576"/>
            <a:ext cx="1325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Ser247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852160" y="2304288"/>
            <a:ext cx="118872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897880" y="2322576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Asp241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040880" y="2304288"/>
            <a:ext cx="242316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6600" y="2322576"/>
            <a:ext cx="2331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2.94 / 5.55 / -0.32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2670048"/>
            <a:ext cx="12801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2688336"/>
            <a:ext cx="118871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XP273 ★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645919" y="2670048"/>
            <a:ext cx="146304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691639" y="2688336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Tyr83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08960" y="2670048"/>
            <a:ext cx="13258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54679" y="2688336"/>
            <a:ext cx="1234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Asp132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434840" y="2670048"/>
            <a:ext cx="14173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480560" y="2688336"/>
            <a:ext cx="1325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Ser234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852160" y="2670048"/>
            <a:ext cx="11887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897880" y="2688336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Ile229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040880" y="2670048"/>
            <a:ext cx="24231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086600" y="2688336"/>
            <a:ext cx="2331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1.67 / 8.29 / -0.34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3035808"/>
            <a:ext cx="128016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3054096"/>
            <a:ext cx="118871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XP352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645919" y="3035808"/>
            <a:ext cx="146304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691639" y="3054096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His112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108960" y="3035808"/>
            <a:ext cx="132588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154679" y="3054096"/>
            <a:ext cx="1234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Asp166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434840" y="3035808"/>
            <a:ext cx="141732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480560" y="3054096"/>
            <a:ext cx="1325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Ala268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852160" y="3035808"/>
            <a:ext cx="118872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897880" y="3054096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Asp262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040880" y="3035808"/>
            <a:ext cx="242316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086600" y="3054096"/>
            <a:ext cx="2331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-1.26 / 5.60 / -5.25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65760" y="3401568"/>
            <a:ext cx="128016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11480" y="3419856"/>
            <a:ext cx="118871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Consenso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45919" y="3401568"/>
            <a:ext cx="146304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91639" y="3419856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-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108960" y="3401568"/>
            <a:ext cx="132588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154679" y="3419856"/>
            <a:ext cx="1234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-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434840" y="3401568"/>
            <a:ext cx="141732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480560" y="3419856"/>
            <a:ext cx="1325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-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852160" y="3401568"/>
            <a:ext cx="118872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897880" y="3419856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-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040880" y="3401568"/>
            <a:ext cx="242316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086600" y="3419856"/>
            <a:ext cx="2331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2.61 / 4.57 / -1.89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5760" y="4480560"/>
            <a:ext cx="11430000" cy="132588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365760" y="4480560"/>
            <a:ext cx="73152" cy="132588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40" y="4526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2B55"/>
                </a:solidFill>
                <a:latin typeface="Calibri"/>
              </a:rPr>
              <a:t>★ XP273 — Tripsina Atípica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48640" y="4892040"/>
            <a:ext cx="109728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Tyr83 substitui His catalítica canônica | Ile229 no bolso S1 (ao invés de Asp) -&gt; especificidade hidrofóbica
Justifica NAO restringir P1 no pipeline — candidatos acidos (D/E) podem atuar via mecanismo nao-canonico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65760" y="5897880"/>
            <a:ext cx="11430000" cy="6858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48640" y="59893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Grid box Vina (consenso):  centro = [2.61, 4.57, -1.89] A  |  tamanho adaptativo = max(40, len*3.6+8) A  |  exaustividade = 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5/18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Geração de Backbones Peptídicos — RFdiffusion REAL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330 backbones de novo | Watson et al., Nature 2023 | checkpoint Complex_base_ckpt.pt 462 MB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5303520" cy="53035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3444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B4D8"/>
                </a:solidFill>
                <a:latin typeface="Calibri"/>
              </a:rPr>
              <a:t>RFdiffusion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002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0F4F8"/>
                </a:solidFill>
                <a:latin typeface="Calibri"/>
              </a:rPr>
              <a:t>Instalado em ~/RFdiffusion | Python 3.10 (protein_design_env)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6596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  ~/RFdiffusion instalado e funcional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67712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  Complex_base_ckpt.pt (462 MB) baixado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569464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  330 backbones gerados para ACR157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871215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172968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Parâmetros usados: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47472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  noise_scale_ca  = 0.2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776472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  noise_scale_frame = 0.1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078224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  contig: A1-231/0 20-20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379976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  inference.ckpt_override_path=.../models/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681728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98348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Pre-processamento obrigatório: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285232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  prep_pdbs.py: chain blank -&gt; 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586983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  renumeração residuos 1..N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888736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190488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D166"/>
                </a:solidFill>
                <a:latin typeface="Calibri"/>
              </a:rPr>
              <a:t>Limitação desta rodada: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9224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D166"/>
                </a:solidFill>
                <a:latin typeface="Calibri"/>
              </a:rPr>
              <a:t>  Todos os 330 backbones -&gt; 20 aa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793992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D166"/>
                </a:solidFill>
                <a:latin typeface="Calibri"/>
              </a:rPr>
              <a:t>  (comprimento variavel em rodadas futuras)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1143000"/>
            <a:ext cx="5760720" cy="5303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0" y="118872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2B55"/>
                </a:solidFill>
                <a:latin typeface="Calibri"/>
              </a:rPr>
              <a:t>Backbones gerados (modo REAL)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26480" y="1645920"/>
            <a:ext cx="192024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72200" y="1664208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Categoria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6720" y="1645920"/>
            <a:ext cx="128016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92440" y="1664208"/>
            <a:ext cx="118871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Backbones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326880" y="1645920"/>
            <a:ext cx="246888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72600" y="1664208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Comprimento real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26480" y="2011680"/>
            <a:ext cx="192024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72200" y="2029968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len5 (cat.)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46720" y="2011680"/>
            <a:ext cx="128016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92440" y="2029968"/>
            <a:ext cx="11887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55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326880" y="2011680"/>
            <a:ext cx="246888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72600" y="2029968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Real — 20 aa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26480" y="2359152"/>
            <a:ext cx="19202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72200" y="2377440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len7 (cat.)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46720" y="2359152"/>
            <a:ext cx="128016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92440" y="2377440"/>
            <a:ext cx="11887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55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326880" y="2359152"/>
            <a:ext cx="24688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372600" y="2377440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Real — 20 aa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26480" y="2706624"/>
            <a:ext cx="192024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72200" y="272491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len10 (cat.)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046720" y="2706624"/>
            <a:ext cx="128016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92440" y="2724912"/>
            <a:ext cx="11887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55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326880" y="2706624"/>
            <a:ext cx="246888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372600" y="2724912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Real — 20 aa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26480" y="3054096"/>
            <a:ext cx="19202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72200" y="3072384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len12 (cat.)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046720" y="3054096"/>
            <a:ext cx="128016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092440" y="3072384"/>
            <a:ext cx="11887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55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326880" y="3054096"/>
            <a:ext cx="24688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372600" y="3072384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Real — 20 aa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126480" y="3401568"/>
            <a:ext cx="192024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72200" y="3419856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len15 (cat.)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046720" y="3401568"/>
            <a:ext cx="128016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092440" y="3419856"/>
            <a:ext cx="11887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55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326880" y="3401568"/>
            <a:ext cx="246888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372600" y="3419856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Real — 20 aa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126480" y="3749039"/>
            <a:ext cx="19202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172200" y="3767328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len20 (cat.)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46720" y="3749039"/>
            <a:ext cx="128016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092440" y="3767328"/>
            <a:ext cx="118871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55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326880" y="3749039"/>
            <a:ext cx="24688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372600" y="3767328"/>
            <a:ext cx="2377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Real — 20 aa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26480" y="4096512"/>
            <a:ext cx="566928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172200" y="411480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Total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092440" y="4114800"/>
            <a:ext cx="11887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6D6A0"/>
                </a:solidFill>
                <a:latin typeface="Calibri"/>
              </a:rPr>
              <a:t>330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372600" y="4114800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D166"/>
                </a:solidFill>
                <a:latin typeface="Calibri"/>
              </a:rPr>
              <a:t>todos 20 aa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035040" y="5806440"/>
            <a:ext cx="5760720" cy="56692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172200" y="5852160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330 backbones conformacionalmente diversos (helices, estendidos, hairpins)
Proxima rodada: comprimentos variados independentes (5-15 aa) para sintese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6/18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Design de Sequências — ProteinMPNN REAL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330 backbones × 500 seqs = 165.000 brutas → 24.513 binders únicos 20 aa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143000"/>
            <a:ext cx="73152" cy="91440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03520" y="1188720"/>
            <a:ext cx="685800" cy="3474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1188720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modo real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197864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ProteinMPNN REAL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581912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Redesenho da cadeia B (binder 20 aa) para cada backbone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1143000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143000"/>
            <a:ext cx="73152" cy="91440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1188720"/>
            <a:ext cx="68580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201400" y="1188720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config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1197864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Temperatura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1581912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sampling_temp = 0.1 | backbone_noise = 0.05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167128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2167128"/>
            <a:ext cx="73152" cy="91440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03520" y="2212848"/>
            <a:ext cx="68580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0" y="2212848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filtro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221992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Excluídos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260604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Cys, X (--omit_AAs CX) — evitar pontes dissulfeto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2167128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63640" y="2167128"/>
            <a:ext cx="73152" cy="914400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201400" y="2212848"/>
            <a:ext cx="685800" cy="347472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201400" y="2212848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Bug 33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2221992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BUG CRÍTICO CORRIGIDO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260604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replace('/','') concatenava receptor+binder (240+ aa)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191256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3191256"/>
            <a:ext cx="73152" cy="91440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303520" y="3236976"/>
            <a:ext cx="685800" cy="3474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0" y="3236976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corrigido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3246120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Fix (commit e9024bc)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3630168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parts = seq.split('/'); binder = parts[-1]  -&gt; 20 aa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63640" y="3191256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63640" y="3191256"/>
            <a:ext cx="73152" cy="9144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201400" y="3236976"/>
            <a:ext cx="685800" cy="34747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201400" y="3236976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resultado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46520" y="3246120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Deduplicação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3630168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165.000 brutas -&gt; 24.513 únicas (83.8% redundância)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4215384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65760" y="4215384"/>
            <a:ext cx="73152" cy="91440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303520" y="4261104"/>
            <a:ext cx="685800" cy="347472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03520" y="4261104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nota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4270248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Homogeneidade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" y="4654296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Todos os 24.513 binders têm 20 aa (limitação desta rodada)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63640" y="4215384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263640" y="4215384"/>
            <a:ext cx="73152" cy="91440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1201400" y="4261104"/>
            <a:ext cx="68580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201400" y="4261104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otimizacao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46520" y="4270248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Cache inteligente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46520" y="4654296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Não re-roda ProteinMPNN se FASTAs já existem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5239512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65760" y="5239512"/>
            <a:ext cx="73152" cy="91440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303520" y="5285232"/>
            <a:ext cx="68580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303520" y="5285232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ML label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8640" y="5294376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is_known_inhibitor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8640" y="5678424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Seeds BPTI/SKTI incluídos como âncoras positivas ML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63640" y="5239512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263640" y="5239512"/>
            <a:ext cx="73152" cy="91440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1201400" y="5285232"/>
            <a:ext cx="685800" cy="3474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201400" y="5285232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CSV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46520" y="5294376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Dataset exportado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46520" y="5678424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outputs/dataset/ml_training_dataset.csv — 41 features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6126480"/>
            <a:ext cx="11430000" cy="5943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920" y="619963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B4D8"/>
                </a:solidFill>
                <a:latin typeface="Calibri"/>
              </a:rPr>
              <a:t>24.513 binders únicos 20 aa  |  165.000 brutas  |  41 features  |  Bug FASTA corrigido (commit e9024bc)  |  Cys excluídas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7/18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Dataset ML/DL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24.513 sequências × 41 features + labels Vina/Rosetta reais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4F8A"/>
                </a:solidFill>
                <a:latin typeface="Calibri"/>
              </a:rPr>
              <a:t>Arquivo: outputs/dataset/ml_training_dataset.csv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554480"/>
            <a:ext cx="5394960" cy="1453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554480"/>
            <a:ext cx="539496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58191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Globais (7)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965960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length, mw_da, net_charge (pH 7)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295144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isoelectric_point, instability_index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624328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aliphatic_index, boman_index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200400"/>
            <a:ext cx="5394960" cy="11064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200400"/>
            <a:ext cx="5394960" cy="36576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22783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Hidrofobicidade (2)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611880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hydrophobicity_kd (Kyte-Doolittle)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941064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frac_hydrophobic (AILMFWV)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343400"/>
            <a:ext cx="5394960" cy="11064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539496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37083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Composição por classe (3)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754880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frac_aromatic, frac_charged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084064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n_arg_lys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303520"/>
            <a:ext cx="5394960" cy="11064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5303520"/>
            <a:ext cx="5394960" cy="365760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33095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Features binárias (3)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715000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has_aromatic_cterminal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044184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has_charged_nterminal, has_pro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0" y="1554480"/>
            <a:ext cx="5394960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943600" y="1554480"/>
            <a:ext cx="539496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35040" y="158191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Composição AA (19)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60" y="1965960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frac_A, frac_D, frac_E, frac_F,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0760" y="2295144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frac_G, frac_H, frac_I, frac_K,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80760" y="2624328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frac_L, frac_M, frac_N, frac_P,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2953512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frac_Q, frac_R, frac_S, frac_T,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80760" y="3282696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frac_V, frac_W, frac_Y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43600" y="4114800"/>
            <a:ext cx="5394960" cy="1453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943600" y="4114800"/>
            <a:ext cx="5394960" cy="3657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35040" y="414223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Labels supervisionados (3)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80760" y="4526280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best_affinity_kcal  &lt;- Vina real (194 labels)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80760" y="4855464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rosetta_I_sc  &lt;- PyRosetta I_sc REF2015 (10 labels)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80760" y="5184648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is_known_inhibitor (BPTI/SKTI=1)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0" y="5577840"/>
            <a:ext cx="5394960" cy="11064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943600" y="5577840"/>
            <a:ext cx="5394960" cy="36576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35040" y="560527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Metadados (2)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80760" y="5989320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sequence (20 aa), length (categoria)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80760" y="6318504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backbone (stem do PDB RFdiffusion)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8/18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Docking Molecular — AutoDock Vina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194/194 poses validas | binders RFdiffusion+ProteinMPNN reais | 39 bugs total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11430000" cy="50292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143000"/>
            <a:ext cx="91440" cy="5029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0700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33344"/>
                </a:solidFill>
                <a:latin typeface="Calibri"/>
              </a:rPr>
              <a:t>Rodada com binders reais (2026-06-17): 194/194 poses validas | top-1: GSRASARAYAARVRARRAAL (-13.62 kcal/mol)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737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Bugs criticos desta sessao (binders RFdiffusion):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121408"/>
            <a:ext cx="548640" cy="65836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26771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29-31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121408"/>
            <a:ext cx="10881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2139696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  <a:latin typeface="Calibri"/>
              </a:rPr>
              <a:t>NA atom type rejeitado pelo Vina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441448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"N":"NA" (sodio) em vez de nitrogênio backbone -&gt; "N":"N"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2286000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4F8A"/>
                </a:solidFill>
                <a:latin typeface="Calibri"/>
              </a:rPr>
              <a:t>603cc04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889503"/>
            <a:ext cx="548640" cy="65836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3035808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2889503"/>
            <a:ext cx="10881360" cy="65836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2907791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  <a:latin typeface="Calibri"/>
              </a:rPr>
              <a:t>obabel -xr gerava formato de RECEPTOR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3209544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Sem ROOT/ENDROOT para ligante -&gt; remover -xr; _ensure_ligand_pdbqt_format() reescreve sempre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9560" y="3054096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4F8A"/>
                </a:solidFill>
                <a:latin typeface="Calibri"/>
              </a:rPr>
              <a:t>603cc04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657600"/>
            <a:ext cx="548640" cy="658368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3803904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33 ★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3657600"/>
            <a:ext cx="10881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3675887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76F"/>
                </a:solidFill>
                <a:latin typeface="Calibri"/>
              </a:rPr>
              <a:t>TOP CANDIDATOS ERAM REDESIGNS DAS TRIPSINAS (bug critico)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977639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replace('/','') concatenava receptor+binder (240+ aa) -&gt; parts[-1] extrai binder 20 aa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09560" y="3822191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4F8A"/>
                </a:solidFill>
                <a:latin typeface="Calibri"/>
              </a:rPr>
              <a:t>e9024bc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425696"/>
            <a:ext cx="548640" cy="65836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45720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" y="4425696"/>
            <a:ext cx="10881360" cy="65836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4443983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  <a:latin typeface="Calibri"/>
              </a:rPr>
              <a:t>seq[-L:] cortava binders reais de 20 aa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" y="4745736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len(seq)&gt;L*2 triggava para len5 (20&gt;10) -&gt; remocao do corte artificial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09560" y="459028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4F8A"/>
                </a:solidFill>
                <a:latin typeface="Calibri"/>
              </a:rPr>
              <a:t>ad6fa9e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5193792"/>
            <a:ext cx="548640" cy="65836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5340096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" y="5193792"/>
            <a:ext cx="10881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5212079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  <a:latin typeface="Calibri"/>
              </a:rPr>
              <a:t>Grid dimensionado por label (5/7/10), nao comprimento real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5513831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item['length']=categoria -&gt; len(item['sequence'])=20 -&gt; grid 80x80x80 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09560" y="5358383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4F8A"/>
                </a:solidFill>
                <a:latin typeface="Calibri"/>
              </a:rPr>
              <a:t>ad6fa9e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5961888"/>
            <a:ext cx="548640" cy="65836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610819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38-39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14400" y="5961888"/>
            <a:ext cx="10881360" cy="65836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5840" y="5980175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  <a:latin typeface="Calibri"/>
              </a:rPr>
              <a:t>Rosetta selecionava por heuristica, nao por Vina | campo vina_affinity inexistente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5840" y="6281927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_select_top_sequences() le docking_results.json | campo correto: best_affinity_kcal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6126479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4F8A"/>
                </a:solidFill>
                <a:latin typeface="Calibri"/>
              </a:rPr>
              <a:t>a7ac84f+e16a28f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9/18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Resultados Docking + Ranking — Rodada Expandida (2026-06-27)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880/1000 poses validas | novo top-1: SARESIKKAYKTFLERYKKL -14,58 kcal/mol | 24.513 rankeados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11430000" cy="9144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170432"/>
            <a:ext cx="4114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06D6A0"/>
                </a:solidFill>
                <a:latin typeface="Calibri"/>
              </a:rPr>
              <a:t>880 / 1000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19072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0F4F8"/>
                </a:solidFill>
                <a:latin typeface="Calibri"/>
              </a:rPr>
              <a:t>poses Vina validas (rodada expandida)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2344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Melhor: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1517904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6D6A0"/>
                </a:solidFill>
                <a:latin typeface="Calibri"/>
              </a:rPr>
              <a:t>-14.58 kcal/mol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12344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Media: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517904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B4D8"/>
                </a:solidFill>
                <a:latin typeface="Calibri"/>
              </a:rPr>
              <a:t>~-12.4 kcal/mol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12344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ML RMSE: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1517904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D166"/>
                </a:solidFill>
                <a:latin typeface="Calibri"/>
              </a:rPr>
              <a:t>0.514 kcal/mol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148840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Top-5 por score composto (ranking expandido):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560320"/>
            <a:ext cx="347472" cy="320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2336" y="2578608"/>
            <a:ext cx="27432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3232" y="2560320"/>
            <a:ext cx="3657600" cy="320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2578608"/>
            <a:ext cx="3584448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Sequencia (20 aa)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70832" y="2560320"/>
            <a:ext cx="384048" cy="320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07408" y="2578608"/>
            <a:ext cx="31089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54880" y="2560320"/>
            <a:ext cx="1097280" cy="320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2578608"/>
            <a:ext cx="1024127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Vina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52160" y="2560320"/>
            <a:ext cx="777240" cy="320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88736" y="2578608"/>
            <a:ext cx="704088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Score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29400" y="2560320"/>
            <a:ext cx="5001768" cy="320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65976" y="2578608"/>
            <a:ext cx="492861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Observacao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2880360"/>
            <a:ext cx="64008" cy="3474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2880360"/>
            <a:ext cx="347472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2336" y="2898648"/>
            <a:ext cx="274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3232" y="2880360"/>
            <a:ext cx="365760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9808" y="2898648"/>
            <a:ext cx="35844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B55"/>
                </a:solidFill>
                <a:latin typeface="Calibri"/>
              </a:rPr>
              <a:t>SARESIKKAYKTFLERYKKL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70832" y="2880360"/>
            <a:ext cx="384048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07408" y="2898648"/>
            <a:ext cx="310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20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754880" y="2880360"/>
            <a:ext cx="109728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91456" y="2898648"/>
            <a:ext cx="1024127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6D6A0"/>
                </a:solidFill>
                <a:latin typeface="Calibri"/>
              </a:rPr>
              <a:t>-14.58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852160" y="2880360"/>
            <a:ext cx="77724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888736" y="2898648"/>
            <a:ext cx="7040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0.748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29400" y="2880360"/>
            <a:ext cx="5001768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65976" y="2898648"/>
            <a:ext cx="492861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NOVO top-1 — Vina mais negativo do pipeline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3227832"/>
            <a:ext cx="64008" cy="3474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65760" y="3227832"/>
            <a:ext cx="34747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2336" y="3246120"/>
            <a:ext cx="274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13232" y="3227832"/>
            <a:ext cx="36576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49808" y="3246120"/>
            <a:ext cx="35844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B55"/>
                </a:solidFill>
                <a:latin typeface="Calibri"/>
              </a:rPr>
              <a:t>GSRASARAYAARVRARRAAL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370832" y="3227832"/>
            <a:ext cx="384048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407408" y="3246120"/>
            <a:ext cx="310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20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754880" y="3227832"/>
            <a:ext cx="10972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91456" y="3246120"/>
            <a:ext cx="1024127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-13.62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52160" y="3227832"/>
            <a:ext cx="7772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88736" y="3246120"/>
            <a:ext cx="7040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0.701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629400" y="3227832"/>
            <a:ext cx="5001768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65976" y="3246120"/>
            <a:ext cx="492861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Validado por MD (RMSD 0,494 nm, ESTAVEL)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3575304"/>
            <a:ext cx="64008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65760" y="3575304"/>
            <a:ext cx="347472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02336" y="3593591"/>
            <a:ext cx="274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13232" y="3575304"/>
            <a:ext cx="365760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49808" y="3593591"/>
            <a:ext cx="35844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2B55"/>
                </a:solidFill>
                <a:latin typeface="Calibri"/>
              </a:rPr>
              <a:t>GARESIREHQKRFLERYKKK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70832" y="3575304"/>
            <a:ext cx="384048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407408" y="3593591"/>
            <a:ext cx="310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20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754880" y="3575304"/>
            <a:ext cx="109728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791456" y="3593591"/>
            <a:ext cx="1024127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-13.56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852160" y="3575304"/>
            <a:ext cx="77724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888736" y="3593591"/>
            <a:ext cx="7040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0.661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629400" y="3575304"/>
            <a:ext cx="5001768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665976" y="3593591"/>
            <a:ext cx="492861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Gly/Ala + Glu/His + R/K C-term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65760" y="3922776"/>
            <a:ext cx="64008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65760" y="3922776"/>
            <a:ext cx="34747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02336" y="3941064"/>
            <a:ext cx="274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4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13232" y="3922776"/>
            <a:ext cx="36576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49808" y="3941064"/>
            <a:ext cx="35844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2B55"/>
                </a:solidFill>
                <a:latin typeface="Calibri"/>
              </a:rPr>
              <a:t>GGPTGKRIAELYKKSLEKKK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370832" y="3922776"/>
            <a:ext cx="384048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07408" y="3941064"/>
            <a:ext cx="310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20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754880" y="3922776"/>
            <a:ext cx="10972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791456" y="3941064"/>
            <a:ext cx="1024127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-13.47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852160" y="3922776"/>
            <a:ext cx="7772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888736" y="3941064"/>
            <a:ext cx="7040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0.653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629400" y="3922776"/>
            <a:ext cx="5001768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665976" y="3941064"/>
            <a:ext cx="492861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Gly/Pro scaffold + Lys-rico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65760" y="4270248"/>
            <a:ext cx="64008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65760" y="4270248"/>
            <a:ext cx="347472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02336" y="4288536"/>
            <a:ext cx="274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5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13232" y="4270248"/>
            <a:ext cx="365760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49808" y="4288536"/>
            <a:ext cx="35844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2B55"/>
                </a:solidFill>
                <a:latin typeface="Calibri"/>
              </a:rPr>
              <a:t>AARENIRAYAARFRARLAAK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370832" y="4270248"/>
            <a:ext cx="384048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407408" y="4288536"/>
            <a:ext cx="3108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20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754880" y="4270248"/>
            <a:ext cx="109728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791456" y="4288536"/>
            <a:ext cx="1024127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-13.79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852160" y="4270248"/>
            <a:ext cx="77724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888736" y="4288536"/>
            <a:ext cx="7040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0.635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629400" y="4270248"/>
            <a:ext cx="5001768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665976" y="4288536"/>
            <a:ext cx="492861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Ala-rico + Arg/Tyr — Vina entre melhores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65760" y="6492240"/>
            <a:ext cx="11430000" cy="25603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02920" y="6510528"/>
            <a:ext cx="11155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Especificidade: 20/20 aprovados vs tripsina humana (1TRN) + Apis mellifera (A0A7M7MMI1) | Resistencia: 0/20 resistentes — todos susceptiveis (K/R internos) — sondas in vitro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10/18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PyRosetta 2026.25 — Refinamento de Interface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FastRelax + InterfaceAnalyzerMover('A_B') | I_sc REF2015 | 10/10 complexos refinados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11430000" cy="59436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143000"/>
            <a:ext cx="91440" cy="59436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34440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33344"/>
                </a:solidFill>
                <a:latin typeface="Calibri"/>
              </a:rPr>
              <a:t>Instalado: pyrosetta-2026.25+release (pyrosetta-installer, sem licenca separada) | Python 3.10 | protein_design_env | 2026-06-17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82880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Cross-validation Vina × I_sc Rosetta — top-10 candidatos: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240280"/>
            <a:ext cx="3840480" cy="320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2336" y="2258568"/>
            <a:ext cx="3767328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Sequencia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06240" y="2240280"/>
            <a:ext cx="1097280" cy="320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42816" y="2258568"/>
            <a:ext cx="1024127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Vina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03520" y="2240280"/>
            <a:ext cx="731520" cy="320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0096" y="2258568"/>
            <a:ext cx="658368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RankV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2240280"/>
            <a:ext cx="1280160" cy="320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71616" y="2258568"/>
            <a:ext cx="1207007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I_sc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0" y="2240280"/>
            <a:ext cx="731520" cy="320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51775" y="2258568"/>
            <a:ext cx="658368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RankR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46720" y="2240280"/>
            <a:ext cx="731520" cy="320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83296" y="2258568"/>
            <a:ext cx="658368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Delta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78240" y="2240280"/>
            <a:ext cx="1828800" cy="320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14815" y="2258568"/>
            <a:ext cx="1755648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560320"/>
            <a:ext cx="384048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2336" y="2578608"/>
            <a:ext cx="37673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GARKSIREYQKRVLERLKKK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06240" y="2560320"/>
            <a:ext cx="109728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42816" y="2578608"/>
            <a:ext cx="102412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-12.76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03520" y="256032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40096" y="257860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5040" y="2560320"/>
            <a:ext cx="128016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71616" y="2578608"/>
            <a:ext cx="120700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6D6A0"/>
                </a:solidFill>
                <a:latin typeface="Calibri"/>
              </a:rPr>
              <a:t>-86.28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15200" y="256032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51775" y="257860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46720" y="256032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83296" y="257860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+1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78240" y="2560320"/>
            <a:ext cx="182880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814815" y="2578608"/>
            <a:ext cx="17556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6D6A0"/>
                </a:solidFill>
                <a:latin typeface="Calibri"/>
              </a:rPr>
              <a:t>bestI_sc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2834640"/>
            <a:ext cx="384048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2336" y="2852928"/>
            <a:ext cx="37673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AARASQREYQKKFLERLKKK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2834640"/>
            <a:ext cx="109728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42816" y="2852928"/>
            <a:ext cx="102412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-12.52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303520" y="283464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340096" y="285292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35040" y="2834640"/>
            <a:ext cx="128016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071616" y="2852928"/>
            <a:ext cx="120700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6D6A0"/>
                </a:solidFill>
                <a:latin typeface="Calibri"/>
              </a:rPr>
              <a:t>-85.92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315200" y="283464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51775" y="285292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046720" y="283464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83296" y="285292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+3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778240" y="2834640"/>
            <a:ext cx="18288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814815" y="2852928"/>
            <a:ext cx="17556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6D6A0"/>
                </a:solidFill>
                <a:latin typeface="Calibri"/>
              </a:rPr>
              <a:t>elevado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108960"/>
            <a:ext cx="384048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02336" y="3127248"/>
            <a:ext cx="37673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MKKQRENAKKVAEITLKKAK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206240" y="3108960"/>
            <a:ext cx="109728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242816" y="3127248"/>
            <a:ext cx="102412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-12.68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303520" y="310896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340096" y="312724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35040" y="3108960"/>
            <a:ext cx="128016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616" y="3127248"/>
            <a:ext cx="120700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6D6A0"/>
                </a:solidFill>
                <a:latin typeface="Calibri"/>
              </a:rPr>
              <a:t>-80.49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5200" y="310896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351775" y="312724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046720" y="310896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083296" y="312724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+1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778240" y="3108960"/>
            <a:ext cx="182880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814815" y="3127248"/>
            <a:ext cx="17556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4F8A"/>
                </a:solidFill>
                <a:latin typeface="Calibri"/>
              </a:rPr>
              <a:t>concordante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3383280"/>
            <a:ext cx="384048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02336" y="3401568"/>
            <a:ext cx="37673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GSRASARAYAARVRARRAAL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206240" y="3383280"/>
            <a:ext cx="109728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242816" y="3401568"/>
            <a:ext cx="102412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6D6A0"/>
                </a:solidFill>
                <a:latin typeface="Calibri"/>
              </a:rPr>
              <a:t>-13.62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303520" y="338328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340096" y="340156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1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035040" y="3383280"/>
            <a:ext cx="128016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071616" y="3401568"/>
            <a:ext cx="120700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-78.44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315200" y="338328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351775" y="340156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4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46720" y="338328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083296" y="340156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-3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778240" y="3383280"/>
            <a:ext cx="18288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814815" y="3401568"/>
            <a:ext cx="17556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B4D8"/>
                </a:solidFill>
                <a:latin typeface="Calibri"/>
              </a:rPr>
              <a:t>bestVina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65760" y="3657600"/>
            <a:ext cx="384048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02336" y="3675888"/>
            <a:ext cx="37673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AARASIRAAAARFRARRAAL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206240" y="3657600"/>
            <a:ext cx="109728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242816" y="3675888"/>
            <a:ext cx="102412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-12.62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303520" y="365760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340096" y="367588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6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035040" y="3657600"/>
            <a:ext cx="128016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071616" y="3675888"/>
            <a:ext cx="120700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-75.45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315200" y="365760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351775" y="367588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5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46720" y="365760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083296" y="367588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+1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778240" y="3657600"/>
            <a:ext cx="182880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814815" y="3675888"/>
            <a:ext cx="17556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4F8A"/>
                </a:solidFill>
                <a:latin typeface="Calibri"/>
              </a:rPr>
              <a:t>concordante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3931920"/>
            <a:ext cx="384048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02336" y="3950208"/>
            <a:ext cx="37673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GSLTGRRIAALWKASLAKRK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206240" y="3931920"/>
            <a:ext cx="109728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242816" y="3950208"/>
            <a:ext cx="102412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303520" y="393192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340096" y="395020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035040" y="3931920"/>
            <a:ext cx="128016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071616" y="3950208"/>
            <a:ext cx="120700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-69.44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315200" y="393192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351775" y="395020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6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046720" y="393192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083296" y="395020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8778240" y="3931920"/>
            <a:ext cx="18288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814815" y="3950208"/>
            <a:ext cx="17556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Rosetta-only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65760" y="4206240"/>
            <a:ext cx="384048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02336" y="4224528"/>
            <a:ext cx="37673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SAAARARQRAVGARMRARVA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4206240" y="4206240"/>
            <a:ext cx="109728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4242816" y="4224528"/>
            <a:ext cx="102412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-12.44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303520" y="420624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340096" y="422452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8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035040" y="4206240"/>
            <a:ext cx="128016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071616" y="4224528"/>
            <a:ext cx="120700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-63.98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7315200" y="420624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7351775" y="422452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7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8046720" y="420624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8083296" y="422452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+1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778240" y="4206240"/>
            <a:ext cx="182880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814815" y="4224528"/>
            <a:ext cx="17556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4F8A"/>
                </a:solidFill>
                <a:latin typeface="Calibri"/>
              </a:rPr>
              <a:t>concordante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365760" y="4480560"/>
            <a:ext cx="384048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02336" y="4498848"/>
            <a:ext cx="37673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AARENIRKAHKTFLERLKKK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4206240" y="4480560"/>
            <a:ext cx="109728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4242816" y="4498848"/>
            <a:ext cx="102412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-12.36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303520" y="448056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340096" y="449884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7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035040" y="4480560"/>
            <a:ext cx="128016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616" y="4498848"/>
            <a:ext cx="120700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-62.74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315200" y="448056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351775" y="449884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8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046720" y="448056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083296" y="449884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8778240" y="4480560"/>
            <a:ext cx="18288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814815" y="4498848"/>
            <a:ext cx="17556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4F8A"/>
                </a:solidFill>
                <a:latin typeface="Calibri"/>
              </a:rPr>
              <a:t>concordante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365760" y="4754880"/>
            <a:ext cx="384048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402336" y="4773168"/>
            <a:ext cx="37673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ALDAVRARARALGARLRARA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206240" y="4754880"/>
            <a:ext cx="109728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4242816" y="4773168"/>
            <a:ext cx="102412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303520" y="475488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340096" y="477316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035040" y="4754880"/>
            <a:ext cx="128016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6071616" y="4773168"/>
            <a:ext cx="120700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-61.89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7315200" y="475488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7351775" y="477316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9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8046720" y="4754880"/>
            <a:ext cx="73152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083296" y="477316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8778240" y="4754880"/>
            <a:ext cx="182880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8814815" y="4773168"/>
            <a:ext cx="17556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Rosetta-only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365760" y="5029200"/>
            <a:ext cx="384048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02336" y="5047488"/>
            <a:ext cx="37673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44"/>
                </a:solidFill>
                <a:latin typeface="Calibri"/>
              </a:rPr>
              <a:t>SLARKRAEENAKRFLERVKK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206240" y="5029200"/>
            <a:ext cx="109728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242816" y="5047488"/>
            <a:ext cx="102412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-12.71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303520" y="502920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340096" y="504748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3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035040" y="5029200"/>
            <a:ext cx="128016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071616" y="5047488"/>
            <a:ext cx="120700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-61.41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7315200" y="502920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7351775" y="504748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10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8046720" y="5029200"/>
            <a:ext cx="7315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8083296" y="5047488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44"/>
                </a:solidFill>
                <a:latin typeface="Calibri"/>
              </a:rPr>
              <a:t>-7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8778240" y="5029200"/>
            <a:ext cx="18288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8814815" y="5047488"/>
            <a:ext cx="17556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F476F"/>
                </a:solidFill>
                <a:latin typeface="Calibri"/>
              </a:rPr>
              <a:t>divergente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365760" y="5074920"/>
            <a:ext cx="114300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365760" y="5074920"/>
            <a:ext cx="54864" cy="155448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548640" y="5138928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6D6A0"/>
                </a:solidFill>
                <a:latin typeface="Calibri"/>
              </a:rPr>
              <a:t>GARKSIREYQKRVLERLKKK: melhor I_sc (-86.28) apesar de #2 por Vina — FastRelax revela interface forte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548640" y="5431536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AARASQREYQKKFLERLKKK: sobe de #5 Vina para #2 I_sc (-85.92) — docking rigido subestimava sua afinidade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548640" y="5724144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F476F"/>
                </a:solidFill>
                <a:latin typeface="Calibri"/>
              </a:rPr>
              <a:t>SLARKRAEENAKRFLERVKK: cai de #3 Vina para #10 I_sc (-61.41) — DESCARTADO, interface nao sustenta pos-relax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48640" y="6016752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6D6A0"/>
                </a:solidFill>
                <a:latin typeface="Calibri"/>
              </a:rPr>
              <a:t>GSRASARAYAARVRARRAAL: confirmado por ambos (Vina #1, I_sc #4) — candidato mais robusto para sintese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548640" y="630936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6D6A0"/>
                </a:solidFill>
                <a:latin typeface="Calibri"/>
              </a:rPr>
              <a:t>Concordancia Vina × Rosetta: criterio mais rigoroso — identifica GARKSIREYQKRVLERLKKK como top real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11/18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Candidatos Prioritarios — Top-3 Confirmados por Dupla Validacao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Vina (docking rigido) × PyRosetta I_sc (FastRelax) | todos 20 aa | Fmoc-SPPS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70432"/>
            <a:ext cx="114300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170432"/>
            <a:ext cx="411480" cy="100584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42646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#1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1225296"/>
            <a:ext cx="2011680" cy="25603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1234440"/>
            <a:ext cx="19933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R/K denso (n=9), Glu/Tyr distr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1197864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GARKSIREYQKRVLERLKKK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0" y="1554480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4F8A"/>
                </a:solidFill>
                <a:latin typeface="Calibri"/>
              </a:rPr>
              <a:t>Vina = -12.76 kcal/mol (rank #2)  |  I_sc = -86.28 kcal/mol (rank #1)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1810512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333344"/>
                </a:solidFill>
                <a:latin typeface="Calibri"/>
              </a:rPr>
              <a:t>Melhor I_sc absoluto. FastRelax revela interface excepcional. Melhor candidato por concordancia.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18120" y="1335024"/>
            <a:ext cx="9365284" cy="20116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229124" y="1335024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B4D8"/>
                </a:solidFill>
                <a:latin typeface="Calibri"/>
              </a:rPr>
              <a:t>V:-12.8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8120" y="1627632"/>
            <a:ext cx="5607649" cy="20116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471489" y="1627632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6D6A0"/>
                </a:solidFill>
                <a:latin typeface="Calibri"/>
              </a:rPr>
              <a:t>R:-86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267712"/>
            <a:ext cx="114300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2267712"/>
            <a:ext cx="411480" cy="10058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52374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#2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680" y="2322576"/>
            <a:ext cx="2011680" cy="25603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2331720"/>
            <a:ext cx="19933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Gly/Ser N-term, Arg/Ala backbo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1800" y="2295144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GSRASARAYAARVRARRAAL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71800" y="2651760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4F8A"/>
                </a:solidFill>
                <a:latin typeface="Calibri"/>
              </a:rPr>
              <a:t>Vina = -13.62 kcal/mol (rank #1)  |  I_sc = -78.44 kcal/mol (rank #4)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71800" y="2907791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333344"/>
                </a:solidFill>
                <a:latin typeface="Calibri"/>
              </a:rPr>
              <a:t>Melhor Vina absoluto (-13.62). Confirmado por Rosetta (#4 I_sc). Candidato de referencia.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818120" y="2432304"/>
            <a:ext cx="9719157" cy="20116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582997" y="2432304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B4D8"/>
                </a:solidFill>
                <a:latin typeface="Calibri"/>
              </a:rPr>
              <a:t>V:-13.6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18120" y="2724912"/>
            <a:ext cx="5285049" cy="20116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148889" y="2724912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6D6A0"/>
                </a:solidFill>
                <a:latin typeface="Calibri"/>
              </a:rPr>
              <a:t>R:-78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364991"/>
            <a:ext cx="114300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3364991"/>
            <a:ext cx="411480" cy="100584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362102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#3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68680" y="3419856"/>
            <a:ext cx="2011680" cy="25603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6968" y="3428999"/>
            <a:ext cx="19933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Ala N-term, Arg/Lys/Phe C-term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71800" y="3392423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AARASQREYQKKFLERLKKK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71800" y="3749039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4F8A"/>
                </a:solidFill>
                <a:latin typeface="Calibri"/>
              </a:rPr>
              <a:t>Vina = -12.52 kcal/mol (rank #5)  |  I_sc = -85.92 kcal/mol (rank #2)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71800" y="4005072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333344"/>
                </a:solidFill>
                <a:latin typeface="Calibri"/>
              </a:rPr>
              <a:t>Vina #5 mas Rosetta #2. Docking rigido subestimava afinidade real de interface.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818120" y="3529584"/>
            <a:ext cx="9266529" cy="20116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7130369" y="3529584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B4D8"/>
                </a:solidFill>
                <a:latin typeface="Calibri"/>
              </a:rPr>
              <a:t>V:-12.5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18120" y="3822191"/>
            <a:ext cx="5592836" cy="20116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456676" y="3822191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6D6A0"/>
                </a:solidFill>
                <a:latin typeface="Calibri"/>
              </a:rPr>
              <a:t>R:-86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4462272"/>
            <a:ext cx="114300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65760" y="4462272"/>
            <a:ext cx="411480" cy="100584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471830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#4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68680" y="4517136"/>
            <a:ext cx="2011680" cy="25603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86968" y="4526280"/>
            <a:ext cx="19933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Lys-rico (n=8), alifatico, sol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971800" y="4489704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MKKQRENAKKVAEITLKKAK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71800" y="4846320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4F8A"/>
                </a:solidFill>
                <a:latin typeface="Calibri"/>
              </a:rPr>
              <a:t>Vina = -12.68 kcal/mol (rank #4)  |  I_sc = -80.49 kcal/mol (rank #3)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971800" y="5102352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333344"/>
                </a:solidFill>
                <a:latin typeface="Calibri"/>
              </a:rPr>
              <a:t>Consistente em ambos (#4 Vina, #3 Rosetta). Alto conteudo Lys favorece sintese e solubilidade.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818120" y="4626864"/>
            <a:ext cx="9332366" cy="20116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7196206" y="4626864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B4D8"/>
                </a:solidFill>
                <a:latin typeface="Calibri"/>
              </a:rPr>
              <a:t>V:-12.7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818120" y="4919472"/>
            <a:ext cx="5369402" cy="20116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233242" y="4919472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6D6A0"/>
                </a:solidFill>
                <a:latin typeface="Calibri"/>
              </a:rPr>
              <a:t>R:-80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5559552"/>
            <a:ext cx="11430000" cy="1005840"/>
          </a:xfrm>
          <a:prstGeom prst="rect">
            <a:avLst/>
          </a:prstGeom>
          <a:solidFill>
            <a:srgbClr val="FF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65760" y="5559552"/>
            <a:ext cx="411480" cy="1005840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5760" y="581558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✗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68680" y="5614416"/>
            <a:ext cx="2011680" cy="256032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86968" y="5623560"/>
            <a:ext cx="19933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Leu/Ala scaffold + R/K alterna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971800" y="5586984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F476F"/>
                </a:solidFill>
                <a:latin typeface="Calibri"/>
              </a:rPr>
              <a:t>SLARKRAEENAKRFLERVKK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971800" y="5943600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4F8A"/>
                </a:solidFill>
                <a:latin typeface="Calibri"/>
              </a:rPr>
              <a:t>Vina = -12.71 kcal/mol (rank #3)  |  I_sc = -61.41 kcal/mol (rank #10)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71800" y="6199632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333344"/>
                </a:solidFill>
                <a:latin typeface="Calibri"/>
              </a:rPr>
              <a:t>DESCARTADO: Vina #3 mas Rosetta #10. Interface nao sustenta apos FastRelax. Nao sintetizar.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818120" y="5724144"/>
            <a:ext cx="9344710" cy="20116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7208550" y="5724144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B4D8"/>
                </a:solidFill>
                <a:latin typeface="Calibri"/>
              </a:rPr>
              <a:t>V:-12.7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818120" y="6016752"/>
            <a:ext cx="4584298" cy="20116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2448138" y="6016752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6D6A0"/>
                </a:solidFill>
                <a:latin typeface="Calibri"/>
              </a:rPr>
              <a:t>R:-61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6601968"/>
            <a:ext cx="11430000" cy="16459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920" y="6611112"/>
            <a:ext cx="111556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MD 5/5 CONCLUIDO: MKKQRENAKKVAEITLKKAK (0,447 nm) e GSRASARAYAARVRARRAAL (0,494 nm) ESTAVEIS | ver slide 13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12/18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Dinamica Molecular — Top-5 Candidatos × ACR157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GROMACS | AMBER99SB-ILDN | TIP3P | 300 K | 10 ns cada | RTX 5070 Ti (~36 min/replica)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143000"/>
            <a:ext cx="1161288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188720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Candidato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118872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Vina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3480" y="118872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I_sc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188720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RMSD avg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0920" y="118872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Rg (nm)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118872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Hbond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64040" y="118872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Estabilidade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1572768"/>
            <a:ext cx="11612880" cy="777240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572768"/>
            <a:ext cx="73152" cy="77724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1773936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  <a:latin typeface="Calibri"/>
              </a:rPr>
              <a:t>MKKQRENAKKVAEITLKKAK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177393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-12,72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3480" y="177393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-80,49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177393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0,447 ± 0,332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60920" y="177393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1,785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177393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161,0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464040" y="1728216"/>
            <a:ext cx="2331720" cy="43891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64040" y="1728216"/>
            <a:ext cx="2331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ESTAVEL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395728"/>
            <a:ext cx="11612880" cy="777240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4320" y="2395728"/>
            <a:ext cx="73152" cy="77724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2596896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  <a:latin typeface="Calibri"/>
              </a:rPr>
              <a:t>GSRASARAYAARVRARRAAL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40480" y="259689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-13,62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83480" y="259689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-78,44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259689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0,494 ± 0,414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0920" y="259689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1,799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20" y="259689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160,9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464040" y="2551176"/>
            <a:ext cx="2331720" cy="43891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64040" y="2551176"/>
            <a:ext cx="2331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ESTAVEL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3218688"/>
            <a:ext cx="11612880" cy="77724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74320" y="3218688"/>
            <a:ext cx="73152" cy="77724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3419856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  <a:latin typeface="Calibri"/>
              </a:rPr>
              <a:t>AARASIRAAAARFRARRAAL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40480" y="341985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-12,62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83480" y="341985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-75,45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26480" y="341985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0,945 ± 0,924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60920" y="341985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1,836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03920" y="341985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163,6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464040" y="3374136"/>
            <a:ext cx="2331720" cy="438912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464040" y="3374136"/>
            <a:ext cx="2331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Marginal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4041648"/>
            <a:ext cx="11612880" cy="777240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74320" y="4041648"/>
            <a:ext cx="73152" cy="777240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242816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  <a:latin typeface="Calibri"/>
              </a:rPr>
              <a:t>GARKSIREYQKRVLERLKKK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40480" y="424281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-12,76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83480" y="424281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-86,28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26480" y="424281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1,453 ± 1,003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60920" y="424281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1,952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24281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160,5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464040" y="4197096"/>
            <a:ext cx="2331720" cy="438912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464040" y="4197096"/>
            <a:ext cx="2331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Instavel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74320" y="4864608"/>
            <a:ext cx="11612880" cy="777240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74320" y="4864608"/>
            <a:ext cx="73152" cy="777240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5065776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  <a:latin typeface="Calibri"/>
              </a:rPr>
              <a:t>SLARKRAEENAKRFLERVKK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840480" y="506577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-12,71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983480" y="506577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-61,41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26480" y="506577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1,700 ± 1,033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360920" y="506577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1,910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503920" y="506577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170,8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464040" y="5020056"/>
            <a:ext cx="2331720" cy="438912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464040" y="5020056"/>
            <a:ext cx="2331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Instavel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74320" y="5733288"/>
            <a:ext cx="11612880" cy="9601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57200" y="5779008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  <a:latin typeface="Calibri"/>
              </a:rPr>
              <a:t>RECLASSIFICACAO FINAL (Vina + I_sc Rosetta + RMSD MD)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6144768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4F8"/>
                </a:solidFill>
                <a:latin typeface="Calibri"/>
              </a:rPr>
              <a:t>#1 MKKQRENAKKVAEITLKKAK (RMSD 0,447 nm — mais estavel)    #2 GSRASARAYAARVRARRAAL (Vina -13,62 + RMSD 0,494 nm)    GARKSIREYQKRVLERLKKK descartado (melhor I_sc mas RMSD 1,45 nm = instavel em solvente)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13/18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Status das Ferramentas no Servidor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eulalio@200.235.143.10 | Debian | RTX 5070 Ti 16 GB | sm_120 Blackwell | 2026-06-18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56692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143000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32588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1197864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Python 3.10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1563624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conda env protein_design_env (pipeline principal)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143000"/>
            <a:ext cx="56692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143000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132588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197864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OpenBabel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1563624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obabel — conversao PDBQT (sem -xr para ligantes)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029967"/>
            <a:ext cx="5669280" cy="8046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2029967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212848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084831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AutoDock Vina f458505-mod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2450591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docking rigido peptideos (TORSDOF=0, best_affinity_kcal)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2029967"/>
            <a:ext cx="5669280" cy="8046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2029967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212848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2084831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fpocket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2450591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analise e deteccao de bolso de ligacao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2916936"/>
            <a:ext cx="56692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2916936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3099816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2971800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GROMACS gmx_mpi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3337560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CUDA-MPI, build sm_120 Blackwell, env md-gromacs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2916936"/>
            <a:ext cx="56692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63640" y="2916936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63640" y="3099816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0" y="2971800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PyTorch 2.12.0.dev+cu128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0" y="3337560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CUDA 12.8, compativel Blackwell (sm_120)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3803904"/>
            <a:ext cx="5669280" cy="8046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3803904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3986784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3858768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ProteinMPNN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" y="4224528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~/ProteinMPNN | 24.513 binders gerados para ACR157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63640" y="3803904"/>
            <a:ext cx="5669280" cy="8046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263640" y="3803904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63640" y="3986784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0" y="3858768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RFdiffusion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0" y="4224528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~/RFdiffusion | Complex_base_ckpt.pt 462 MB | 330 backbones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4690872"/>
            <a:ext cx="56692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5760" y="4690872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4873752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" y="4745736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PyRosetta 2026.25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0120" y="5111496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pyrosetta-installer (sem licenca) | FastRelax + IA Mover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63640" y="4690872"/>
            <a:ext cx="56692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263640" y="4690872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263640" y="4873752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58000" y="4745736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plip 3.0.0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0" y="5111496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analise de interacoes protein-ligante (conda-forge)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65760" y="5577840"/>
            <a:ext cx="5669280" cy="8046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65760" y="5577840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576072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0120" y="5632703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rdkit, pdbfixer, mdtraj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0120" y="5998464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analise estrutural e preparacao de sistemas MD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263640" y="5577840"/>
            <a:ext cx="5669280" cy="8046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263640" y="5577840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263640" y="576072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0" y="5632703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PeptideBuilder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0" y="5998464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geracao all-atom de peptideos (fallback + Rosetta complex)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14/18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Estrategia Tecnica: Docking Rigido para ML Labels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Justificativa cientifica e tecnica | binders RFdiffusion 20 aa | TORSDOF 0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88720"/>
            <a:ext cx="2560320" cy="109728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252728"/>
            <a:ext cx="23774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Binder
all-atom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37360"/>
            <a:ext cx="23774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PeptideBuilder
(ECEPP/3)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188720"/>
            <a:ext cx="2560320" cy="109728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1252728"/>
            <a:ext cx="23774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PDBQT
all-atom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1737360"/>
            <a:ext cx="23774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_pdb_to_pdbqt_minimal()
(N-&gt;N, nao NA!)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188720"/>
            <a:ext cx="2560320" cy="109728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59" y="1252728"/>
            <a:ext cx="23774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ROOT wrapper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1737360"/>
            <a:ext cx="23774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_ensure_ligand
_pdbqt_format()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1188720"/>
            <a:ext cx="2560320" cy="1097280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0" y="1252728"/>
            <a:ext cx="23774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AutoDock
Vina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1737360"/>
            <a:ext cx="23774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Grid 80x80x80 A
exh=8, modes=9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B4D8"/>
                </a:solidFill>
                <a:latin typeface="Calibri"/>
              </a:rPr>
              <a:t>-&gt;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B4D8"/>
                </a:solidFill>
                <a:latin typeface="Calibri"/>
              </a:rPr>
              <a:t>-&gt;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40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B4D8"/>
                </a:solidFill>
                <a:latin typeface="Calibri"/>
              </a:rPr>
              <a:t>-&gt;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468880"/>
            <a:ext cx="11430000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260604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D2B55"/>
                </a:solidFill>
                <a:latin typeface="Calibri"/>
              </a:rPr>
              <a:t>Por que docking RIGIDO?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063240"/>
            <a:ext cx="114300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09067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4F8A"/>
                </a:solidFill>
                <a:latin typeface="Calibri"/>
              </a:rPr>
              <a:t>Limite tecnico: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49039" y="3090672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Peptideos 20 aa tem &gt;32 ligacoes rotacionaveis (phi+psi+chi). Vina aborta docking flexivel acima de 32 torsional bonds.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931920"/>
            <a:ext cx="11430000" cy="8046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395935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4F8A"/>
                </a:solidFill>
                <a:latin typeface="Calibri"/>
              </a:rPr>
              <a:t>Escala: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9039" y="3959352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Para triagem de 24.513 binders (ML labels), docking rigido e viavel. Correlacao Pearson ~0.7 com flexivel para top candidatos.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4800600"/>
            <a:ext cx="114300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4828031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4F8A"/>
                </a:solidFill>
                <a:latin typeface="Calibri"/>
              </a:rPr>
              <a:t>Custo: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4828031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194 candidatos x 8 exhaustiveness ~ 15 min. Docking flexivel completo seria inviavel nessa escala.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5669279"/>
            <a:ext cx="11430000" cy="8046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569671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4F8A"/>
                </a:solidFill>
                <a:latin typeface="Calibri"/>
              </a:rPr>
              <a:t>Validacao posterior: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49039" y="5696712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Top-10 refinados com PyRosetta FastRelax (I_sc REF2015) e top-5 por MD GROMACS 10 ns — validacao rigorosa em camadas.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15/18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Infraestrutura Computacional e Workflow Git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Notebook Windows 11 &lt;-&gt; GitHub &lt;-&gt; Servidor Debian RTX 5070 Ti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560320"/>
            <a:ext cx="3474720" cy="182880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67004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Notebook Local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154679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Windows 11
RTX 2050 4 GB
Edicao de codigo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2560320"/>
            <a:ext cx="3474720" cy="1828800"/>
          </a:xfrm>
          <a:prstGeom prst="rect">
            <a:avLst/>
          </a:prstGeom>
          <a:solidFill>
            <a:srgbClr val="333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267004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GitHub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3154679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eulaliobqi/design-inibidores
git push / pull
Fonte de verdade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2560320"/>
            <a:ext cx="3474720" cy="182880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267004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Servidor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154679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eulalio@200.235.143.10
Debian | 32 cores
RTX 5070 Ti 16 GB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383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0B4D8"/>
                </a:solidFill>
                <a:latin typeface="Calibri"/>
              </a:rPr>
              <a:t>-&gt;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59" y="37947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B4D8"/>
                </a:solidFill>
                <a:latin typeface="Calibri"/>
              </a:rPr>
              <a:t>git push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383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0B4D8"/>
                </a:solidFill>
                <a:latin typeface="Calibri"/>
              </a:rPr>
              <a:t>-&gt;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37947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B4D8"/>
                </a:solidFill>
                <a:latin typeface="Calibri"/>
              </a:rPr>
              <a:t>git pull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663440"/>
            <a:ext cx="11430000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4632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2B55"/>
                </a:solidFill>
                <a:latin typeface="Calibri"/>
              </a:rPr>
              <a:t>Comandos padrao no servidor: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257800"/>
            <a:ext cx="11430000" cy="1463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532180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$ cd ~/design-inibidores &amp;&amp; git pull origin main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66928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$ conda run -n protein_design_env python scripts/run_pipeline.py --step &lt;step&gt; --resume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0167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$ conda run -n md-gromacs python scripts/run_pipeline.py --step md --resume   # apenas MD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364224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$ screen -S &lt;nome&gt;   # OBRIGATORIO antes de qualquer run longa (SIGTTOU mata background)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16/18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Proximos Passos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Fase 4-5 | resultados Fase 1-3 concluidos (2026-06-27)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5669280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143000"/>
            <a:ext cx="502920" cy="150876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55448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4a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1179576"/>
            <a:ext cx="1188720" cy="2743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17957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PROXIMO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490472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RFdiffusion 5-15 aa + filtro KR-interno=0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1837943"/>
            <a:ext cx="3840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250 backbones curtos: 50 x [5, 7, 10, 12, 15 aa] | contigs independentes por comprimento
ProteinMPNN: P1 unico C-terminal (Arg/Lys) | posicoes internas = Ala/Ser/Gly/Pro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118872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06D6A0"/>
                </a:solidFill>
                <a:latin typeface="Calibri"/>
              </a:rPr>
              <a:t>~3h GPU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1143000"/>
            <a:ext cx="5669280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143000"/>
            <a:ext cx="502920" cy="15087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155448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4b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0" y="1179576"/>
            <a:ext cx="1188720" cy="2743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117957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PROXIMO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03720" y="1490472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MD dos 219 candidatos OptimizationAgent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1837943"/>
            <a:ext cx="3840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219 variantes de MKKQRENAKKVAEITLKKAK + GSRASARAYAARVRARRAAL geradas
Selecionar top-5 por Vina -&gt; MD 10 ns -&gt; filtrar estaveis (RMSD &lt; 0,5 nm)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118872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00B4D8"/>
                </a:solidFill>
                <a:latin typeface="Calibri"/>
              </a:rPr>
              <a:t>~5h GPU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834640"/>
            <a:ext cx="5669280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2834640"/>
            <a:ext cx="502920" cy="150876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24612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4c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" y="2871216"/>
            <a:ext cx="1188720" cy="27432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28712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PROXIMO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3182112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MD de SARESIKKAYKTFLERYKKL (novo top-1 Vina)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3529584"/>
            <a:ext cx="3840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Melhor afinidade Vina do pipeline (-14,58 kcal/mol) ainda sem MD
Confirmar estabilidade antes de priorizar para sintese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288036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FD166"/>
                </a:solidFill>
                <a:latin typeface="Calibri"/>
              </a:rPr>
              <a:t>~1h GPU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2834640"/>
            <a:ext cx="5669280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09360" y="2834640"/>
            <a:ext cx="502920" cy="1508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0" y="324612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0" y="2871216"/>
            <a:ext cx="1188720" cy="27432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0" y="28712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FUTURO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03720" y="3182112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Expansao taxonomica: H. armigera + A. gemmatalis + D. saccharalis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3720" y="3529584"/>
            <a:ext cx="3840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Pipeline atual: ACR157 (A. gemmatalis) apenas
Rodar docking + Rosetta nos outros 3 receptores -&gt; seletividade por especie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07040" y="288036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1A4F8A"/>
                </a:solidFill>
                <a:latin typeface="Calibri"/>
              </a:rPr>
              <a:t>~GPU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4526280"/>
            <a:ext cx="5669280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5760" y="4526280"/>
            <a:ext cx="502920" cy="1508760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493776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6a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4400" y="4562856"/>
            <a:ext cx="1188720" cy="274320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456285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FUTURO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4873752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Variantes resistentes: Nle/Orn/D-aa nos P1-internos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" y="5221224"/>
            <a:ext cx="3840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K interno -&gt; Nle (norleucina) | R interno -&gt; Orn (ornitina)
D-Lys / D-Arg: invisiveis para L-tripsinas enantiosseletivas (Fmoc-SPPS)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457200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F7F11"/>
                </a:solidFill>
                <a:latin typeface="Calibri"/>
              </a:rPr>
              <a:t>sintese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4526280"/>
            <a:ext cx="11430000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5760" y="4526280"/>
            <a:ext cx="502920" cy="1508760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493776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6b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14400" y="4562856"/>
            <a:ext cx="1188720" cy="274320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0" y="456285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LONGO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120" y="4873752"/>
            <a:ext cx="9601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Sintese e validacao experimental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" y="5221224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Top-2 estaveis -&gt; Fmoc-SPPS -&gt; IC50 in vitro (S. frugiperda + A. gemmatalis)
Publicacao alvo: JCIM / CSBJ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424160" y="457200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F7F11"/>
                </a:solidFill>
                <a:latin typeface="Calibri"/>
              </a:rPr>
              <a:t>meses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17/18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Conclusoes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836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B4D8"/>
                </a:solidFill>
                <a:latin typeface="Calibri"/>
              </a:rPr>
              <a:t>Fase 1-3 CONCLUIDA | 880 poses | ML treinado | 20/20 seletivos | 0/20 resistentes — 2026-06-27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502920" cy="64008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34416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316736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0F4F8"/>
                </a:solidFill>
                <a:latin typeface="Calibri"/>
              </a:rPr>
              <a:t>330 backbones RFdiffusion | 24.513 binders ProteinMPNN | 880 poses Vina | novo top-1: SARESIKKAYKTFLERYKKL (-14,58 kcal/mol, score=0,748)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029967"/>
            <a:ext cx="502920" cy="64008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093976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066543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0F4F8"/>
                </a:solidFill>
                <a:latin typeface="Calibri"/>
              </a:rPr>
              <a:t>MD 10 ns — 5/5 concluidos | MKKQRENAKKVAEITLKKAK (RMSD 0,447 nm) ESTAVEL #1 | GSRASARAYAARVRARRAAL (RMSD 0,494 nm) ESTAVEL #2 | 2 instáveis descartados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779776"/>
            <a:ext cx="502920" cy="64008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843784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81635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0F4F8"/>
                </a:solidFill>
                <a:latin typeface="Calibri"/>
              </a:rPr>
              <a:t>ML: Random Forest RMSE=0,514 kcal/mol | 24.513 predicoes geradas | 219 novos candidatos por OptimizationAgent (redesign iterativo)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529584"/>
            <a:ext cx="502920" cy="64008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593591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56616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0F4F8"/>
                </a:solidFill>
                <a:latin typeface="Calibri"/>
              </a:rPr>
              <a:t>Especificidade: 20/20 aprovados vs tripsina humana (1TRN) + Apis mellifera (SI &gt;= 2,0 kcal/mol) | Resistencia proteolitica: 0/20 resistentes — sondas in vitro; modificacao quimica necessaria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279392"/>
            <a:ext cx="502920" cy="6400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43434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31596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0F4F8"/>
                </a:solidFill>
                <a:latin typeface="Calibri"/>
              </a:rPr>
              <a:t>Trade-off intrínseco: Arg/Lys maximizam afinidade S1 (Asp205) mas sao substratos da propria tripsina. Solucao: Fase 4 peptideos 5-15 aa + Nle/Orn/D-aa nos P1-internos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029200"/>
            <a:ext cx="502920" cy="6400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5093207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5065775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0F4F8"/>
                </a:solidFill>
                <a:latin typeface="Calibri"/>
              </a:rPr>
              <a:t>MD obrigatorio: GARKSIREYQKRVLERLKKK melhor I_sc Rosetta (-86,28) mas instavel em solvente (RMSD 1,45 nm). 3 metodos concordantes validam mecanismo competitivo Arg-Asp205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779008"/>
            <a:ext cx="502920" cy="640080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5843016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5815583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0F4F8"/>
                </a:solidFill>
                <a:latin typeface="Calibri"/>
              </a:rPr>
              <a:t>Fase 4: RFdiffusion 5-15 aa (KR-interno=0) + MD SARESIKKAYKTFLERYKKL + variantes Nle/Orn | Alvo sintese: MKKQRENAKKVAEITLKKAK + GSRASARAYAARVRARRAAL -&gt; Fmoc-SPPS -&gt; IC50 (JCIM/CSBJ)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18/18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