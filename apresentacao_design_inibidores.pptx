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t>Design Racional de Inibidores Peptídicos de Tripsinas de Lepidoptera por IA Generativa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i="1">
                <a:solidFill>
                  <a:srgbClr val="404040"/>
                </a:solidFill>
              </a:defRPr>
            </a:pPr>
            <a:r>
              <a:t>Universidade Federal de Viçosa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Desafio de Controle — Resistência a Bt e Inseticidas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Lepidópteros-praga (*Spodoptera frugiperda*, *Anticarsia gemmatalis*) causam perdas significativas em culturas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Resistência crescente a toxinas Bt e inseticidas químicos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Necessidade de estratégias complementares de controle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Estratégia Alternativa — Inibidores de Proteases Digestivas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Tripsinas: enzimas centrais na digestão de proteínas em larvas de Lepidoptera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Inibidores de proteases = bloqueio direto da fisiologia digestiva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Precedente natural: inibidores Kunitz/BPTI (comprovados em literatura)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Atividade real documentada: inibição tight-binding + sinergia com Bt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Lacuna do Projeto — Design Computacional de Novos Peptídeos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Inibidores naturais enfrentam limitações: suscetibilidade a clivagem proteolítica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IA generativa para design de proteínas abre alternativa: gerar peptídeos inéditos computacionalmente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Validação rigorosa in silico em cada etapa (não apenas escore estático)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Objetivo: candidatos reprodutivelmente estáveis + específicos + resistentes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Pipeline Multiagente —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10 agentes especializados orquestrando fluxo end-to-end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Etapas: geração de backbones → design de sequência → docking → dinâmica molecular → análise integrada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RFdiffusion &amp; ProteinMPNN — Geração de Candidatos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**RFdiffusion** (Yang et al. 2024): geração de novo de estruturas peptídicas ancoradas ao sítio catalítico → **330 backbones reais**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**ProteinMPNN** (Dauparas et al. 2023): design de sequência sobre cada backbone → **24.513 peptídeos de 20 aa** (+ variantes curtas 5–7 aa)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Filtros iniciais: compatibilidade estrutural com sítio, ausência de P1-internos óbvios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Validação In Silico — Docking + Dinâmica Molecular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**Docking molecular (AutoDock Vina)** → 880 poses válidas contra ACR157 (receptor primário)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**Dinâmica molecular (GROMACS, CHARMM36 + CGenFF)** → replica real n=3 (100 ns cada)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Métricas: RMSD (estabilidade estrutural), ocupância do sítio S1 (persistência funcional)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Replica-to-replica concordância como validação de reprodutibilidade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Critérios Reais — Estabilidade, Especificidade, Resistência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**Estabilidade reprodutível**: RMSD &lt; 0,05 nm DP entre 3 réplicas (n=13 TOP-13)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**Especificidade**: Seletividade índice (SI) ≥ 2,0 kcal/mol vs. tripsina humana + *Apis mellifera* (não-alvos)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**Resistência proteolítica**: ausência de P1-internos básicos reconhecíveis (K/R) — proteção vs. autoclivagem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**Cross-species**: afinidade mantida contra 11 espécies-praga de Lepidoptera (amplo espectro)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Estruturas-Alvo &amp; Sítio Catalítico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**4 receptores primários**: ACR157, QCL936, XP273, XP352 (tripsinas de Lepidoptera)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Tríade catalítica conservada: His–Asp–Ser (posição única em todos, verificada)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Bolso de especificidade S1: resíduo Asp em 3 receptores (XP273: Tyr atípico, documentado)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Protocolo MD &amp; Análise de Persistência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Dinâmica molecular: GROMACS + CHARMM36/CGenFF5.0, ensemble NPT, 100 ns por réplica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Análise de persistência: ocupância do complexo peptídeo-receptor em raios 4 Å / 5 Å / 6 Å vs. resíduo âncora (Asp P1 bolso)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Métrica: % de frames em que peptídeo permanece dentro do raio (indicador de permanência real no sítio catalítico)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Especificidade Cross-Species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Docking contra 11 espécies-praga adicionais: *D. saccharalis*, *H. virescens*, *C. includens*, etc. (receptores reais de literatura/UniProt)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Métrica: Seletividade Índice (SI) = Vina(não-alvo humano) − Vina(alvo primário) — valores ≥ 2,0 kcal/mol = especificidade confirmada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Cross-species: afinidade mantida contra múltiplas praga (requisito R3)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Overview dos Candidatos — Fingerprint dos 5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TOP-5 candidatos por reprodutibilidade + persistência: SRTRR, VRYRR, VRRPR, HRPRRPR, HRPRRSR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Síntese de métricas: RMSD médio, ocupância S1 @ 6 Å, SI mínimo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Contato com tríade catalítica: verificado via PLIP (interações reais)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Reprodutibilidade MD — Réplicas Reais (n=3)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TOP-13 candidatos rodados em triplicate (rep1, rep2, rep3, sementes -1)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**Achado-chave**: 2 'recordistas de estabilidade' de réplica única (RLREELKKAEEWLEKRRKEE 0,294 nm; VRTRR 0,194 nm) mostraram DP real de 0,606 nm e 0,360 nm — resultado NÃO reprodutível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**Apenas 4 candidatos confirmam estabilidade real** (DP &lt; 0,05 nm): SRTRR, VRYRR, VRRPR, HRPRRPR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Conclusão: estabilidade em réplica única não é confiável isoladamente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Persistência de Contato — Ocupância do Bolso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Análise de ocupância: % de frames em que peptídeo permanece no bolso S1 (raios 4/5/6 Å)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**VRRPR paradoxo**: RMSD global estável (0,268 nm, DP 0,01 nm), MAS ocupância a 6 Å cai dramáticamente entre réplicas (67,6% → 32,9% → 0,15%)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**VRYRR destaque**: ocupância ~100% mesmo no corte mais estrito (4 Å), salt-bridge real (Lys-Asp) nas 3 réplicas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Conclusão: baixa variância estrutural ≠ permanência funcional no sítio catalítico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SRTRR — Candidato de Referência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Sequência: SRTRR (5 aa, comprimento ótimo)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RMSD: 0,2425 nm (DP 0,0178 nm) — estável reprodutível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Vina: −10,31 kcal/mol (ACR157)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Ocupância S1 @ 6 Å: ~80% (persistência confirmada)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SI mínimo: 1,17 kcal/mol (margem de especificidade)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VRYRR — Melhor em Especificidade &amp; Persistência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Sequência: VRYRR (5 aa)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RMSD: 0,1985 nm (DP 0,0134 nm) — muito estável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Vina: −10,22 kcal/mol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**Ocupância S1 @ 4 Å: ~100%** — salt-bridge Lys(peptídeo)–Asp187(bolso) nas 3 réplicas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SI mínimo: 0,92 kcal/mol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HRPRRPR — Afinidade Excelente, 7 aa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Sequência: HRPRRPR (7 aa)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RMSD: 0,2659 nm (DP 0,0181 nm) — estável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Vina: −11,72 kcal/mol (segunda melhor afinidade do TOP-13)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Ocupância S1 @ 6 Å: ~75%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SI mínimo: 1,41 kcal/mol (melhor especificidade entre 7 aa)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Matriz Cross-Species — 13 Candidatos × 11 Espécies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Docking contra 11 espécies-praga adicionais (verificação de amplo espectro)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**143 dockings reais** executados (13 × 11 matriz completa)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Colormap heatmap: azul claro (afinidade fraca) → azul escuro (afinidade forte)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Candidatos reordenados por média Vina geral (mais negativos = mais eficazes)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Bloqueadores Atuais — Especificidade &amp; Resistência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**Especificidade**: 0/23 candidatos aprovados (SI ≥ 2,0 kcal/mol) — margem de seletividade insuficiente frente a não-alvos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**Resistência proteolítica**: 0/20 top-20 resistentes a autoclivagem por P1-internos básicos (K/R)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Candidato SEEEVLAANEAYAAAHTAYN: ausência de P1-internos (resistência estrutural real), MAS sem margem de especificidade comprovada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Ambos bloqueadores precisam ser resolvidos simultaneamente para aprovação de síntese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Achado-Chave — Por Que Reprodutibilidade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VRRPR demonstra que estabilidade global (RMSD baixo) pode mascarar falha funcional local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Sem réplicas independentes, este candidato seria classificado como 'estável' e potencialmente sintetizado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Validação cruzada (n=3) revelou ocupância P1 colapsando de 67,6% para 0,15% entre réplicas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**Lição metodológica**: réplicas in silico = essencial antes de síntese experimental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Conclusões — Metodologia Rigorosa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Pipeline multiagente integrou IA generativa, dinâmica molecular e validação cruzada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**330 backbones + 120k+ sequências** reduzidas a TOP-13 pela reprodutibilidade real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Tríade catalítica verificada independentemente (bug real detectado + corrigido em H. virescens)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Cada etapa computacional submetida a validação cruzada (não opcional)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Candidatos reprodutivelmente estáveis: SRTRR, VRYRR, VRRPR, HRPRRPR (base sólida para síntese)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**Curto prazo**: resolução simultânea de especificidade (SI ≥ 2,0) e resistência proteolítica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**Médio prazo**: síntese química e validação experimental (bioensaios contra tripsinas reais)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**Longo prazo**: otimização contra múltiplas espécies-praga + formação de adjuvantes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