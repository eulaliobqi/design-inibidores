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PyTorch 2.11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🌱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🧪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🎯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❓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391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86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73405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8152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429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7764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AutoDock Vina: triagem de afinidade 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larga escala (kcal/mol) para 14.923 seqs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714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81888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GROMACS / AMBER: validação dinâmica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166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dos top candidatos (10–100 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513831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8613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Dataset ML/DL: 14.923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62087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para treinamento de modelos preditivos.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Gerar 30 backbones peptídicos (5–20 aa) via RFdiffusion ancorados ao sítio 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Produzir 14.923 sequências únicas por 10 estratégias complementares (ProteinMPNN)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Obter energias de afinidade Vina (kcal/mol) como labels supervisionados reais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Validar estabilidade dos top-5 candidatos por dinâmica molecular (GROMACS)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candidatos prioritários para síntese e ensaios biológicos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com fallback heurístico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30 backbones
5–20 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14.923
sequências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FlexPep
Dock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Vina
kcal/mol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progresso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Pendente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−1.15 / −1.63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−0.32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−0.34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−1.26 / 5.60 / −5.25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−1.89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• Tyr83 substitui a His catalítica canônica (His-Asp-Ser)
• Ile229 no bolso S1 (ao invés de Asp) → especificidade por resíduos HIDROFÓBICOS (Leu, Ile, Val)
• Justifica a NÃO restrição de P1 no pipeline de geração — permite explorar mecanismos não canônicos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−1.89] Å  |  tamanho = 25×25×25 Å  |  exaustividade = 8  |  modos = 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RFdiffusion (fallback: PeptideBuilder poly-Ala)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  <a:latin typeface="Calibri"/>
              </a:rPr>
              <a:t>Watson et al., Nature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Modelo de difusão estrutural treinado 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PDB → gera backbones condicional ao sítio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noise_scale_ca  = 0.2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hotspot_radius = 6.0 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contig: A1-N/0 L-L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Status no servidor: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✓ git clone ~/RFdiffusion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Base_ckpt.pt em download (~2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Backbones reais pendentes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Fallback atual: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PeptideBuilder (poly-Ala linear)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30 backbones gerados com sucesso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atual)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1645920"/>
            <a:ext cx="10972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664208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0" y="1645920"/>
            <a:ext cx="16459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16642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Seqs únicas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 aa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2011680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202996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2011680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202996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359152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0" y="2377440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49840" y="2359152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23774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10 aa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89520" y="2706624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35240" y="2724912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3252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49840" y="2706624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5560" y="272491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12 aa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3054096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5240" y="3072384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3252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3054096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95560" y="30723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7220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3401568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5240" y="3419856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8680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3252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49840" y="3401568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95560" y="341985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7220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 aa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589520" y="3749039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35240" y="376732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8680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3252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49840" y="3749039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5560" y="376732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2.483 seqs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2200" y="4114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35240" y="411480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5560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14.923 únicas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Sequências — ProteinMPNN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estratégias complementares × 500 seqs/backbone → 14.923 únicas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random_uniform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Cobertura uniforme do espaço composicional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hydrophobic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alostérica/hidrofóbica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charged_positive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competitiva clássica (R/K no P1)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charged_negative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Interações eletrostáticas alternativas (D/E)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aromatic_cterminal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Contatos com subsítios S1'/S2' (Y/W/F C-term)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aromatic_nterminal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β-hairpin mimético (Y/W/F N-terminal)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amphipathic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α-hélice anfipática (carga + hidrofóbico alt)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proline_rich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Scaffold PPII rígido (Pro a cada 3 pos.)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motif_seeded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+ mutações pontuais (~3 pos)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glycine_scan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Mapeamento de flexibilidade (Gly por posição)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14.923 sequências únicas  |  41 features físico-químicas  |  Seeds BPTI/SKTI incluídos (is_known_inhibitor=1)  |  Cys excluídas automaticamente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14.923 sequências × 41 features calculadas analiticamente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vina_affinity_kcal  ← Vina real (kcal/mol)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← FlexPepDock I_sc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final_score  ← score composto normalizado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sequence, length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Triagem de 200 candidatos rígidos · 5 bugs corrigidos · aguarda re-run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44"/>
                </a:solidFill>
                <a:latin typeface="Calibri"/>
              </a:rPr>
              <a:t>✓  AutoDock Vina f458505-mod instalado  |  ✓ obabel (PDBQT all-atom)  |  ◑  Re-execução pendente após commit 84e5c0b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Histórico de correções do módulo de docking: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3969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011680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048256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atom.set_vector() → atom.coord +=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225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BioPython sem método → CA-only silencioso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1579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04f20a3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61488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88950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761488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798064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Cache receptor.pdbqt (2 kB inválido)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07238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Arquivo mínimo reutilizado; fix: threshold &gt; 5 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9077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937a7dc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11296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63931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11296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547872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Peptídeos rígidos via obabel -xr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822191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&gt;32 torsional bonds → Vina rejeita docking flexível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6576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50b5d47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61104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389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261104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--log não suportado em f458505-mod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5720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Fork removeu opção; captura via stdout/stderr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40740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552f7e7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411480" cy="6217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13892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010912"/>
            <a:ext cx="110185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0474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PDBQT sem ROOT/ENDROOT/TORSDOF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32180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obabel gera formato receptor; _ensure_ligand_pdbqt_format()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51572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84e5c0b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760720"/>
            <a:ext cx="411480" cy="62179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888736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5760720"/>
            <a:ext cx="11018520" cy="6217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797296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  <a:latin typeface="Calibri"/>
              </a:rPr>
              <a:t>N-terminus no sítio (não COM) + grid 25 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607161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44"/>
                </a:solidFill>
                <a:latin typeface="Calibri"/>
              </a:rPr>
              <a:t>Cadeia 20aa estendia 72 Å para fora; grid adaptativo + COM centering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590702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4F8A"/>
                </a:solidFill>
                <a:latin typeface="Calibri"/>
              </a:rPr>
              <a:t>30aac00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6492240"/>
            <a:ext cx="11430000" cy="256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10528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D6A0"/>
                </a:solidFill>
                <a:latin typeface="Calibri"/>
              </a:rPr>
              <a:t>Rodada 1 (bugs 1-5):  11/199 poses validas  |  Top-1: KNRKRKV 7aa  |  Causa diagnosticada: bug 06  |  Rodada 2 pendente com fix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Resultados Parciais — Rodada 1 de Docking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11/199 poses validas · Diagnostico completo · Fix implementado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486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48640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704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 que funcionou (bugs 1-5 corrigidos)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5303520" cy="9144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642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  <a:latin typeface="Calibri"/>
              </a:rPr>
              <a:t>11 / 199  poses validas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5798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4F8"/>
                </a:solidFill>
                <a:latin typeface="Calibri"/>
              </a:rPr>
              <a:t>PRIMEIRO resultado Vina real do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06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Top poses obtidas (Rodada 1):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99232"/>
            <a:ext cx="530352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KNRKRKV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01752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len=7  ?? kcal/mol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017520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4F8A"/>
                </a:solidFill>
                <a:latin typeface="Calibri"/>
              </a:rPr>
              <a:t>Top-1 ranking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47872"/>
            <a:ext cx="53035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56616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RRKWHWK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56616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len=7  ?? kcal/mol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566160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4F8A"/>
                </a:solidFill>
                <a:latin typeface="Calibri"/>
              </a:rPr>
              <a:t>Top-3 ranking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96511"/>
            <a:ext cx="530352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114800"/>
            <a:ext cx="1828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+ 9 seqs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411480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len=~7  ?? kcal/mol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114800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4F8A"/>
                </a:solidFill>
                <a:latin typeface="Calibri"/>
              </a:rPr>
              <a:t>Todos len &lt;= 7 aa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120640"/>
            <a:ext cx="5486400" cy="13258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166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  <a:latin typeface="Calibri"/>
              </a:rPr>
              <a:t>Validação da abordagem: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486400"/>
            <a:ext cx="5212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Top-1 heuristico: RRHKERRKTMKSRVRVSRWK (20aa, 0.650)
Top-1 Vina real:  KNRKRKV (7aa, 0.661)
Mudanca de ranking confirma que Vina real e necessario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143000"/>
            <a:ext cx="557784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17043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Bug 06 diagnosticado — 188/199 falhas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Causa raiz: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19659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PeptideBuilder coloca o N-TERMINUS em [2.6, 4.6, -1.9] A.
Um peptideo de 20aa extendido tem ~72 A de comprimento.
O grid de 25x25x25 A nao cobre nem 35% da cadeia.
Vina executa (rc=0) mas nao encontra poses validas.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154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Fix implementado (commit 30aac00):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5204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COM centering: translada centro de massa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8130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do peptideo para o sitio catalitico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10565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 (nao mais o N-terminus)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39826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69087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Grid adaptativo por comprimento: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49834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5 aa  -&gt;  26 x 26 x 26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52760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10 aa -&gt;  44 x 44 x 44 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55686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15 aa -&gt;  62 x 62 x 62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58613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20 aa -&gt;  80 x 80 x 80 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6172200"/>
            <a:ext cx="5577840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6199632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Rodada 2 pendente: git pull + find ... -delete + --step docking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Ranking Atual — Top Candidatos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Rodada 1: 11 com Vina real · 14.912 ainda heuristicos · Rodada 2 corrigira ranking completo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457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1704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143000"/>
            <a:ext cx="3566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170432"/>
            <a:ext cx="35112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Sequencia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143000"/>
            <a:ext cx="4114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170432"/>
            <a:ext cx="356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79" y="1143000"/>
            <a:ext cx="658368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1170432"/>
            <a:ext cx="603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1143000"/>
            <a:ext cx="457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11704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R+K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143000"/>
            <a:ext cx="594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1170432"/>
            <a:ext cx="539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4807" y="1143000"/>
            <a:ext cx="7772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170432"/>
            <a:ext cx="722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MW(Da)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114300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1170432"/>
            <a:ext cx="122529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527048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545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1527048"/>
            <a:ext cx="3566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1545336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KNRKRKV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1527048"/>
            <a:ext cx="411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1545336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79" y="1527048"/>
            <a:ext cx="658368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82312" y="1545336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0.661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13248" y="1527048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40680" y="1545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70448" y="1527048"/>
            <a:ext cx="5943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80" y="1545336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+4.0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64807" y="1527048"/>
            <a:ext cx="77724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1545336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963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2048" y="1527048"/>
            <a:ext cx="1280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9480" y="1545336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D6A0"/>
                </a:solidFill>
                <a:latin typeface="Calibri"/>
              </a:rPr>
              <a:t>Vina real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1856231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" y="1874519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1856231"/>
            <a:ext cx="3566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1874519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RRHKERRKTMKSRVRVSRWK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1856231"/>
            <a:ext cx="411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0832" y="1874519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79" y="1856231"/>
            <a:ext cx="65836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82312" y="1874519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13248" y="1856231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40680" y="1874519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70448" y="1856231"/>
            <a:ext cx="594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7880" y="1874519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+10.1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64807" y="1856231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1874519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048" y="1856231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69480" y="1874519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2185415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7240" y="2185415"/>
            <a:ext cx="3566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2203704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RRKWHWK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43400" y="2185415"/>
            <a:ext cx="411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2203704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79" y="2185415"/>
            <a:ext cx="658368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82312" y="2203704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0.621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13248" y="2185415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40680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70448" y="2185415"/>
            <a:ext cx="5943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97880" y="2203704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+4.1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64807" y="2185415"/>
            <a:ext cx="77724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2203704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1025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42048" y="2185415"/>
            <a:ext cx="1280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69480" y="2203704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D6A0"/>
                </a:solidFill>
                <a:latin typeface="Calibri"/>
              </a:rPr>
              <a:t>Vina real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2514600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47472" y="253288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2514600"/>
            <a:ext cx="3566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2532888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YPRTRNIRKIWRPRVRRRTL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43400" y="2514600"/>
            <a:ext cx="411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70832" y="2532888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79" y="2514600"/>
            <a:ext cx="65836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2532888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0.569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13248" y="2514600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40680" y="253288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70448" y="2514600"/>
            <a:ext cx="594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97880" y="2532888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+9.0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64807" y="2514600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92240" y="2532888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2694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42048" y="2514600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69480" y="2532888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2843784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286207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7240" y="2843784"/>
            <a:ext cx="3566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2862072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RRYKKKRRKYKQMDH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43400" y="2843784"/>
            <a:ext cx="411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70832" y="2862072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79" y="2843784"/>
            <a:ext cx="658368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82312" y="2862072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0.569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13248" y="2843784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40680" y="286207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70448" y="2843784"/>
            <a:ext cx="5943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97880" y="2862072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+8.1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64807" y="2843784"/>
            <a:ext cx="77724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92240" y="2862072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2122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242048" y="2843784"/>
            <a:ext cx="1280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269480" y="2862072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0040" y="3172968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7472" y="319125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7240" y="3172968"/>
            <a:ext cx="3566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04672" y="3191256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WKRMKMQYTKLRKDKDGFVR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343400" y="3172968"/>
            <a:ext cx="411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0832" y="3191256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754879" y="3172968"/>
            <a:ext cx="65836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82312" y="3191256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0.568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13248" y="3172968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440680" y="319125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70448" y="3172968"/>
            <a:ext cx="594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97880" y="3191256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+6.0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64807" y="3172968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92240" y="3191256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2615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242048" y="3172968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269480" y="3191256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" y="3502152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7472" y="352044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7240" y="3502152"/>
            <a:ext cx="3566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4672" y="3520440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KRRMRAPMTKMRRIG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43400" y="3502152"/>
            <a:ext cx="411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370832" y="3520440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754879" y="3502152"/>
            <a:ext cx="658368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82312" y="3520440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413248" y="3502152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440680" y="352044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870448" y="3502152"/>
            <a:ext cx="5943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97880" y="3520440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+7.0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64807" y="3502152"/>
            <a:ext cx="77724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92240" y="3520440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1888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242048" y="3502152"/>
            <a:ext cx="1280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269480" y="3520440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0040" y="3831335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7472" y="3849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77240" y="3831335"/>
            <a:ext cx="3566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04672" y="3849624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RVWVFRFREMKWIHNRRKWV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343400" y="3831335"/>
            <a:ext cx="411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70832" y="3849624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54879" y="3831335"/>
            <a:ext cx="65836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82312" y="3849624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413248" y="3831335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849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870448" y="3831335"/>
            <a:ext cx="594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897880" y="3849624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+6.1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464807" y="3831335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92240" y="3849624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2830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242048" y="3831335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269480" y="3849624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20040" y="4160520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7472" y="417880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7240" y="4160520"/>
            <a:ext cx="3566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2" y="4178808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FPYWKKKRQLSYKDKARGLY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343400" y="4160520"/>
            <a:ext cx="411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370832" y="4178808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754879" y="4160520"/>
            <a:ext cx="658368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782312" y="4178808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13248" y="4160520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440680" y="417880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870448" y="4160520"/>
            <a:ext cx="5943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897880" y="4178808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+6.0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464807" y="4160520"/>
            <a:ext cx="77724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492240" y="4178808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2576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242048" y="4160520"/>
            <a:ext cx="128016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269480" y="4178808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320040" y="4489704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47472" y="45079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77240" y="4489704"/>
            <a:ext cx="3566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4672" y="4507992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RKPWNVRKLIKKGKM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343400" y="4489704"/>
            <a:ext cx="411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370832" y="4507992"/>
            <a:ext cx="356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754879" y="4489704"/>
            <a:ext cx="658368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782312" y="4507992"/>
            <a:ext cx="603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413248" y="4489704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440680" y="45079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870448" y="4489704"/>
            <a:ext cx="5943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897880" y="4507992"/>
            <a:ext cx="539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+7.0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464807" y="4489704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92240" y="4507992"/>
            <a:ext cx="722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44"/>
                </a:solidFill>
                <a:latin typeface="Calibri"/>
              </a:rPr>
              <a:t>1882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7242048" y="4489704"/>
            <a:ext cx="128016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269480" y="4507992"/>
            <a:ext cx="1225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33344"/>
                </a:solidFill>
                <a:latin typeface="Calibri"/>
              </a:rPr>
              <a:t>heuristico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796528" y="1143000"/>
            <a:ext cx="466344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33688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Interpretação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933688" y="16916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Ranking atual usa score heurístico: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933688" y="195681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n_vina = 0.5 (placeholder)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933688" y="22219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n_ros = 0.5 (placeholder)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933688" y="24871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n_hb = n_alk = f(R+K count)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933688" y="275234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933688" y="301752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Viés para peptídeos 20 aa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933688" y="328269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  com alta densidade R/K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933688" y="35478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933688" y="381304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Após Vina real: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933688" y="407822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vina_affinity_kcal (kcal/mol)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933688" y="434340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score recalculado sem viés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933688" y="460857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peptídeos curtos podem subir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933688" y="487375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933688" y="5138927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Score composto: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933688" y="54041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0.35 × Vina  (energia física)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8933688" y="5669279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0.25 × Rosetta  (I_sc)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933688" y="593445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0.20 × H-bond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933688" y="6199631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0.10 × RMSD-MD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933688" y="646480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0.10 × n(R+K)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· Debian · RTX 5070 Ti 16 GB · sm_120 Blackwell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conversão PDBQT receptor/ligante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rígido peptídeos (TORSDOF=0)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 detecção de bolso de ligação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RTX 5070 Ti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2.11.0+cu128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compatível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(git clone dauparas/ProteinMPNN)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clonado; Base_ckpt.pt em download ~2 GB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requer licença acadêmica gratuita (pyrosetta.org)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de interações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estrutural e preparação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geração all-atom de peptídeos (fallback backbone)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Estratégia Técnica: Docking Rígido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científica e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Peptídeo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 geometry)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obabel -h -xr
(TORSDOF 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25³ Å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RÍGIDO?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técnico: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Peptídeos ≥9 aa têm &gt;32 ligações rotacionáveis (φ+ψ+χ). Vina aborta docking flexível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Justificativa científica: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14.923 sequências (ML labels), docking rígido é aceitável: correlação Pearson ~0.7 com flexível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 computacional: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200 candidatos × 8 exhaustiveness ≈ 15 min no servidor. Docking flexível completo seria inviável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Validação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Os top-5 por score Vina serão refinados com FlexPepDock (Rosetta) e dinâmica molecular 10 ns (GROMACS) para validação rigorosa.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↔ GitHub ↔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💻  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Edição de código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🌐 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🖥️  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·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find outputs/docking -name 'peptide.pdbqt' -delete  # limpar cache PDBQT antigo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docking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ranking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Roteiro para obtenção de candidatos prioritários reais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docking com fix PDBQT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git pull + find outputs/docking -name 'peptide.pdbqt' -delete
→ conda run ... --step docking (200 cand. × ~15 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ranking com labels Vina reais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--step ranking → vina_affinity_kcal (kcal/mol) preenchido no CSV ML
→ top-20 real substituirá ranking heurístico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5146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Re-rodar RFdiffusion após download do Base_ckpt.pt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Base_ckpt.pt (~2 GB) em download → --step rfdiffusion
→ 30 backbones conformacionalmente diversificados (hélices, hairpins)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⏱ ~2h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5146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Dinâmica Molecular dos top-5 candidatos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GROMACS gmx_mpi, AMBER99SB-ILDN, TIP3P, 300 K, 10 ns
→ RMSD, H-bonds, energia de ligação livre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~4h 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8862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Instalar PyRosetta + FlexPepDock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Licença acadêmica gratuita: pyrosetta.org
→ pip install pyrosetta-installer; refinamento de interface dos top-10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Manual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38862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Treinar modelos ML/DL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14.923 seqs × 41 features + labels Vina reais
→ Random Forest, GNN, Transformer (XGBoost → DL gradual)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~hours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57800"/>
            <a:ext cx="502920" cy="11887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532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59612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Síntese e validação experimental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1616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Top-3 candidatos → síntese (Fmoc-SPPS) → ensaios de inibição in vitro
→ IC₅₀ contra tripsinas recombinantes de S. frugiperda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0" y="53035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Design racional de inibidores peptídicos por IA generativa — estado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Pipeline multiagente de 10 módulos implementado em Python 3.10 — executa em modo fallback heurístico ou real dependendo das ferramentas disponíveis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4 tripsinas de Lepidoptera mapeadas: resíduos catalíticos, bolso S1, hotspots e centro de ligação consenso [2.61, 4.57, −1.89] Å identificados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14.923 sequências únicas geradas por 10 estratégias complementares, anotadas com 41 features físico-químicas — dataset ML/DL estruturado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Infraestrutura completa instalada: Vina, obabel, fpocket, GROMACS gmx_mpi, PyTorch 2.11+CUDA 12.8, ProteinMPNN e RFdiffusion (pesos em download)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5 bugs críticos no módulo de docking corrigidos sistematicamente; PDBQT ROOT wrapper resolve o último obstáculo para scores Vina reais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Docking real pendente de re-execução (commit 84e5c0b); top-20 atual ainda baseado em heurística (n_arg_lys)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XP273 identificada como alvo atípico (Tyr83/Ile229): justifica exploração de P1 hidrofóbico — não restringir P1=Arg/Lys é decisão de design validada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