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45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Design Racional de Inibidores Peptídicos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B4D8"/>
                </a:solidFill>
                <a:latin typeface="Calibri"/>
              </a:rPr>
              <a:t>de Tripsinas de Lepidoptera por IA Generativa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  <a:latin typeface="Calibri"/>
              </a:rPr>
              <a:t>Pipeline Multiagente: RFdiffusion → ProteinMPNN → PyRosetta → Vina → GROMACS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0F4F8"/>
                </a:solidFill>
                <a:latin typeface="Calibri"/>
              </a:rPr>
              <a:t>Eulalio B. Q. Santos  |  UFV Viçosa-MG  |  eulalio.santos@ufv.br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  <a:latin typeface="Calibri"/>
              </a:rPr>
              <a:t>github.com/eulaliobqi/design-inibidores  |  Junho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RFdiffusion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ProteinMPNN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PyRosetta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19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1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AutoDock Vina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GROMACS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Python 3.10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Contextualização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Por que inibidores de tripsinas de Lepidoptera?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O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Spodoptera frugiperda e Agrotis gemmatalis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1226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causam bilhões USD/ano em perdas agrícolas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3288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Inseticidas químicos: resistência crescente,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7413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toxicidade ambiental e resíduos em alimentos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Tripsinas digestivas são essenciais para 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3600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desenvolvimento larval — alvos comprovados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566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7725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Quais peptídeos inibem essas tripsinas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com alta seletividade e baixa toxicidade?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4300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1143000"/>
            <a:ext cx="57607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2344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A OPORTUNIDADE DA IA GENERATIVA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6916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RFdiffusion (Nature 2023): gera backbones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02082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proteicos condicionados a sítios de ligação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500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67919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ProteinMPNN (Science 2022): otimiza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0837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sequências para backbones de interesse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3375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6667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 (2026.25): refinamento de interface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99592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FastRelax + InterfaceAnalyzerMover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32511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65429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AutoDock Vina: triagem de afinidade 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98347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larga escala (194 poses reais, kcal/mol)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31266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64184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Dataset ML/DL: 24.513 seqs × 41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5971031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para treinar modelos preditivos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Design computacional racional + dataset para ML/DL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D2B55"/>
                </a:solidFill>
                <a:latin typeface="Calibri"/>
              </a:rPr>
              <a:t>Objetivo geral: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Calibri"/>
              </a:rPr>
              <a:t>Gerar e validar computacionalmente peptídeos inibidores de tripsinas digestivas de Lepidoptera-praga usando pipeline multiagente de IA generativa estrutural, produzindo simultaneamente um dataset ML/DL supervisionado com scores Vina + Rosetta como labels.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55"/>
                </a:solidFill>
                <a:latin typeface="Calibri"/>
              </a:rPr>
              <a:t>Objetivos específicos: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620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Identificar resíduos catalíticos e bolso S1 de 4 tripsinas lepidópteras (ACR157/QCL936/XP273/XP352)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649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Gerar 330 backbones peptídicos de 20 aa via RFdiffusion ancorados ao sítio S1 de ACR157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679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Produzir 24.513 sequências binder únicas por ProteinMPNN (extração cadeia B, bug FASTA corrigido)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7083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Anotar 41 features físico-químicas para cada sequência (dataset ML/DL supervisionado)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7375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Obter energias de afinidade Vina reais como labels — 194/194 poses válidas (binders RFdiffusion)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766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Refinar top-10 candidatos com PyRosetta FastRelax + InterfaceAnalyzerMover (I_sc REF2015)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87959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Validar top-5 por dinâmica molecular 10 ns (GROMACS gmx_mpi, AMBER99SB-ILDN, TIP3P, 300 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Multiagente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módulos especializados — TODAS as etapas principais concluídas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Structure
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Sítio S1
Hotspots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4328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1576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5768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
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768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
20 aa reais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8616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2624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5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0055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
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5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24.513
binders únicos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32904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Rosetta
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
I_sc REF2015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0304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311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8632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
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28632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194/194
Vina reais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61188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79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9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GROMACS
10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24328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8336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576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024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5768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Ranking
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15768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Score
composto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81728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28616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92624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5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0055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Visualize
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0055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6 figuras
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86016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32904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96912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2434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882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24344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Report
Agent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24344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HTML + MD
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90304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37192" y="3611880"/>
            <a:ext cx="2057400" cy="210312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1200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863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8311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28632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Optimize
Agent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28632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Redesign
top-10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6492240"/>
            <a:ext cx="274320" cy="2286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Concluído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6492240"/>
            <a:ext cx="274320" cy="2286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0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Em execução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92040" y="6492240"/>
            <a:ext cx="274320" cy="2286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66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Aguarda MD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Alvo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Tripsinas digestivas de Lepidoptera-praga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4 modelos estruturais de tripsinas: ACR157, QCL936, XP273, XP352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280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19" y="1554480"/>
            <a:ext cx="14630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1572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His/Tyr (Cat)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1325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79" y="157276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Asp (Tríade)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554480"/>
            <a:ext cx="1417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727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Ser/Ala (Nuc)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554480"/>
            <a:ext cx="11887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1572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S1 (Esp)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554480"/>
            <a:ext cx="2423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15727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Centro (X,Y,Z) 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3852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195681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ACR157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19" y="193852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39" y="19568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His69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193852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79" y="195681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193852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195681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9385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95681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193852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195681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7.09 / -1.15 / -1.63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30428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32257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QCL936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19" y="230428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91639" y="23225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230428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79" y="232257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Asp142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230428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232257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Ser247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30428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80" y="232257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30428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232257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2.94 / 5.55 / -0.32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67004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268833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XP273 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19" y="267004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91639" y="268833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Tyr83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267004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54679" y="268833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267004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268833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Ser234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26700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7880" y="2688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Ile229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40880" y="267004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86600" y="268833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1.67 / 8.29 / -0.34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03580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5409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XP352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19" y="303580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91639" y="30540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303580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79" y="305409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Asp166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34840" y="303580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0" y="305409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Ala268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03580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97880" y="30540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Asp262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303580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305409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-1.26 / 5.60 / -5.25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401568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341985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Consenso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19" y="3401568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39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3401568"/>
            <a:ext cx="1325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54679" y="341985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34840" y="3401568"/>
            <a:ext cx="14173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80560" y="34198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52160" y="3401568"/>
            <a:ext cx="11887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97880" y="341985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40880" y="3401568"/>
            <a:ext cx="2423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86600" y="341985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2.61 / 4.57 / -1.89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480560"/>
            <a:ext cx="11430000" cy="13258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480560"/>
            <a:ext cx="73152" cy="13258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★ XP273 — Tripsina Atípica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892040"/>
            <a:ext cx="109728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Tyr83 substitui His catalítica canônica | Ile229 no bolso S1 (ao invés de Asp) -&gt; especificidade hidrofóbica
Justifica NAO restringir P1 no pipeline — candidatos acidos (D/E) podem atuar via mecanismo nao-canonico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Grid box Vina (consenso):  centro = [2.61, 4.57, -1.89] A  |  tamanho adaptativo = max(40, len*3.6+8) A  |  exaustividade = 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Backbones Peptídicos — RFdiffusion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de novo | Watson et al., Nature 2023 | checkpoint Complex_base_ckpt.pt 462 MB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3035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RFdiffusion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0F4F8"/>
                </a:solidFill>
                <a:latin typeface="Calibri"/>
              </a:rPr>
              <a:t>Instalado em ~/RFdiffusion | Python 3.10 (protein_design_env)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~/RFdiffusion instalado e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Complex_base_ckpt.pt (462 MB) baixado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946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330 backbones gerados para ACR157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5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7296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Parâmetros usados: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74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noise_scale_ca  = 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7647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noise_scale_frame = 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contig: A1-231/0 20-20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7997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inference.ckpt_override_path=.../models/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8172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Pre-processamento obrigatório: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8523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prep_pdbs.py: chain blank -&gt;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86983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renumeração residuos 1..N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048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Limitação desta rodada: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Todos os 330 backbones -&gt; 20 aa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79399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(comprimento variavel em rodadas futuras)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143000"/>
            <a:ext cx="57607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Backbones gerados (modo REAL)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645920"/>
            <a:ext cx="19202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6642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Categoria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1645920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2440" y="1664208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Backbones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1645920"/>
            <a:ext cx="2468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166420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Comprimento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2011680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202996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len5 (cat.)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2011680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202996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2011680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202996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359152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237744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len7 (cat.)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2359152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2440" y="2377440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6880" y="2359152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72600" y="237744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2706624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27249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len10 (cat.)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706624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2724912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26880" y="2706624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2600" y="272491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3054096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307238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len12 (cat.)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3054096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92440" y="3072384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26880" y="3054096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72600" y="307238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80" y="3401568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2200" y="341985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len15 (cat.)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46720" y="3401568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92440" y="3419856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326880" y="3401568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72600" y="341985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749039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376732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len20 (cat.)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3749039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92440" y="376732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326880" y="3749039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72600" y="376732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26480" y="4096512"/>
            <a:ext cx="5669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41148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4114800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Calibri"/>
              </a:rPr>
              <a:t>330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4114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todos 20 aa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35040" y="5806440"/>
            <a:ext cx="576072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72200" y="58521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 conformacionalmente diversos (helices, estendidos, hairpins)
Proxima rodada: comprimentos variados independentes (5-15 aa) para sintese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Design de Sequências — ProteinMPNN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× 500 seqs = 165.000 brutas → 24.513 binders únicos 20 aa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Redesenho da cadeia B (binder 20 aa) para cada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Temperatura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sampling_temp = 0.1 | backbone_noise = 0.05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167128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filtro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Excluídos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Cys, X (--omit_AAs CX) — evitar pontes dissulfeto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167128"/>
            <a:ext cx="73152" cy="91440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Bug 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BUG CRÍTICO CORRIGIDO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replace('/','') concatenava receptor+binder (240+ aa)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91256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corrigido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Fix (commit e9024bc)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parts = seq.split('/'); binder = parts[-1]  -&gt; 20 aa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191256"/>
            <a:ext cx="73152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Deduplicação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165.000 brutas -&gt; 24.513 únicas (83.8% redundância)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215384"/>
            <a:ext cx="73152" cy="9144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Homogeneidade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Todos os 24.513 binders têm 20 aa (limitação desta rodada)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otimizacao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Cache inteligente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Não re-roda ProteinMPNN se FASTAs já existem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39512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ML label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is_known_inhibitor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Seeds BPTI/SKTI incluídos como âncoras positivas 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5239512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CSV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Dataset exportado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outputs/dataset/ml_training_dataset.csv — 41 features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Calibri"/>
              </a:rPr>
              <a:t>24.513 binders únicos 20 aa  |  165.000 brutas  |  41 features  |  Bug FASTA corrigido (commit e9024bc)  |  Cys excluídas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 ML/DL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24.513 sequências × 41 features + labels Vina/Rosetta reais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Arquivo: outputs/dataset/ml_training_dataset.csv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Globais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length, mw_da, net_charge (pH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isoelectric_point, instability_index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aliphatic_index, boman_index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27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Hidrofobicidade 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hydrophobicity_kd (Kyte-Doolittle)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frac_hydrophobic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70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por classe (3)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54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frac_aromatic, frac_charged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n_arg_lys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0352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303520"/>
            <a:ext cx="5394960" cy="365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30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Features binárias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has_aromatic_cterminal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4418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has_charged_nterminal, has_pro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554480"/>
            <a:ext cx="539496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AA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frac_A, frac_D, frac_E, frac_F,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frac_G, frac_H, frac_I, frac_K,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frac_L, frac_M, frac_N, frac_P,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953512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frac_Q, frac_R, frac_S, frac_T,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32826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frac_V, frac_W, frac_Y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11480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4114800"/>
            <a:ext cx="5394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1422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Labels supervisionados (3)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5262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best_affinity_kcal  &lt;- Vina real (194 labels)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855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rosetta_I_sc  &lt;- PyRosetta I_sc REF2015 (10 labels)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18464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is_known_inhibitor (BPTI/SKTI=1)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57784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577840"/>
            <a:ext cx="539496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560527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Metadados (2)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98932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sequence (20 aa), length (categoria)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631850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backbone (stem do PDB RFdiffusion)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Docking Molecular — 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194/194 poses validas | binders RFdiffusion+ProteinMPNN reais | 39 bugs 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029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029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Rodada com binders reais (2026-06-17): 194/194 poses validas | top-1: GSRASARAYAARVRARRAAL (-13.62 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37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Bugs criticos desta sessao (binders RFdiffusion):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2140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677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29-31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121408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13969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NA atom type rejeitado pelo Vina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41448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"N":"NA" (sodio) em vez de nitrogênio backbone -&gt; "N":"N"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2860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889503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03580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889503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90779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obabel -xr gerava formato de RECEPTOR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209544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Sem ROOT/ENDROOT para ligante -&gt; remover -xr; _ensure_ligand_pdbqt_format() reescreve sempre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305409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548640" cy="658368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80390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33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657600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7588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TOP CANDIDATOS ERAM REDESIGNS DAS TRIPSINAS (bug critico)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97763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replace('/','') concatenava receptor+binder (240+ aa) -&gt; parts[-1] extrai binder 20 aa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38221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e9024bc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25696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572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25696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443983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seq[-L:] cortava binders reais de 20 aa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74573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len(seq)&gt;L*2 triggava para len5 (20&gt;10) -&gt; remocao do corte artificial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45902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193792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34009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193792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1207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Grid dimensionado por label (5/7/10), nao comprimento real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1383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item['length']=categoria -&gt; len(item['sequence'])=20 -&gt; grid 80x80x80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9560" y="5358383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96188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38-39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5961888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5980175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Rosetta selecionava por heuristica, nao por Vina | campo vina_affinity inexistente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628192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_select_top_sequences() le docking_results.json | campo correto: best_affinity_kcal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6126479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a7ac84f+e16a28f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Resultados Docking + Ranking — Rodada Expandida (2026-06-27)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880/1000 poses validas | novo top-1: SARESIKKAYKTFLERYKKL -14,58 kcal/mol | 24.513 rankeados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9144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6D6A0"/>
                </a:solidFill>
                <a:latin typeface="Calibri"/>
              </a:rPr>
              <a:t>880 / 1000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4F8"/>
                </a:solidFill>
                <a:latin typeface="Calibri"/>
              </a:rPr>
              <a:t>poses Vina validas (rodada expandida)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Melhor: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  <a:latin typeface="Calibri"/>
              </a:rPr>
              <a:t>-14.58 kcal/mol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Media: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~-12.4 kcal/mol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ML RMSE: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Calibri"/>
              </a:rPr>
              <a:t>0.514 kcal/mol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1488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Top-5 por score composto (ranking expandido):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60320"/>
            <a:ext cx="347472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578608"/>
            <a:ext cx="2743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2560320"/>
            <a:ext cx="365760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78608"/>
            <a:ext cx="358444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 (20 aa)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0832" y="2560320"/>
            <a:ext cx="384048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2578608"/>
            <a:ext cx="31089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256032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257860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2560320"/>
            <a:ext cx="77724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8736" y="2578608"/>
            <a:ext cx="70408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2560320"/>
            <a:ext cx="5001768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5976" y="2578608"/>
            <a:ext cx="49286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Observacao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880360"/>
            <a:ext cx="64008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880360"/>
            <a:ext cx="347472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289864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880360"/>
            <a:ext cx="365760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2898648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SARESIKKAYKTFLERYKKL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2880360"/>
            <a:ext cx="38404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07408" y="2898648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2880360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91456" y="2898648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-14.58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880360"/>
            <a:ext cx="777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88736" y="2898648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0.748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0" y="2880360"/>
            <a:ext cx="500176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65976" y="2898648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NOVO top-1 — Vina mais negativo do 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227832"/>
            <a:ext cx="64008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3227832"/>
            <a:ext cx="3474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2336" y="3246120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3232" y="3227832"/>
            <a:ext cx="3657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3246120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70832" y="3227832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07408" y="3246120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3227832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91456" y="3246120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-13.62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2160" y="3227832"/>
            <a:ext cx="777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88736" y="3246120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0.701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29400" y="3227832"/>
            <a:ext cx="500176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65976" y="3246120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Validado por MD (RMSD 0,494 nm, ESTAVEL)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575304"/>
            <a:ext cx="64008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575304"/>
            <a:ext cx="347472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2336" y="3593591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3232" y="3575304"/>
            <a:ext cx="365760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" y="3593591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GARESIREHQKRFLERYKKK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70832" y="3575304"/>
            <a:ext cx="38404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07408" y="3593591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54880" y="3575304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91456" y="3593591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-13.56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575304"/>
            <a:ext cx="777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88736" y="3593591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0.661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29400" y="3575304"/>
            <a:ext cx="500176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65976" y="3593591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Gly/Ala + Glu/His + R/K C-term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922776"/>
            <a:ext cx="64008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5760" y="3922776"/>
            <a:ext cx="3474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2336" y="3941064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" y="3922776"/>
            <a:ext cx="3657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9808" y="3941064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GGPTGKRIAELYKKSLEKKK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70832" y="3922776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07408" y="3941064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54880" y="3922776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91456" y="3941064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-13.47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52160" y="3922776"/>
            <a:ext cx="777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888736" y="3941064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0.653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3922776"/>
            <a:ext cx="500176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65976" y="3941064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Gly/Pro scaffold + Lys-rico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4270248"/>
            <a:ext cx="64008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65760" y="4270248"/>
            <a:ext cx="347472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02336" y="4288536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13232" y="4270248"/>
            <a:ext cx="365760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49808" y="4288536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AARENIRAYAARFRARLAAK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370832" y="4270248"/>
            <a:ext cx="38404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07408" y="4288536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54880" y="4270248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91456" y="4288536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-13.79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852160" y="4270248"/>
            <a:ext cx="777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888736" y="428853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0.635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29400" y="4270248"/>
            <a:ext cx="500176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65976" y="4288536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Ala-rico + Arg/Tyr — Vina entre melhores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292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Especificidade: 20/20 aprovados vs tripsina humana (1TRN) + Apis mellifera (A0A7M7MMI1) | Resistencia: 0/20 resistentes — todos susceptiveis (K/R internos) — sondas in vitro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PyRosetta 2026.25 — Refinamento de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FastRelax + InterfaceAnalyzerMover('A_B') | I_sc REF2015 | 10/10 complexos refinados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Instalado: pyrosetta-2026.25+release (pyrosetta-installer, sem licenca separada) | Python 3.10 | protein_design_env | 2026-06-17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Cross-validation Vina × I_sc Rosetta — top-10 candidatos: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0280"/>
            <a:ext cx="38404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2258568"/>
            <a:ext cx="376732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24028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42816" y="225856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240280"/>
            <a:ext cx="128016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2258568"/>
            <a:ext cx="120700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I_sc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2240280"/>
            <a:ext cx="182880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2258568"/>
            <a:ext cx="175564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6032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5786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GARKSIREYQKRVLERLKKK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56032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42816" y="25786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00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56032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25786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-86.28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51775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256032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14815" y="25786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bestI_sc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3464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28529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AARASQREYQKKFLERLKKK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283464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42816" y="28529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00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283464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71616" y="28529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-85.92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51775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832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240" y="283464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14815" y="28529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elevado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10896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6" y="31272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MKKQRENAKKVAEITLKKAK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310896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42816" y="31272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035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00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310896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616" y="31272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-80.49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51775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467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832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778240" y="310896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14815" y="31272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338328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02336" y="34015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GSRASARAYAARVRARRAAL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06240" y="338328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2816" y="34015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-13.62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035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400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38328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71616" y="34015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-78.44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51775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832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78240" y="338328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14815" y="34015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bestVina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65760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" y="36758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AARASIRAAAARFRARRAAL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06240" y="365760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42816" y="36758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035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400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35040" y="365760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71616" y="36758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-75.45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0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51775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467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832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778240" y="365760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814815" y="36758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393192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02336" y="39502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GSLTGRRIAALWKASLAKRK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393192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42816" y="39502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3035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3400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035040" y="393192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71616" y="39502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-69.44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51775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0467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832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778240" y="393192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14815" y="39502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420624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02336" y="42245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SAAARARQRAVGARMRARVA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06240" y="420624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242816" y="42245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3035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3400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035040" y="420624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071616" y="42245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-63.98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31520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51775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0467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0832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778240" y="420624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814815" y="42245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" y="448056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02336" y="44988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AARENIRKAHKTFLERLKKK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06240" y="448056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242816" y="44988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3035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3400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035040" y="448056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616" y="44988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-62.74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31520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51775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0467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0832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778240" y="448056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814815" y="44988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5760" y="475488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02336" y="47731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ALDAVRARARALGARLRARA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06240" y="475488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42816" y="47731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3035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400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035040" y="475488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071616" y="47731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-61.89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31520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351775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0467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832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778240" y="475488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14815" y="47731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" y="502920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02336" y="50474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SLARKRAEENAKRFLERVKK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06240" y="502920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242816" y="50474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3035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3400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035040" y="502920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071616" y="50474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-61.41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51775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0467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0832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778240" y="502920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8814815" y="50474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76F"/>
                </a:solidFill>
                <a:latin typeface="Calibri"/>
              </a:rPr>
              <a:t>divergente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65760" y="5074920"/>
            <a:ext cx="11430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5760" y="5074920"/>
            <a:ext cx="54864" cy="15544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48640" y="5138928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GARKSIREYQKRVLERLKKK: melhor I_sc (-86.28) apesar de #2 por Vina — FastRelax revela interface forte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48640" y="543153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AARASQREYQKKFLERLKKK: sobe de #5 Vina para #2 I_sc (-85.92) — docking rigido subestimava sua afinidade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8640" y="5724144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76F"/>
                </a:solidFill>
                <a:latin typeface="Calibri"/>
              </a:rPr>
              <a:t>SLARKRAEENAKRFLERVKK: cai de #3 Vina para #10 I_sc (-61.41) — DESCARTADO, interface nao sustenta pos-relax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48640" y="601675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GSRASARAYAARVRARRAAL: confirmado por ambos (Vina #1, I_sc #4) — candidato mais robusto para sintese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Concordancia Vina × Rosetta: criterio mais rigoroso — identifica GARKSIREYQKRVLERLKKK como top real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Candidatos Prioritarios — Top-3 Confirmados por Dupla Validacao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Vina (docking rigido) × PyRosetta I_sc (FastRelax) | todos 20 aa | Fmoc-SPPS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264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122529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123444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R/K denso (n=9), Glu/Tyr distr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1978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5544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-12.76 kcal/mol (rank #2)  |  I_sc = -86.28 kcal/mol (rank #1)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181051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I_sc absoluto. FastRelax revela interface excepcional. Melhor candidato por concordancia.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1335024"/>
            <a:ext cx="9365284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29124" y="133502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627632"/>
            <a:ext cx="56076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71489" y="162763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6771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267712"/>
            <a:ext cx="41148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5237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322576"/>
            <a:ext cx="2011680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233172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Gly/Ser N-term, Arg/Ala backbo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22951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26517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-13.62 kcal/mol (rank #1)  |  I_sc = -78.44 kcal/mol (rank #4)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07791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Vina absoluto (-13.62). Confirmado por Rosetta (#4 I_sc). Candidato de referencia.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2432304"/>
            <a:ext cx="9719157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82997" y="243230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V:-13.6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2724912"/>
            <a:ext cx="52850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148889" y="272491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R:-78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64991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364991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62102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341985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3428999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Ala N-term, Arg/Lys/Phe C-term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3392423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AARASQREYQKKFLERLKKK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3749039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-12.52 kcal/mol (rank #5)  |  I_sc = -85.92 kcal/mol (rank #2)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00507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Vina #5 mas Rosetta #2. Docking rigido subestimava afinidade real de interface.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18120" y="3529584"/>
            <a:ext cx="9266529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0369" y="352958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3822191"/>
            <a:ext cx="5592836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456676" y="3822191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46227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462272"/>
            <a:ext cx="411480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71830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517136"/>
            <a:ext cx="201168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6968" y="452628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Lys-rico (n=8), alifatico, sol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71800" y="448970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8463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-12.68 kcal/mol (rank #4)  |  I_sc = -80.49 kcal/mol (rank #3)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1800" y="510235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Consistente em ambos (#4 Vina, #3 Rosetta). Alto conteudo Lys favorece sintese e solubilidade.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18120" y="4626864"/>
            <a:ext cx="9332366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7196206" y="462686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18120" y="4919472"/>
            <a:ext cx="5369402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3242" y="491947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559552"/>
            <a:ext cx="11430000" cy="100584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559552"/>
            <a:ext cx="411480" cy="100584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8155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" y="5614416"/>
            <a:ext cx="2011680" cy="25603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" y="562356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Leu/Ala scaffold + R/K alterna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71800" y="558698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76F"/>
                </a:solidFill>
                <a:latin typeface="Calibri"/>
              </a:rPr>
              <a:t>SLARKRAEENAKRFLERVKK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71800" y="59436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-12.71 kcal/mol (rank #3)  |  I_sc = -61.41 kcal/mol (rank #10)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71800" y="619963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DESCARTADO: Vina #3 mas Rosetta #10. Interface nao sustenta apos FastRelax. Nao sintetizar.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18120" y="5724144"/>
            <a:ext cx="9344710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208550" y="572414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18120" y="6016752"/>
            <a:ext cx="4584298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448138" y="601675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601968"/>
            <a:ext cx="11430000" cy="1645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611112"/>
            <a:ext cx="11155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MD 11/11 CONCLUIDO (Fases 3+4): top-3 sintese — MKKQRENA(0,447nm) | RLREELKK(0,294nm★) | GSRASARA(0,494nm) | ver slide 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Dinamica Molecular — 11 Candidatos × ACR157 (Fases 3+4)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GROMACS | AMBER99SB-ILDN | TIP3P | 300 K | 10 ns cada | RTX 5070 Ti (~36 min/replica)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11612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Candidato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18872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1887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1887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I_sc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188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RMSD avg±DP (nm)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118872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1887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Estabilidade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572768"/>
            <a:ext cx="11612880" cy="56692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572768"/>
            <a:ext cx="73152" cy="5669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700784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700784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4F8A"/>
                </a:solidFill>
                <a:latin typeface="Calibri"/>
              </a:rPr>
              <a:t>F3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1700784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-12,72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1700784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-80,49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700784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0,447 ± 0,332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1700784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1,785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400" y="1664208"/>
            <a:ext cx="2926080" cy="38404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16642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ESTAVEL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185416"/>
            <a:ext cx="11612880" cy="56692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2185416"/>
            <a:ext cx="73152" cy="5669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313432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231343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4F8A"/>
                </a:solidFill>
                <a:latin typeface="Calibri"/>
              </a:rPr>
              <a:t>F3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2313432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-13,62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2313432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-78,44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2313432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0,494 ± 0,414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2313432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1,799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400" y="2276856"/>
            <a:ext cx="2926080" cy="38404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5400" y="227685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ESTAVEL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798064"/>
            <a:ext cx="1161288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2798064"/>
            <a:ext cx="73152" cy="56692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92608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AARASIRAAAARFRARRAAL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292608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4F8A"/>
                </a:solidFill>
                <a:latin typeface="Calibri"/>
              </a:rPr>
              <a:t>F3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2926080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-12,62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2926080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-75,45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2926080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0,945 ± 0,924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20" y="2926080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1,836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15400" y="2889504"/>
            <a:ext cx="2926080" cy="38404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5400" y="288950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Marginal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410712"/>
            <a:ext cx="11612880" cy="56692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3410712"/>
            <a:ext cx="73152" cy="5669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3538728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RLREELKKAEEWLEKRRKEE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353872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D6A0"/>
                </a:solidFill>
                <a:latin typeface="Calibri"/>
              </a:rPr>
              <a:t>F4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3538728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80" y="3538728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3538728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0,294 ± 0,065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8120" y="3538728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1,780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15400" y="3502152"/>
            <a:ext cx="2926080" cy="38404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5400" y="350215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ESTAVEL*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4023360"/>
            <a:ext cx="1161288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" y="4023360"/>
            <a:ext cx="73152" cy="56692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4151376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RLRAIWLEAEKLLEERRKKK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15137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D6A0"/>
                </a:solidFill>
                <a:latin typeface="Calibri"/>
              </a:rPr>
              <a:t>F4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06240" y="4151376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4151376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63640" y="4151376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0,725 ± 0,870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18120" y="4151376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1,815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915400" y="4114800"/>
            <a:ext cx="2926080" cy="38404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15400" y="41148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Marginal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4636008"/>
            <a:ext cx="1161288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74320" y="4636008"/>
            <a:ext cx="73152" cy="56692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4764024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SARESIKKAYKTFLERYKKL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0" y="4764024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D6A0"/>
                </a:solidFill>
                <a:latin typeface="Calibri"/>
              </a:rPr>
              <a:t>F4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06240" y="4764024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-14,58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2080" y="4764024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63640" y="4764024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0,871 ± 0,844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18120" y="4764024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1,864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915400" y="4727448"/>
            <a:ext cx="2926080" cy="38404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15400" y="472744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Marginal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5248656"/>
            <a:ext cx="11612880" cy="566928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4320" y="5248656"/>
            <a:ext cx="73152" cy="566928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5376672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KRLRENWLEAEKLLEERRKKK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0" y="537667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D6A0"/>
                </a:solidFill>
                <a:latin typeface="Calibri"/>
              </a:rPr>
              <a:t>F4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06240" y="5376672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12080" y="5376672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63640" y="5376672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1,074 ± 1,103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18120" y="5376672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1,869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915400" y="5340096"/>
            <a:ext cx="2926080" cy="384048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915400" y="534009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Instavel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5888736"/>
            <a:ext cx="1161288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592531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TOP-3 SINTESE (Fases 3+4) — todos RMSD &lt; 0,5 nm em 10 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" y="6236208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4F8"/>
                </a:solidFill>
                <a:latin typeface="Calibri"/>
              </a:rPr>
              <a:t>#1 MKKQRENAKKVAEITLKKAK (0,447 nm, F3)  |  #2 RLREELKKAEEWLEKRRKEE (0,294 nm, F4 — MAIS ESTAVEL DO PIPELINE)  |  #3 GSRASARAYAARVRARRAAL (0,494 nm, F3)  |  SARESIKKAYKTFLERYKKL: melhor Vina (-14,58) mas marginal em MD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Status das Ferramentas no Servidor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eulalio@200.235.143.10 | Debian | RTX 5070 Ti 16 GB | sm_120 Blackwell | 2026-06-18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Python 3.10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conda env protein_design_env (pipeline principal)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OpenBabel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obabel — conversao PDBQT (sem -xr para ligantes)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AutoDock Vina f458505-mod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docking rigido peptideos (TORSDOF=0, best_affinity_kcal)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fpocket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 deteccao de bolso de ligacao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GROMACS gmx_mpi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CUDA-MPI, build sm_120 Blackwell, env md-gromacs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PyTorch 2.12.0.dev+cu128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 12.8, compativel Blackwell (sm_120)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ProteinMPNN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~/ProteinMPNN | 24.513 binders gerados para ACR157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RFdiffusion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~/RFdiffusion | Complex_base_ckpt.pt 462 MB | 330 backbones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PyRosetta 2026.25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pyrosetta-installer (sem licenca) | FastRelax + IA Mover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plip 3.0.0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de interacoes protein-ligante (conda-forge)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rdkit, pdbfixer, mdtraj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estrutural e preparacao de sistemas MD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PeptideBuilder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geracao all-atom de peptideos (fallback + Rosetta complex)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Estrategia Tecnica: Docking Rigido para ML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Justificativa cientifica e tecnica | binders RFdiffusion 20 aa | TORSDOF 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Binder
all-atom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PeptideBuilder
(ECEPP/3)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PDBQT
all-atom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_pdb_to_pdbqt_minimal()
(N-&gt;N, nao NA!)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ROOT wrapper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_ensure_ligand
_pdbqt_format()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188720"/>
            <a:ext cx="2560320" cy="10972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AutoDock
Vina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Grid 80x80x80 A
exh=8, modes=9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606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55"/>
                </a:solidFill>
                <a:latin typeface="Calibri"/>
              </a:rPr>
              <a:t>Por que docking RIGIDO?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6324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Limite tecnico: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09067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Peptideos 20 aa tem &gt;32 ligacoes rotacionaveis (phi+psi+chi). Vina aborta docking flexivel acima de 32 torsional bonds.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31920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59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Escala: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5935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Para triagem de 24.513 binders (ML labels), docking rigido e viavel. Correlacao Pearson ~0.7 com flexivel para top candidatos.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0060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Custo: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4828031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194 candidatos x 8 exhaustiveness ~ 15 min. Docking flexivel completo seria inviavel nessa escala.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69279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6967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Validacao posterior: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69671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Top-10 refinados com PyRosetta FastRelax (I_sc REF2015) e top-5 por MD GROMACS 10 ns — validacao rigorosa em camadas.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Infraestrutura Computacional e Workflow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Notebook Windows 11 &lt;-&gt; GitHub &lt;-&gt; Servidor Debian RTX 5070 Ti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474720" cy="18288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Notebook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Windows 11
RTX 2050 4 GB
Edicao de codigo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560320"/>
            <a:ext cx="3474720" cy="18288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eulaliobqi/design-inibidores
git push / pull
Fonte de verdade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60320"/>
            <a:ext cx="3474720" cy="1828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eulalio@200.235.143.10
Debian | 32 cores
RTX 5070 Ti 16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5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Comandos padrao no servidor: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cd ~/design-inibidores &amp;&amp; git pull origin 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&lt;step&gt; --resume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167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md-gromacs python scripts/run_pipeline.py --step md --resume   # apenas 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36422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screen -S &lt;nome&gt;   # OBRIGATORIO antes de qualquer run longa (SIGTTOU mata background)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Fase 4-5 | resultados Fase 1-3 concluidos (2026-06-27)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1508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PROXIMO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 5-15 aa + filtro KR-interno=0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250 backbones curtos: 50 x [5, 7, 10, 12, 15 aa] | contigs independentes por comprimento
ProteinMPNN: P1 unico C-terminal (Arg/Lys) | posicoes internas = Ala/Ser/Gly/Pro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~3h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502920" cy="1508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PROXIMO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dos 219 candidatos OptimizationAgent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219 variantes de MKKQRENAKKVAEITLKKAK + GSRASARAYAARVRARRAAL geradas
Selecionar top-5 por Vina -&gt; MD 10 ns -&gt; filtrar estaveis (RMSD &lt; 0,5 nm)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B4D8"/>
                </a:solidFill>
                <a:latin typeface="Calibri"/>
              </a:rPr>
              <a:t>~5h GPU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834640"/>
            <a:ext cx="502920" cy="1508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PROXIMO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de SARESIKKAYKTFLERYKKL (novo top-1 Vina)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Melhor afinidade Vina do pipeline (-14,58 kcal/mol) ainda sem MD
Confirmar estabilidade antes de priorizar para sintese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~1h GPU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834640"/>
            <a:ext cx="502920" cy="1508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FUTURO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Expansao taxonomica: H. armigera + A. gemmatalis + D. saccharalis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Pipeline atual: ACR157 (A. gemmatalis) apenas
Rodar docking + Rosetta nos outros 3 receptores -&gt; seletividade por especie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~GPU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52628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FUTURO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87375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Variantes resistentes: Nle/Orn/D-aa nos P1-internos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522122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K interno -&gt; Nle (norleucina) | R interno -&gt; Orn (ornitina)
D-Lys / D-Arg: invisiveis para L-tripsinas enantiosseletivas (Fmoc-SPPS)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sintese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26280"/>
            <a:ext cx="114300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LONGO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487375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Sintese e validacao experimental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221224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Top-2 estaveis -&gt; Fmoc-SPPS -&gt; IC50 in vitro (S. frugiperda + A. gemmatalis)
Publicacao alvo: JCIM / CSBJ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meses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Conclusoes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4D8"/>
                </a:solidFill>
                <a:latin typeface="Calibri"/>
              </a:rPr>
              <a:t>Fases 1-4 CONCLUIDAS | 11 MD | 3 candidatos estaveis | RLREELKK mais estavel do pipeline — 2026-06-27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330 backbones RFdiffusion | 24.513 binders ProteinMPNN | 880 poses Vina | top-1 Vina: SARESIKKAYKTFLERYKKL (-14,58 kcal/mol) | 219 variantes OptimizationAgent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6654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MD 11/11 concluidos (Fases 3+4) | TOP-3 SINTESE: #1 MKKQRENAKKVAEITLKKAK (0,447 nm) | #2 RLREELKKAEEWLEKRRKEE (0,294 nm ★MAIS ESTAVEL) | #3 GSRASARAYAARVRARRAAL (0,494 nm)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79776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437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163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Especificidade: 20/20 aprovados vs tripsina humana (1TRN) + Apis mellifera (SI &gt;= 2,0 kcal/mol) | ML RF RMSE=0,514 kcal/mol | 24.513 predicoes geradas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29584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935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66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Resistencia proteolitica: 0/20 resistentes (3-7 P1-internos K/R) — sondas in vitro. Especificidade preservada: seletividade nao e comprometida pelo perfil Arg/Lys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79392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343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MD obrigatorio como filtro: GARKSIREYQKRVLERLKKK (melhor I_sc -86,28) instavel em MD (1,45 nm). SARESIKKAYKTFLERYKKL (melhor Vina -14,58) marginal em MD (0,871 nm). Afinidade estatica != estabilidade dinamica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09320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65775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RLREELKKAEEWLEKRRKEE: surpresa positiva — 5o por heuristica OptimizationAgent mas mais estavel do pipeline (RMSD 0,294 nm, DP=0,065). Composicao Glu/Leu sugere mecanismo de ligacao distinto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79008"/>
            <a:ext cx="502920" cy="6400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43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81558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Proximo: RFdiffusion 5-15 aa (KR-interno=0) + estrategias Nle/Orn/D-aa para resistencia proteolitica | Sintese: MKKQRENA + RLREELKK + GSRASARA -&gt; Fmoc-SPPS -&gt; IC50 in vitro (JCIM/CSBJ)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