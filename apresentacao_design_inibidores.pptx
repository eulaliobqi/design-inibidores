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8"/>
    <p:sldId id="279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rPr dirty="0"/>
              <a:t>Design </a:t>
            </a:r>
            <a:r>
              <a:rPr dirty="0" err="1"/>
              <a:t>Racional</a:t>
            </a:r>
            <a:r>
              <a:rPr dirty="0"/>
              <a:t> de </a:t>
            </a:r>
            <a:r>
              <a:rPr dirty="0" err="1"/>
              <a:t>Inibidores</a:t>
            </a:r>
            <a:r>
              <a:rPr dirty="0"/>
              <a:t> </a:t>
            </a:r>
            <a:r>
              <a:rPr dirty="0" err="1"/>
              <a:t>Peptídicos</a:t>
            </a:r>
            <a:r>
              <a:rPr dirty="0"/>
              <a:t> de </a:t>
            </a:r>
            <a:r>
              <a:rPr dirty="0" err="1"/>
              <a:t>Tripsinas</a:t>
            </a:r>
            <a:r>
              <a:rPr dirty="0"/>
              <a:t> de Lepidoptera </a:t>
            </a:r>
            <a:r>
              <a:rPr dirty="0" err="1"/>
              <a:t>por</a:t>
            </a:r>
            <a:r>
              <a:rPr dirty="0"/>
              <a:t> IA </a:t>
            </a:r>
            <a:r>
              <a:rPr dirty="0" err="1"/>
              <a:t>Generativa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i="1">
                <a:solidFill>
                  <a:srgbClr val="404040"/>
                </a:solidFill>
              </a:defRPr>
            </a:pPr>
            <a:r>
              <a:t>Universidade Federal de Viçosa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Desafio de Controle — Resistência a Bt e Inseticidas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8249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Lepidópteros-praga</a:t>
            </a:r>
            <a:r>
              <a:rPr dirty="0"/>
              <a:t> (*Spodoptera </a:t>
            </a:r>
            <a:r>
              <a:rPr dirty="0" err="1"/>
              <a:t>frugiperda</a:t>
            </a:r>
            <a:r>
              <a:rPr dirty="0"/>
              <a:t>*, *</a:t>
            </a:r>
            <a:r>
              <a:rPr dirty="0" err="1"/>
              <a:t>Anticarsia</a:t>
            </a:r>
            <a:r>
              <a:rPr dirty="0"/>
              <a:t> </a:t>
            </a:r>
            <a:r>
              <a:rPr dirty="0" err="1"/>
              <a:t>gemmatalis</a:t>
            </a:r>
            <a:r>
              <a:rPr dirty="0"/>
              <a:t>*) </a:t>
            </a:r>
            <a:r>
              <a:rPr dirty="0" err="1"/>
              <a:t>causam</a:t>
            </a:r>
            <a:r>
              <a:rPr dirty="0"/>
              <a:t> </a:t>
            </a:r>
            <a:r>
              <a:rPr dirty="0" err="1"/>
              <a:t>perdas</a:t>
            </a:r>
            <a:r>
              <a:rPr dirty="0"/>
              <a:t> </a:t>
            </a:r>
            <a:r>
              <a:rPr dirty="0" err="1"/>
              <a:t>significativas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culturas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Resistência</a:t>
            </a:r>
            <a:r>
              <a:rPr dirty="0"/>
              <a:t> </a:t>
            </a:r>
            <a:r>
              <a:rPr dirty="0" err="1"/>
              <a:t>crescente</a:t>
            </a:r>
            <a:r>
              <a:rPr dirty="0"/>
              <a:t> a </a:t>
            </a:r>
            <a:r>
              <a:rPr dirty="0" err="1"/>
              <a:t>toxinas</a:t>
            </a:r>
            <a:r>
              <a:rPr dirty="0"/>
              <a:t> </a:t>
            </a:r>
            <a:r>
              <a:rPr dirty="0" err="1"/>
              <a:t>Bt</a:t>
            </a:r>
            <a:r>
              <a:rPr dirty="0"/>
              <a:t> e </a:t>
            </a:r>
            <a:r>
              <a:rPr dirty="0" err="1"/>
              <a:t>inseticidas</a:t>
            </a:r>
            <a:r>
              <a:rPr dirty="0"/>
              <a:t> </a:t>
            </a:r>
            <a:r>
              <a:rPr dirty="0" err="1"/>
              <a:t>químicos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estratégias</a:t>
            </a:r>
            <a:r>
              <a:rPr dirty="0"/>
              <a:t> </a:t>
            </a:r>
            <a:r>
              <a:rPr dirty="0" err="1"/>
              <a:t>complementares</a:t>
            </a:r>
            <a:r>
              <a:rPr dirty="0"/>
              <a:t> de </a:t>
            </a:r>
            <a:r>
              <a:rPr dirty="0" err="1"/>
              <a:t>controle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Estratégia Alternativa — Inibidores de Proteases Digestivas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Tripsinas</a:t>
            </a:r>
            <a:r>
              <a:rPr dirty="0"/>
              <a:t>: </a:t>
            </a:r>
            <a:r>
              <a:rPr dirty="0" err="1"/>
              <a:t>enzimas</a:t>
            </a:r>
            <a:r>
              <a:rPr dirty="0"/>
              <a:t> </a:t>
            </a:r>
            <a:r>
              <a:rPr dirty="0" err="1"/>
              <a:t>centrais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digestão</a:t>
            </a:r>
            <a:r>
              <a:rPr dirty="0"/>
              <a:t> de </a:t>
            </a:r>
            <a:r>
              <a:rPr dirty="0" err="1"/>
              <a:t>proteínas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larvas</a:t>
            </a:r>
            <a:r>
              <a:rPr dirty="0"/>
              <a:t> de Lepidoptera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Inibidores</a:t>
            </a:r>
            <a:r>
              <a:rPr dirty="0"/>
              <a:t> de proteases = </a:t>
            </a:r>
            <a:r>
              <a:rPr dirty="0" err="1"/>
              <a:t>bloqueio</a:t>
            </a:r>
            <a:r>
              <a:rPr dirty="0"/>
              <a:t> </a:t>
            </a:r>
            <a:r>
              <a:rPr dirty="0" err="1"/>
              <a:t>direto</a:t>
            </a:r>
            <a:r>
              <a:rPr dirty="0"/>
              <a:t> da </a:t>
            </a:r>
            <a:r>
              <a:rPr dirty="0" err="1"/>
              <a:t>fisiologia</a:t>
            </a:r>
            <a:r>
              <a:rPr dirty="0"/>
              <a:t> </a:t>
            </a:r>
            <a:r>
              <a:rPr dirty="0" err="1"/>
              <a:t>digestiva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Precedente</a:t>
            </a:r>
            <a:r>
              <a:rPr dirty="0"/>
              <a:t> natural: </a:t>
            </a:r>
            <a:r>
              <a:rPr dirty="0" err="1"/>
              <a:t>inibidores</a:t>
            </a:r>
            <a:r>
              <a:rPr dirty="0"/>
              <a:t> Kunitz/BPTI (</a:t>
            </a:r>
            <a:r>
              <a:rPr dirty="0" err="1"/>
              <a:t>comprovados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literatura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Atividade</a:t>
            </a:r>
            <a:r>
              <a:rPr dirty="0"/>
              <a:t> real </a:t>
            </a:r>
            <a:r>
              <a:rPr dirty="0" err="1"/>
              <a:t>documentada</a:t>
            </a:r>
            <a:r>
              <a:rPr dirty="0"/>
              <a:t>: </a:t>
            </a:r>
            <a:r>
              <a:rPr dirty="0" err="1"/>
              <a:t>inibição</a:t>
            </a:r>
            <a:r>
              <a:rPr dirty="0"/>
              <a:t> tight-binding + </a:t>
            </a:r>
            <a:r>
              <a:rPr dirty="0" err="1"/>
              <a:t>sinergia</a:t>
            </a:r>
            <a:r>
              <a:rPr dirty="0"/>
              <a:t> com </a:t>
            </a:r>
            <a:r>
              <a:rPr dirty="0" err="1"/>
              <a:t>Bt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Lacuna do Projeto — Design Computacional de Novos Peptídeos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0992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Inibidores</a:t>
            </a:r>
            <a:r>
              <a:rPr dirty="0"/>
              <a:t> </a:t>
            </a:r>
            <a:r>
              <a:rPr dirty="0" err="1"/>
              <a:t>naturais</a:t>
            </a:r>
            <a:r>
              <a:rPr dirty="0"/>
              <a:t> </a:t>
            </a:r>
            <a:r>
              <a:rPr dirty="0" err="1"/>
              <a:t>enfrentam</a:t>
            </a:r>
            <a:r>
              <a:rPr dirty="0"/>
              <a:t> </a:t>
            </a:r>
            <a:r>
              <a:rPr dirty="0" err="1"/>
              <a:t>limitações</a:t>
            </a:r>
            <a:r>
              <a:rPr dirty="0"/>
              <a:t>: </a:t>
            </a:r>
            <a:r>
              <a:rPr dirty="0" err="1"/>
              <a:t>suscetibilidade</a:t>
            </a:r>
            <a:r>
              <a:rPr dirty="0"/>
              <a:t> a </a:t>
            </a:r>
            <a:r>
              <a:rPr dirty="0" err="1"/>
              <a:t>clivagem</a:t>
            </a:r>
            <a:r>
              <a:rPr dirty="0"/>
              <a:t> </a:t>
            </a:r>
            <a:r>
              <a:rPr dirty="0" err="1"/>
              <a:t>proteolítica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IA </a:t>
            </a:r>
            <a:r>
              <a:rPr dirty="0" err="1"/>
              <a:t>generativa</a:t>
            </a:r>
            <a:r>
              <a:rPr dirty="0"/>
              <a:t> para design de </a:t>
            </a:r>
            <a:r>
              <a:rPr dirty="0" err="1"/>
              <a:t>proteínas</a:t>
            </a:r>
            <a:r>
              <a:rPr dirty="0"/>
              <a:t> </a:t>
            </a:r>
            <a:r>
              <a:rPr dirty="0" err="1"/>
              <a:t>abre</a:t>
            </a:r>
            <a:r>
              <a:rPr dirty="0"/>
              <a:t> </a:t>
            </a:r>
            <a:r>
              <a:rPr dirty="0" err="1"/>
              <a:t>alternativa</a:t>
            </a:r>
            <a:r>
              <a:rPr dirty="0"/>
              <a:t>: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peptídeos</a:t>
            </a:r>
            <a:r>
              <a:rPr dirty="0"/>
              <a:t> </a:t>
            </a:r>
            <a:r>
              <a:rPr dirty="0" err="1"/>
              <a:t>inéditos</a:t>
            </a:r>
            <a:r>
              <a:rPr dirty="0"/>
              <a:t> </a:t>
            </a:r>
            <a:r>
              <a:rPr dirty="0" err="1"/>
              <a:t>computacionalmente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rigorosa</a:t>
            </a:r>
            <a:r>
              <a:rPr dirty="0"/>
              <a:t> in silico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(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escore</a:t>
            </a:r>
            <a:r>
              <a:rPr dirty="0"/>
              <a:t> </a:t>
            </a:r>
            <a:r>
              <a:rPr dirty="0" err="1"/>
              <a:t>estático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reprodutivelmente</a:t>
            </a:r>
            <a:r>
              <a:rPr dirty="0"/>
              <a:t> </a:t>
            </a:r>
            <a:r>
              <a:rPr dirty="0" err="1"/>
              <a:t>estáveis</a:t>
            </a:r>
            <a:r>
              <a:rPr dirty="0"/>
              <a:t> + </a:t>
            </a:r>
            <a:r>
              <a:rPr dirty="0" err="1"/>
              <a:t>específicos</a:t>
            </a:r>
            <a:r>
              <a:rPr dirty="0"/>
              <a:t> + </a:t>
            </a:r>
            <a:r>
              <a:rPr dirty="0" err="1"/>
              <a:t>resistentes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Pipeline Multiagente —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10 agentes especializados orquestrando fluxo end-to-end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Etapas: geração de backbones → design de sequência → docking → dinâmica molecular → análise integrada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RFdiffusion &amp; ProteinMPNN — Geração de Candidatos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RFdiffusion</a:t>
            </a:r>
            <a:r>
              <a:rPr dirty="0"/>
              <a:t>** (Yang et al. 2024): </a:t>
            </a:r>
            <a:r>
              <a:rPr dirty="0" err="1"/>
              <a:t>geração</a:t>
            </a:r>
            <a:r>
              <a:rPr dirty="0"/>
              <a:t> de novo de </a:t>
            </a:r>
            <a:r>
              <a:rPr dirty="0" err="1"/>
              <a:t>estruturas</a:t>
            </a:r>
            <a:r>
              <a:rPr dirty="0"/>
              <a:t> </a:t>
            </a:r>
            <a:r>
              <a:rPr dirty="0" err="1"/>
              <a:t>peptídicas</a:t>
            </a:r>
            <a:r>
              <a:rPr dirty="0"/>
              <a:t> </a:t>
            </a:r>
            <a:r>
              <a:rPr dirty="0" err="1"/>
              <a:t>ancoradas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sítio</a:t>
            </a:r>
            <a:r>
              <a:rPr dirty="0"/>
              <a:t> </a:t>
            </a:r>
            <a:r>
              <a:rPr dirty="0" err="1"/>
              <a:t>catalítico</a:t>
            </a:r>
            <a:r>
              <a:rPr dirty="0"/>
              <a:t> → **330 backbones reais**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ProteinMPNN</a:t>
            </a:r>
            <a:r>
              <a:rPr dirty="0"/>
              <a:t>** (</a:t>
            </a:r>
            <a:r>
              <a:rPr dirty="0" err="1"/>
              <a:t>Dauparas</a:t>
            </a:r>
            <a:r>
              <a:rPr dirty="0"/>
              <a:t> et al. 2023): design de </a:t>
            </a:r>
            <a:r>
              <a:rPr dirty="0" err="1"/>
              <a:t>sequência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backbone → **24.513 </a:t>
            </a:r>
            <a:r>
              <a:rPr dirty="0" err="1"/>
              <a:t>peptídeos</a:t>
            </a:r>
            <a:r>
              <a:rPr dirty="0"/>
              <a:t> de 20 aa** (+ </a:t>
            </a:r>
            <a:r>
              <a:rPr dirty="0" err="1"/>
              <a:t>variantes</a:t>
            </a:r>
            <a:r>
              <a:rPr dirty="0"/>
              <a:t> </a:t>
            </a:r>
            <a:r>
              <a:rPr dirty="0" err="1"/>
              <a:t>curtas</a:t>
            </a:r>
            <a:r>
              <a:rPr dirty="0"/>
              <a:t> 5–7 aa)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Filtros</a:t>
            </a:r>
            <a:r>
              <a:rPr dirty="0"/>
              <a:t> </a:t>
            </a:r>
            <a:r>
              <a:rPr dirty="0" err="1"/>
              <a:t>iniciais</a:t>
            </a:r>
            <a:r>
              <a:rPr dirty="0"/>
              <a:t>: </a:t>
            </a:r>
            <a:r>
              <a:rPr dirty="0" err="1"/>
              <a:t>compatibilidade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com </a:t>
            </a:r>
            <a:r>
              <a:rPr dirty="0" err="1"/>
              <a:t>sítio</a:t>
            </a:r>
            <a:r>
              <a:rPr dirty="0"/>
              <a:t>, </a:t>
            </a:r>
            <a:r>
              <a:rPr dirty="0" err="1"/>
              <a:t>ausência</a:t>
            </a:r>
            <a:r>
              <a:rPr dirty="0"/>
              <a:t> de P1-internos </a:t>
            </a:r>
            <a:r>
              <a:rPr dirty="0" err="1"/>
              <a:t>óbvios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Validação In Silico — Docking + Dinâmica Molecular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4708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**Docking molecular (</a:t>
            </a:r>
            <a:r>
              <a:rPr dirty="0" err="1"/>
              <a:t>AutoDock</a:t>
            </a:r>
            <a:r>
              <a:rPr dirty="0"/>
              <a:t> Vina)** → 880 poses </a:t>
            </a:r>
            <a:r>
              <a:rPr dirty="0" err="1"/>
              <a:t>válidas</a:t>
            </a:r>
            <a:r>
              <a:rPr dirty="0"/>
              <a:t> contra ACR157 (receptor </a:t>
            </a:r>
            <a:r>
              <a:rPr dirty="0" err="1"/>
              <a:t>primário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Dinâmica</a:t>
            </a:r>
            <a:r>
              <a:rPr dirty="0"/>
              <a:t> molecular (GROMACS, CHARMM36 + </a:t>
            </a:r>
            <a:r>
              <a:rPr dirty="0" err="1"/>
              <a:t>CGenFF</a:t>
            </a:r>
            <a:r>
              <a:rPr dirty="0"/>
              <a:t>)** → replica real n=3 (100 ns </a:t>
            </a:r>
            <a:r>
              <a:rPr dirty="0" err="1"/>
              <a:t>cada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Métricas</a:t>
            </a:r>
            <a:r>
              <a:rPr dirty="0"/>
              <a:t>: RMSD (</a:t>
            </a:r>
            <a:r>
              <a:rPr dirty="0" err="1"/>
              <a:t>estabilidade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), </a:t>
            </a:r>
            <a:r>
              <a:rPr dirty="0" err="1"/>
              <a:t>ocupância</a:t>
            </a:r>
            <a:r>
              <a:rPr dirty="0"/>
              <a:t> do </a:t>
            </a:r>
            <a:r>
              <a:rPr dirty="0" err="1"/>
              <a:t>sítio</a:t>
            </a:r>
            <a:r>
              <a:rPr dirty="0"/>
              <a:t> S1 (</a:t>
            </a:r>
            <a:r>
              <a:rPr dirty="0" err="1"/>
              <a:t>persistência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Replica-to-replica </a:t>
            </a:r>
            <a:r>
              <a:rPr dirty="0" err="1"/>
              <a:t>concordância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reprodutibilidade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Critérios Reais — Estabilidade, Especificidade, Resistência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6420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Estabilidade</a:t>
            </a:r>
            <a:r>
              <a:rPr dirty="0"/>
              <a:t> </a:t>
            </a:r>
            <a:r>
              <a:rPr dirty="0" err="1"/>
              <a:t>reprodutível</a:t>
            </a:r>
            <a:r>
              <a:rPr dirty="0"/>
              <a:t>**: RMSD &lt; 0,05 nm DP entre 3 </a:t>
            </a:r>
            <a:r>
              <a:rPr dirty="0" err="1"/>
              <a:t>réplicas</a:t>
            </a:r>
            <a:r>
              <a:rPr dirty="0"/>
              <a:t> (n=13 TOP-13)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Especificidade</a:t>
            </a:r>
            <a:r>
              <a:rPr dirty="0"/>
              <a:t>**: </a:t>
            </a:r>
            <a:r>
              <a:rPr dirty="0" err="1"/>
              <a:t>Seletividade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(SI) ≥ 2,0 kcal/mol vs. </a:t>
            </a:r>
            <a:r>
              <a:rPr dirty="0" err="1"/>
              <a:t>tripsina</a:t>
            </a:r>
            <a:r>
              <a:rPr dirty="0"/>
              <a:t> humana + *Apis mellifera* (</a:t>
            </a:r>
            <a:r>
              <a:rPr dirty="0" err="1"/>
              <a:t>não-alvos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Resistência</a:t>
            </a:r>
            <a:r>
              <a:rPr dirty="0"/>
              <a:t> </a:t>
            </a:r>
            <a:r>
              <a:rPr dirty="0" err="1"/>
              <a:t>proteolítica</a:t>
            </a:r>
            <a:r>
              <a:rPr dirty="0"/>
              <a:t>**: </a:t>
            </a:r>
            <a:r>
              <a:rPr dirty="0" err="1"/>
              <a:t>ausência</a:t>
            </a:r>
            <a:r>
              <a:rPr dirty="0"/>
              <a:t> de P1-internos </a:t>
            </a:r>
            <a:r>
              <a:rPr dirty="0" err="1"/>
              <a:t>básicos</a:t>
            </a:r>
            <a:r>
              <a:rPr dirty="0"/>
              <a:t> </a:t>
            </a:r>
            <a:r>
              <a:rPr dirty="0" err="1"/>
              <a:t>reconhecíveis</a:t>
            </a:r>
            <a:r>
              <a:rPr dirty="0"/>
              <a:t> (K/R) — </a:t>
            </a:r>
            <a:r>
              <a:rPr dirty="0" err="1"/>
              <a:t>proteção</a:t>
            </a:r>
            <a:r>
              <a:rPr dirty="0"/>
              <a:t> vs. </a:t>
            </a:r>
            <a:r>
              <a:rPr dirty="0" err="1"/>
              <a:t>autoclivagem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**Cross-species**: </a:t>
            </a:r>
            <a:r>
              <a:rPr dirty="0" err="1"/>
              <a:t>afinidade</a:t>
            </a:r>
            <a:r>
              <a:rPr dirty="0"/>
              <a:t> </a:t>
            </a:r>
            <a:r>
              <a:rPr dirty="0" err="1"/>
              <a:t>mantida</a:t>
            </a:r>
            <a:r>
              <a:rPr dirty="0"/>
              <a:t> contra 11 </a:t>
            </a:r>
            <a:r>
              <a:rPr dirty="0" err="1"/>
              <a:t>espécies-praga</a:t>
            </a:r>
            <a:r>
              <a:rPr dirty="0"/>
              <a:t> de Lepidoptera (</a:t>
            </a:r>
            <a:r>
              <a:rPr dirty="0" err="1"/>
              <a:t>amplo</a:t>
            </a:r>
            <a:r>
              <a:rPr dirty="0"/>
              <a:t> </a:t>
            </a:r>
            <a:r>
              <a:rPr dirty="0" err="1"/>
              <a:t>espectro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Estruturas-Alvo &amp; Sítio Catalítico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72184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**4 </a:t>
            </a:r>
            <a:r>
              <a:rPr dirty="0" err="1"/>
              <a:t>receptores</a:t>
            </a:r>
            <a:r>
              <a:rPr dirty="0"/>
              <a:t> </a:t>
            </a:r>
            <a:r>
              <a:rPr dirty="0" err="1"/>
              <a:t>primários</a:t>
            </a:r>
            <a:r>
              <a:rPr dirty="0"/>
              <a:t>**: ACR157, QCL936, XP273, XP352 (</a:t>
            </a:r>
            <a:r>
              <a:rPr dirty="0" err="1"/>
              <a:t>tripsinas</a:t>
            </a:r>
            <a:r>
              <a:rPr dirty="0"/>
              <a:t> de Lepidoptera)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Tríade</a:t>
            </a:r>
            <a:r>
              <a:rPr dirty="0"/>
              <a:t> </a:t>
            </a:r>
            <a:r>
              <a:rPr dirty="0" err="1"/>
              <a:t>catalítica</a:t>
            </a:r>
            <a:r>
              <a:rPr dirty="0"/>
              <a:t> </a:t>
            </a:r>
            <a:r>
              <a:rPr dirty="0" err="1"/>
              <a:t>conservada</a:t>
            </a:r>
            <a:r>
              <a:rPr dirty="0"/>
              <a:t>: His–Asp–Ser (</a:t>
            </a:r>
            <a:r>
              <a:rPr dirty="0" err="1"/>
              <a:t>posição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, </a:t>
            </a:r>
            <a:r>
              <a:rPr dirty="0" err="1"/>
              <a:t>verificada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Bolso</a:t>
            </a:r>
            <a:r>
              <a:rPr dirty="0"/>
              <a:t> de </a:t>
            </a:r>
            <a:r>
              <a:rPr dirty="0" err="1"/>
              <a:t>especificidade</a:t>
            </a:r>
            <a:r>
              <a:rPr dirty="0"/>
              <a:t> S1: </a:t>
            </a:r>
            <a:r>
              <a:rPr dirty="0" err="1"/>
              <a:t>resíduo</a:t>
            </a:r>
            <a:r>
              <a:rPr dirty="0"/>
              <a:t> Asp </a:t>
            </a:r>
            <a:r>
              <a:rPr dirty="0" err="1"/>
              <a:t>em</a:t>
            </a:r>
            <a:r>
              <a:rPr dirty="0"/>
              <a:t> 3 </a:t>
            </a:r>
            <a:r>
              <a:rPr dirty="0" err="1"/>
              <a:t>receptores</a:t>
            </a:r>
            <a:r>
              <a:rPr dirty="0"/>
              <a:t> (XP273: Tyr </a:t>
            </a:r>
            <a:r>
              <a:rPr dirty="0" err="1"/>
              <a:t>atípico</a:t>
            </a:r>
            <a:r>
              <a:rPr dirty="0"/>
              <a:t>, </a:t>
            </a:r>
            <a:r>
              <a:rPr dirty="0" err="1"/>
              <a:t>documentado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Protocolo MD &amp; Análise de Persistência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68249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Dinâmica</a:t>
            </a:r>
            <a:r>
              <a:rPr dirty="0"/>
              <a:t> molecular: GROMACS + CHARMM36/CGenFF5.0, ensemble NPT, 100 ns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réplica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persistência</a:t>
            </a:r>
            <a:r>
              <a:rPr dirty="0"/>
              <a:t>: </a:t>
            </a:r>
            <a:r>
              <a:rPr dirty="0" err="1"/>
              <a:t>ocupância</a:t>
            </a:r>
            <a:r>
              <a:rPr dirty="0"/>
              <a:t> do </a:t>
            </a:r>
            <a:r>
              <a:rPr dirty="0" err="1"/>
              <a:t>complexo</a:t>
            </a:r>
            <a:r>
              <a:rPr dirty="0"/>
              <a:t> </a:t>
            </a:r>
            <a:r>
              <a:rPr dirty="0" err="1"/>
              <a:t>peptídeo</a:t>
            </a:r>
            <a:r>
              <a:rPr dirty="0"/>
              <a:t>-receptor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raios</a:t>
            </a:r>
            <a:r>
              <a:rPr dirty="0"/>
              <a:t> 4 Å / 5 Å / 6 Å vs. </a:t>
            </a:r>
            <a:r>
              <a:rPr dirty="0" err="1"/>
              <a:t>resíduo</a:t>
            </a:r>
            <a:r>
              <a:rPr dirty="0"/>
              <a:t> </a:t>
            </a:r>
            <a:r>
              <a:rPr dirty="0" err="1"/>
              <a:t>âncora</a:t>
            </a:r>
            <a:r>
              <a:rPr dirty="0"/>
              <a:t> (Asp P1 </a:t>
            </a:r>
            <a:r>
              <a:rPr dirty="0" err="1"/>
              <a:t>bolso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Métrica</a:t>
            </a:r>
            <a:r>
              <a:rPr dirty="0"/>
              <a:t>: % de frames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peptídeo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do </a:t>
            </a:r>
            <a:r>
              <a:rPr dirty="0" err="1"/>
              <a:t>raio</a:t>
            </a:r>
            <a:r>
              <a:rPr dirty="0"/>
              <a:t> (</a:t>
            </a:r>
            <a:r>
              <a:rPr dirty="0" err="1"/>
              <a:t>indicador</a:t>
            </a:r>
            <a:r>
              <a:rPr dirty="0"/>
              <a:t> de </a:t>
            </a:r>
            <a:r>
              <a:rPr dirty="0" err="1"/>
              <a:t>permanência</a:t>
            </a:r>
            <a:r>
              <a:rPr dirty="0"/>
              <a:t> real no </a:t>
            </a:r>
            <a:r>
              <a:rPr dirty="0" err="1"/>
              <a:t>sítio</a:t>
            </a:r>
            <a:r>
              <a:rPr dirty="0"/>
              <a:t> </a:t>
            </a:r>
            <a:r>
              <a:rPr dirty="0" err="1"/>
              <a:t>catalítico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Especificidade Cross-Species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Docking contra 11 </a:t>
            </a:r>
            <a:r>
              <a:rPr dirty="0" err="1"/>
              <a:t>espécies-praga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: *D. </a:t>
            </a:r>
            <a:r>
              <a:rPr dirty="0" err="1"/>
              <a:t>saccharalis</a:t>
            </a:r>
            <a:r>
              <a:rPr dirty="0"/>
              <a:t>*, *H. virescens*, *C. </a:t>
            </a:r>
            <a:r>
              <a:rPr dirty="0" err="1"/>
              <a:t>includens</a:t>
            </a:r>
            <a:r>
              <a:rPr dirty="0"/>
              <a:t>*, etc. (</a:t>
            </a:r>
            <a:r>
              <a:rPr dirty="0" err="1"/>
              <a:t>receptores</a:t>
            </a:r>
            <a:r>
              <a:rPr dirty="0"/>
              <a:t> reais de </a:t>
            </a:r>
            <a:r>
              <a:rPr dirty="0" err="1"/>
              <a:t>literatura</a:t>
            </a:r>
            <a:r>
              <a:rPr dirty="0"/>
              <a:t>/</a:t>
            </a:r>
            <a:r>
              <a:rPr dirty="0" err="1"/>
              <a:t>UniProt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Métrica</a:t>
            </a:r>
            <a:r>
              <a:rPr dirty="0"/>
              <a:t>: </a:t>
            </a:r>
            <a:r>
              <a:rPr dirty="0" err="1"/>
              <a:t>Seletividade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(SI) = Vina(</a:t>
            </a:r>
            <a:r>
              <a:rPr dirty="0" err="1"/>
              <a:t>não-alvo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) − Vina(</a:t>
            </a:r>
            <a:r>
              <a:rPr dirty="0" err="1"/>
              <a:t>alvo</a:t>
            </a:r>
            <a:r>
              <a:rPr dirty="0"/>
              <a:t> </a:t>
            </a:r>
            <a:r>
              <a:rPr dirty="0" err="1"/>
              <a:t>primário</a:t>
            </a:r>
            <a:r>
              <a:rPr dirty="0"/>
              <a:t>) — </a:t>
            </a:r>
            <a:r>
              <a:rPr dirty="0" err="1"/>
              <a:t>valores</a:t>
            </a:r>
            <a:r>
              <a:rPr dirty="0"/>
              <a:t> ≥ 2,0 kcal/mol = </a:t>
            </a:r>
            <a:r>
              <a:rPr dirty="0" err="1"/>
              <a:t>especificidade</a:t>
            </a:r>
            <a:r>
              <a:rPr dirty="0"/>
              <a:t> </a:t>
            </a:r>
            <a:r>
              <a:rPr dirty="0" err="1"/>
              <a:t>confirmada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Cross-species: </a:t>
            </a:r>
            <a:r>
              <a:rPr dirty="0" err="1"/>
              <a:t>afinidade</a:t>
            </a:r>
            <a:r>
              <a:rPr dirty="0"/>
              <a:t> </a:t>
            </a:r>
            <a:r>
              <a:rPr dirty="0" err="1"/>
              <a:t>mantida</a:t>
            </a:r>
            <a:r>
              <a:rPr dirty="0"/>
              <a:t> contra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praga</a:t>
            </a:r>
            <a:r>
              <a:rPr dirty="0"/>
              <a:t> (</a:t>
            </a:r>
            <a:r>
              <a:rPr dirty="0" err="1"/>
              <a:t>requisito</a:t>
            </a:r>
            <a:r>
              <a:rPr dirty="0"/>
              <a:t> R3)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Overview dos Candidatos — Fingerprint dos 5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TOP-5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reprodutibilidade</a:t>
            </a:r>
            <a:r>
              <a:rPr dirty="0"/>
              <a:t> + </a:t>
            </a:r>
            <a:r>
              <a:rPr dirty="0" err="1"/>
              <a:t>persistência</a:t>
            </a:r>
            <a:r>
              <a:rPr dirty="0"/>
              <a:t>: SRTRR, VRYRR, VRRPR, HRPRRPR, HRPRRSR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Síntese</a:t>
            </a:r>
            <a:r>
              <a:rPr dirty="0"/>
              <a:t> de </a:t>
            </a:r>
            <a:r>
              <a:rPr dirty="0" err="1"/>
              <a:t>métricas</a:t>
            </a:r>
            <a:r>
              <a:rPr dirty="0"/>
              <a:t>: RMSD </a:t>
            </a:r>
            <a:r>
              <a:rPr dirty="0" err="1"/>
              <a:t>médio</a:t>
            </a:r>
            <a:r>
              <a:rPr dirty="0"/>
              <a:t>, </a:t>
            </a:r>
            <a:r>
              <a:rPr dirty="0" err="1"/>
              <a:t>ocupância</a:t>
            </a:r>
            <a:r>
              <a:rPr dirty="0"/>
              <a:t> S1 @ 6 Å, SI </a:t>
            </a:r>
            <a:r>
              <a:rPr dirty="0" err="1"/>
              <a:t>mínimo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Contato</a:t>
            </a:r>
            <a:r>
              <a:rPr dirty="0"/>
              <a:t> com </a:t>
            </a:r>
            <a:r>
              <a:rPr dirty="0" err="1"/>
              <a:t>tríade</a:t>
            </a:r>
            <a:r>
              <a:rPr dirty="0"/>
              <a:t> </a:t>
            </a:r>
            <a:r>
              <a:rPr dirty="0" err="1"/>
              <a:t>catalítica</a:t>
            </a:r>
            <a:r>
              <a:rPr dirty="0"/>
              <a:t>: </a:t>
            </a:r>
            <a:r>
              <a:rPr dirty="0" err="1"/>
              <a:t>verificado</a:t>
            </a:r>
            <a:r>
              <a:rPr dirty="0"/>
              <a:t> via PLIP (</a:t>
            </a:r>
            <a:r>
              <a:rPr dirty="0" err="1"/>
              <a:t>interações</a:t>
            </a:r>
            <a:r>
              <a:rPr dirty="0"/>
              <a:t> reais)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4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2468880" cy="13578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Reprodutibilidade MD — Réplicas Reais (n=3)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00784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TOP-13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rodados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triplicate (rep1, rep2, rep3, </a:t>
            </a:r>
            <a:r>
              <a:rPr dirty="0" err="1"/>
              <a:t>sementes</a:t>
            </a:r>
            <a:r>
              <a:rPr dirty="0"/>
              <a:t> -1)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Achado-chave</a:t>
            </a:r>
            <a:r>
              <a:rPr dirty="0"/>
              <a:t>**: 2 '</a:t>
            </a:r>
            <a:r>
              <a:rPr dirty="0" err="1"/>
              <a:t>recordistas</a:t>
            </a:r>
            <a:r>
              <a:rPr dirty="0"/>
              <a:t> de </a:t>
            </a:r>
            <a:r>
              <a:rPr dirty="0" err="1"/>
              <a:t>estabilidade</a:t>
            </a:r>
            <a:r>
              <a:rPr dirty="0"/>
              <a:t>' de </a:t>
            </a:r>
            <a:r>
              <a:rPr dirty="0" err="1"/>
              <a:t>réplica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(RLREELKKAEEWLEKRRKEE 0,294 nm; VRTRR 0,194 nm) </a:t>
            </a:r>
            <a:r>
              <a:rPr dirty="0" err="1"/>
              <a:t>mostraram</a:t>
            </a:r>
            <a:r>
              <a:rPr dirty="0"/>
              <a:t> DP real de 0,606 nm e 0,360 nm — </a:t>
            </a:r>
            <a:r>
              <a:rPr dirty="0" err="1"/>
              <a:t>resultado</a:t>
            </a:r>
            <a:r>
              <a:rPr dirty="0"/>
              <a:t> NÃO </a:t>
            </a:r>
            <a:r>
              <a:rPr dirty="0" err="1"/>
              <a:t>reprodutível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Apenas</a:t>
            </a:r>
            <a:r>
              <a:rPr dirty="0"/>
              <a:t> 4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confirmam</a:t>
            </a:r>
            <a:r>
              <a:rPr dirty="0"/>
              <a:t> </a:t>
            </a:r>
            <a:r>
              <a:rPr dirty="0" err="1"/>
              <a:t>estabilidade</a:t>
            </a:r>
            <a:r>
              <a:rPr dirty="0"/>
              <a:t> real** (DP &lt; 0,05 nm): SRTRR, VRYRR, VRRPR, HRPRRPR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Conclusão</a:t>
            </a:r>
            <a:r>
              <a:rPr dirty="0"/>
              <a:t>: </a:t>
            </a:r>
            <a:r>
              <a:rPr dirty="0" err="1"/>
              <a:t>estabilidade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réplica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confiável</a:t>
            </a:r>
            <a:r>
              <a:rPr dirty="0"/>
              <a:t> </a:t>
            </a:r>
            <a:r>
              <a:rPr dirty="0" err="1"/>
              <a:t>isoladamente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replicas_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24688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Persistência de Contato — Ocupância do Bolso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8249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ocupância</a:t>
            </a:r>
            <a:r>
              <a:rPr dirty="0"/>
              <a:t>: % de frames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peptídeo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no </a:t>
            </a:r>
            <a:r>
              <a:rPr dirty="0" err="1"/>
              <a:t>bolso</a:t>
            </a:r>
            <a:r>
              <a:rPr dirty="0"/>
              <a:t> S1 (</a:t>
            </a:r>
            <a:r>
              <a:rPr dirty="0" err="1"/>
              <a:t>raios</a:t>
            </a:r>
            <a:r>
              <a:rPr dirty="0"/>
              <a:t> 4/5/6 Å)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**VRRPR </a:t>
            </a:r>
            <a:r>
              <a:rPr dirty="0" err="1"/>
              <a:t>paradoxo</a:t>
            </a:r>
            <a:r>
              <a:rPr dirty="0"/>
              <a:t>**: RMSD global </a:t>
            </a:r>
            <a:r>
              <a:rPr dirty="0" err="1"/>
              <a:t>estável</a:t>
            </a:r>
            <a:r>
              <a:rPr dirty="0"/>
              <a:t> (0,268 nm, DP 0,01 nm), MAS </a:t>
            </a:r>
            <a:r>
              <a:rPr dirty="0" err="1"/>
              <a:t>ocupância</a:t>
            </a:r>
            <a:r>
              <a:rPr dirty="0"/>
              <a:t> a 6 Å </a:t>
            </a:r>
            <a:r>
              <a:rPr dirty="0" err="1"/>
              <a:t>cai</a:t>
            </a:r>
            <a:r>
              <a:rPr dirty="0"/>
              <a:t> </a:t>
            </a:r>
            <a:r>
              <a:rPr dirty="0" err="1"/>
              <a:t>dramáticamente</a:t>
            </a:r>
            <a:r>
              <a:rPr dirty="0"/>
              <a:t> entre </a:t>
            </a:r>
            <a:r>
              <a:rPr dirty="0" err="1"/>
              <a:t>réplicas</a:t>
            </a:r>
            <a:r>
              <a:rPr dirty="0"/>
              <a:t> (67,6% → 32,9% → 0,15%)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**VRYRR </a:t>
            </a:r>
            <a:r>
              <a:rPr dirty="0" err="1"/>
              <a:t>destaque</a:t>
            </a:r>
            <a:r>
              <a:rPr dirty="0"/>
              <a:t>**: </a:t>
            </a:r>
            <a:r>
              <a:rPr dirty="0" err="1"/>
              <a:t>ocupância</a:t>
            </a:r>
            <a:r>
              <a:rPr dirty="0"/>
              <a:t> ~100% </a:t>
            </a:r>
            <a:r>
              <a:rPr dirty="0" err="1"/>
              <a:t>mesmo</a:t>
            </a:r>
            <a:r>
              <a:rPr dirty="0"/>
              <a:t> no corte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estrito</a:t>
            </a:r>
            <a:r>
              <a:rPr dirty="0"/>
              <a:t> (4 Å), salt-bridge real (Lys-Asp) </a:t>
            </a:r>
            <a:r>
              <a:rPr dirty="0" err="1"/>
              <a:t>nas</a:t>
            </a:r>
            <a:r>
              <a:rPr dirty="0"/>
              <a:t> 3 </a:t>
            </a:r>
            <a:r>
              <a:rPr dirty="0" err="1"/>
              <a:t>réplicas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Conclusão</a:t>
            </a:r>
            <a:r>
              <a:rPr dirty="0"/>
              <a:t>: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variância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≠ </a:t>
            </a:r>
            <a:r>
              <a:rPr dirty="0" err="1"/>
              <a:t>permanência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no </a:t>
            </a:r>
            <a:r>
              <a:rPr dirty="0" err="1"/>
              <a:t>sítio</a:t>
            </a:r>
            <a:r>
              <a:rPr dirty="0"/>
              <a:t> </a:t>
            </a:r>
            <a:r>
              <a:rPr dirty="0" err="1"/>
              <a:t>catalítico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ocupancia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2468880" cy="16047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SRTRR — Candidato de Referência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Sequência: SRTRR (5 aa, comprimento ótimo)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RMSD: 0,2425 nm (DP 0,0178 nm) — estável reprodutível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Vina: −10,31 kcal/mol (ACR157)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Ocupância S1 @ 6 Å: ~80% (persistência confirmada)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SI mínimo: 1,17 kcal/mol (margem de especificidade)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VRYRR — Melhor em Especificidade &amp; Persistência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837944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Sequência</a:t>
            </a:r>
            <a:r>
              <a:rPr dirty="0"/>
              <a:t>: VRYRR (5 aa)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RMSD: 0,1985 nm (DP 0,0134 nm) —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estável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Vina: −10,22 kcal/mol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Ocupância</a:t>
            </a:r>
            <a:r>
              <a:rPr dirty="0"/>
              <a:t> S1 @ 4 Å: ~100%** — salt-bridge Lys(</a:t>
            </a:r>
            <a:r>
              <a:rPr dirty="0" err="1"/>
              <a:t>peptídeo</a:t>
            </a:r>
            <a:r>
              <a:rPr dirty="0"/>
              <a:t>)–Asp187(</a:t>
            </a:r>
            <a:r>
              <a:rPr dirty="0" err="1"/>
              <a:t>bolso</a:t>
            </a:r>
            <a:r>
              <a:rPr dirty="0"/>
              <a:t>) </a:t>
            </a:r>
            <a:r>
              <a:rPr dirty="0" err="1"/>
              <a:t>nas</a:t>
            </a:r>
            <a:r>
              <a:rPr dirty="0"/>
              <a:t> 3 </a:t>
            </a:r>
            <a:r>
              <a:rPr dirty="0" err="1"/>
              <a:t>réplicas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SI </a:t>
            </a:r>
            <a:r>
              <a:rPr dirty="0" err="1"/>
              <a:t>mínimo</a:t>
            </a:r>
            <a:r>
              <a:rPr dirty="0"/>
              <a:t>: 0,92 kcal/mol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HRPRRPR — Afinidade Excelente, 7 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0817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Sequência</a:t>
            </a:r>
            <a:r>
              <a:rPr dirty="0"/>
              <a:t>: HRPRRPR (7 aa)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RMSD: 0,2659 nm (DP 0,0181 nm) — </a:t>
            </a:r>
            <a:r>
              <a:rPr dirty="0" err="1"/>
              <a:t>estável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Vina: −11,72 kcal/mol (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afinidade</a:t>
            </a:r>
            <a:r>
              <a:rPr dirty="0"/>
              <a:t> do TOP-13)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Ocupância</a:t>
            </a:r>
            <a:r>
              <a:rPr dirty="0"/>
              <a:t> S1 @ 6 Å: ~75%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SI </a:t>
            </a:r>
            <a:r>
              <a:rPr dirty="0" err="1"/>
              <a:t>mínimo</a:t>
            </a:r>
            <a:r>
              <a:rPr dirty="0"/>
              <a:t>: 1,41 kcal/mol (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especificidade</a:t>
            </a:r>
            <a:r>
              <a:rPr dirty="0"/>
              <a:t> entre 7 aa)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Matriz Cross-Species — 13 Candidatos × 11 Espécies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Docking contra 11 espécies-praga adicionais (verificação de amplo espectro)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**143 dockings reais** executados (13 × 11 matriz completa)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Colormap heatmap: azul claro (afinidade fraca) → azul escuro (afinidade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Candidatos reordenados por média Vina geral (mais negativos = mais eficazes)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3_cross_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2468880" cy="16833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Bloqueadores Atuais — Especificidade &amp; Resistência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0992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Especificidade</a:t>
            </a:r>
            <a:r>
              <a:rPr dirty="0"/>
              <a:t>**: 0/23 </a:t>
            </a: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aprovados</a:t>
            </a:r>
            <a:r>
              <a:rPr dirty="0"/>
              <a:t> (SI ≥ 2,0 kcal/mol) — </a:t>
            </a:r>
            <a:r>
              <a:rPr dirty="0" err="1"/>
              <a:t>margem</a:t>
            </a:r>
            <a:r>
              <a:rPr dirty="0"/>
              <a:t> de </a:t>
            </a:r>
            <a:r>
              <a:rPr dirty="0" err="1"/>
              <a:t>seletividade</a:t>
            </a:r>
            <a:r>
              <a:rPr dirty="0"/>
              <a:t> </a:t>
            </a:r>
            <a:r>
              <a:rPr dirty="0" err="1"/>
              <a:t>insuficiente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não-alvos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Resistência</a:t>
            </a:r>
            <a:r>
              <a:rPr dirty="0"/>
              <a:t> </a:t>
            </a:r>
            <a:r>
              <a:rPr dirty="0" err="1"/>
              <a:t>proteolítica</a:t>
            </a:r>
            <a:r>
              <a:rPr dirty="0"/>
              <a:t>**: 0/20 top-20 </a:t>
            </a:r>
            <a:r>
              <a:rPr dirty="0" err="1"/>
              <a:t>resistentes</a:t>
            </a:r>
            <a:r>
              <a:rPr dirty="0"/>
              <a:t> a </a:t>
            </a:r>
            <a:r>
              <a:rPr dirty="0" err="1"/>
              <a:t>autoclivagem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P1-internos </a:t>
            </a:r>
            <a:r>
              <a:rPr dirty="0" err="1"/>
              <a:t>básicos</a:t>
            </a:r>
            <a:r>
              <a:rPr dirty="0"/>
              <a:t> (K/R)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Candidato</a:t>
            </a:r>
            <a:r>
              <a:rPr dirty="0"/>
              <a:t> SEEEVLAANEAYAAAHTAYN: </a:t>
            </a:r>
            <a:r>
              <a:rPr dirty="0" err="1"/>
              <a:t>ausência</a:t>
            </a:r>
            <a:r>
              <a:rPr dirty="0"/>
              <a:t> de P1-internos (</a:t>
            </a:r>
            <a:r>
              <a:rPr dirty="0" err="1"/>
              <a:t>resistência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real), MAS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margem</a:t>
            </a:r>
            <a:r>
              <a:rPr dirty="0"/>
              <a:t> de </a:t>
            </a:r>
            <a:r>
              <a:rPr dirty="0" err="1"/>
              <a:t>especificidade</a:t>
            </a:r>
            <a:r>
              <a:rPr dirty="0"/>
              <a:t> </a:t>
            </a:r>
            <a:r>
              <a:rPr dirty="0" err="1"/>
              <a:t>comprovada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Ambos </a:t>
            </a:r>
            <a:r>
              <a:rPr dirty="0" err="1"/>
              <a:t>bloqueadores</a:t>
            </a:r>
            <a:r>
              <a:rPr dirty="0"/>
              <a:t> </a:t>
            </a:r>
            <a:r>
              <a:rPr dirty="0" err="1"/>
              <a:t>precisam</a:t>
            </a:r>
            <a:r>
              <a:rPr dirty="0"/>
              <a:t> ser </a:t>
            </a:r>
            <a:r>
              <a:rPr dirty="0" err="1"/>
              <a:t>resolvidos</a:t>
            </a:r>
            <a:r>
              <a:rPr dirty="0"/>
              <a:t> </a:t>
            </a:r>
            <a:r>
              <a:rPr dirty="0" err="1"/>
              <a:t>simultaneamente</a:t>
            </a:r>
            <a:r>
              <a:rPr dirty="0"/>
              <a:t> para </a:t>
            </a:r>
            <a:r>
              <a:rPr dirty="0" err="1"/>
              <a:t>aprovação</a:t>
            </a:r>
            <a:r>
              <a:rPr dirty="0"/>
              <a:t> de </a:t>
            </a:r>
            <a:r>
              <a:rPr dirty="0" err="1"/>
              <a:t>síntese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Achado-Chave — Por Que Reprodutibilidade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46504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VRRPR </a:t>
            </a:r>
            <a:r>
              <a:rPr dirty="0" err="1"/>
              <a:t>demonstra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estabilidade</a:t>
            </a:r>
            <a:r>
              <a:rPr dirty="0"/>
              <a:t> global (RMSD </a:t>
            </a:r>
            <a:r>
              <a:rPr dirty="0" err="1"/>
              <a:t>baixo</a:t>
            </a:r>
            <a:r>
              <a:rPr dirty="0"/>
              <a:t>)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mascarar</a:t>
            </a:r>
            <a:r>
              <a:rPr dirty="0"/>
              <a:t>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local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Sem </a:t>
            </a:r>
            <a:r>
              <a:rPr dirty="0" err="1"/>
              <a:t>réplicas</a:t>
            </a:r>
            <a:r>
              <a:rPr dirty="0"/>
              <a:t> </a:t>
            </a:r>
            <a:r>
              <a:rPr dirty="0" err="1"/>
              <a:t>independentes</a:t>
            </a:r>
            <a:r>
              <a:rPr dirty="0"/>
              <a:t>,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candidato</a:t>
            </a:r>
            <a:r>
              <a:rPr dirty="0"/>
              <a:t> seria </a:t>
            </a:r>
            <a:r>
              <a:rPr dirty="0" err="1"/>
              <a:t>classificado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'</a:t>
            </a:r>
            <a:r>
              <a:rPr dirty="0" err="1"/>
              <a:t>estável</a:t>
            </a:r>
            <a:r>
              <a:rPr dirty="0"/>
              <a:t>' e </a:t>
            </a:r>
            <a:r>
              <a:rPr dirty="0" err="1"/>
              <a:t>potencialmente</a:t>
            </a:r>
            <a:r>
              <a:rPr dirty="0"/>
              <a:t> </a:t>
            </a:r>
            <a:r>
              <a:rPr dirty="0" err="1"/>
              <a:t>sintetizado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cruzada</a:t>
            </a:r>
            <a:r>
              <a:rPr dirty="0"/>
              <a:t> (n=3) </a:t>
            </a:r>
            <a:r>
              <a:rPr dirty="0" err="1"/>
              <a:t>revelou</a:t>
            </a:r>
            <a:r>
              <a:rPr dirty="0"/>
              <a:t> </a:t>
            </a:r>
            <a:r>
              <a:rPr dirty="0" err="1"/>
              <a:t>ocupância</a:t>
            </a:r>
            <a:r>
              <a:rPr dirty="0"/>
              <a:t> P1 </a:t>
            </a:r>
            <a:r>
              <a:rPr dirty="0" err="1"/>
              <a:t>colapsando</a:t>
            </a:r>
            <a:r>
              <a:rPr dirty="0"/>
              <a:t> de 67,6% para 0,15% entre </a:t>
            </a:r>
            <a:r>
              <a:rPr dirty="0" err="1"/>
              <a:t>réplicas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Lição</a:t>
            </a:r>
            <a:r>
              <a:rPr dirty="0"/>
              <a:t> </a:t>
            </a:r>
            <a:r>
              <a:rPr dirty="0" err="1"/>
              <a:t>metodológica</a:t>
            </a:r>
            <a:r>
              <a:rPr dirty="0"/>
              <a:t>**: </a:t>
            </a:r>
            <a:r>
              <a:rPr dirty="0" err="1"/>
              <a:t>réplicas</a:t>
            </a:r>
            <a:r>
              <a:rPr dirty="0"/>
              <a:t> in silico = </a:t>
            </a:r>
            <a:r>
              <a:rPr dirty="0" err="1"/>
              <a:t>essencial</a:t>
            </a:r>
            <a:r>
              <a:rPr dirty="0"/>
              <a:t> antes de </a:t>
            </a:r>
            <a:r>
              <a:rPr dirty="0" err="1"/>
              <a:t>síntese</a:t>
            </a:r>
            <a:r>
              <a:rPr dirty="0"/>
              <a:t> experimental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Conclusões — Metodologia Rigorosa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Pipeline </a:t>
            </a:r>
            <a:r>
              <a:rPr dirty="0" err="1"/>
              <a:t>multiagente</a:t>
            </a:r>
            <a:r>
              <a:rPr dirty="0"/>
              <a:t> </a:t>
            </a:r>
            <a:r>
              <a:rPr dirty="0" err="1"/>
              <a:t>integrou</a:t>
            </a:r>
            <a:r>
              <a:rPr dirty="0"/>
              <a:t> IA </a:t>
            </a:r>
            <a:r>
              <a:rPr dirty="0" err="1"/>
              <a:t>generativa</a:t>
            </a:r>
            <a:r>
              <a:rPr dirty="0"/>
              <a:t>, </a:t>
            </a:r>
            <a:r>
              <a:rPr dirty="0" err="1"/>
              <a:t>dinâmica</a:t>
            </a:r>
            <a:r>
              <a:rPr dirty="0"/>
              <a:t> molecular e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cruzada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**330 backbones + 120k+ </a:t>
            </a:r>
            <a:r>
              <a:rPr dirty="0" err="1"/>
              <a:t>sequências</a:t>
            </a:r>
            <a:r>
              <a:rPr dirty="0"/>
              <a:t>** </a:t>
            </a:r>
            <a:r>
              <a:rPr dirty="0" err="1"/>
              <a:t>reduzidas</a:t>
            </a:r>
            <a:r>
              <a:rPr dirty="0"/>
              <a:t> a TOP-13 pela </a:t>
            </a:r>
            <a:r>
              <a:rPr dirty="0" err="1"/>
              <a:t>reprodutibilidade</a:t>
            </a:r>
            <a:r>
              <a:rPr dirty="0"/>
              <a:t>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Tríade</a:t>
            </a:r>
            <a:r>
              <a:rPr dirty="0"/>
              <a:t> </a:t>
            </a:r>
            <a:r>
              <a:rPr dirty="0" err="1"/>
              <a:t>catalítica</a:t>
            </a:r>
            <a:r>
              <a:rPr dirty="0"/>
              <a:t> </a:t>
            </a:r>
            <a:r>
              <a:rPr dirty="0" err="1"/>
              <a:t>verificada</a:t>
            </a:r>
            <a:r>
              <a:rPr dirty="0"/>
              <a:t> </a:t>
            </a:r>
            <a:r>
              <a:rPr dirty="0" err="1"/>
              <a:t>independentemente</a:t>
            </a:r>
            <a:r>
              <a:rPr dirty="0"/>
              <a:t> (bug real </a:t>
            </a:r>
            <a:r>
              <a:rPr dirty="0" err="1"/>
              <a:t>detectado</a:t>
            </a:r>
            <a:r>
              <a:rPr dirty="0"/>
              <a:t> + </a:t>
            </a:r>
            <a:r>
              <a:rPr dirty="0" err="1"/>
              <a:t>corrigido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H. virescens)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Cada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computacional</a:t>
            </a:r>
            <a:r>
              <a:rPr dirty="0"/>
              <a:t> </a:t>
            </a:r>
            <a:r>
              <a:rPr dirty="0" err="1"/>
              <a:t>submetida</a:t>
            </a:r>
            <a:r>
              <a:rPr dirty="0"/>
              <a:t> a </a:t>
            </a:r>
            <a:r>
              <a:rPr dirty="0" err="1"/>
              <a:t>validação</a:t>
            </a:r>
            <a:r>
              <a:rPr dirty="0"/>
              <a:t> </a:t>
            </a:r>
            <a:r>
              <a:rPr dirty="0" err="1"/>
              <a:t>cruzada</a:t>
            </a:r>
            <a:r>
              <a:rPr dirty="0"/>
              <a:t> (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opcional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 err="1"/>
              <a:t>Candidatos</a:t>
            </a:r>
            <a:r>
              <a:rPr dirty="0"/>
              <a:t> </a:t>
            </a:r>
            <a:r>
              <a:rPr dirty="0" err="1"/>
              <a:t>reprodutivelmente</a:t>
            </a:r>
            <a:r>
              <a:rPr dirty="0"/>
              <a:t> </a:t>
            </a:r>
            <a:r>
              <a:rPr dirty="0" err="1"/>
              <a:t>estáveis</a:t>
            </a:r>
            <a:r>
              <a:rPr dirty="0"/>
              <a:t>: SRTRR, VRYRR, VRRPR, HRPRRPR (base </a:t>
            </a:r>
            <a:r>
              <a:rPr dirty="0" err="1"/>
              <a:t>sólida</a:t>
            </a:r>
            <a:r>
              <a:rPr dirty="0"/>
              <a:t> para </a:t>
            </a:r>
            <a:r>
              <a:rPr dirty="0" err="1"/>
              <a:t>síntese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**Curto </a:t>
            </a:r>
            <a:r>
              <a:rPr dirty="0" err="1"/>
              <a:t>prazo</a:t>
            </a:r>
            <a:r>
              <a:rPr dirty="0"/>
              <a:t>**: </a:t>
            </a:r>
            <a:r>
              <a:rPr dirty="0" err="1"/>
              <a:t>resolução</a:t>
            </a:r>
            <a:r>
              <a:rPr dirty="0"/>
              <a:t> </a:t>
            </a:r>
            <a:r>
              <a:rPr dirty="0" err="1"/>
              <a:t>simultânea</a:t>
            </a:r>
            <a:r>
              <a:rPr dirty="0"/>
              <a:t> de </a:t>
            </a:r>
            <a:r>
              <a:rPr dirty="0" err="1"/>
              <a:t>especificidade</a:t>
            </a:r>
            <a:r>
              <a:rPr dirty="0"/>
              <a:t> (SI ≥ 2,0) e </a:t>
            </a:r>
            <a:r>
              <a:rPr dirty="0" err="1"/>
              <a:t>resistência</a:t>
            </a:r>
            <a:r>
              <a:rPr dirty="0"/>
              <a:t> </a:t>
            </a:r>
            <a:r>
              <a:rPr dirty="0" err="1"/>
              <a:t>proteolítica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</a:t>
            </a:r>
            <a:r>
              <a:rPr dirty="0" err="1"/>
              <a:t>Médio</a:t>
            </a:r>
            <a:r>
              <a:rPr dirty="0"/>
              <a:t> </a:t>
            </a:r>
            <a:r>
              <a:rPr dirty="0" err="1"/>
              <a:t>prazo</a:t>
            </a:r>
            <a:r>
              <a:rPr dirty="0"/>
              <a:t>**: </a:t>
            </a:r>
            <a:r>
              <a:rPr dirty="0" err="1"/>
              <a:t>síntese</a:t>
            </a:r>
            <a:r>
              <a:rPr dirty="0"/>
              <a:t> </a:t>
            </a:r>
            <a:r>
              <a:rPr dirty="0" err="1"/>
              <a:t>química</a:t>
            </a:r>
            <a:r>
              <a:rPr dirty="0"/>
              <a:t> e </a:t>
            </a:r>
            <a:r>
              <a:rPr dirty="0" err="1"/>
              <a:t>validação</a:t>
            </a:r>
            <a:r>
              <a:rPr dirty="0"/>
              <a:t> experimental (</a:t>
            </a:r>
            <a:r>
              <a:rPr dirty="0" err="1"/>
              <a:t>bioensaios</a:t>
            </a:r>
            <a:r>
              <a:rPr dirty="0"/>
              <a:t> contra </a:t>
            </a:r>
            <a:r>
              <a:rPr dirty="0" err="1"/>
              <a:t>tripsinas</a:t>
            </a:r>
            <a:r>
              <a:rPr dirty="0"/>
              <a:t> reais)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**Longo </a:t>
            </a:r>
            <a:r>
              <a:rPr dirty="0" err="1"/>
              <a:t>prazo</a:t>
            </a:r>
            <a:r>
              <a:rPr dirty="0"/>
              <a:t>**: </a:t>
            </a:r>
            <a:r>
              <a:rPr dirty="0" err="1"/>
              <a:t>otimização</a:t>
            </a:r>
            <a:r>
              <a:rPr dirty="0"/>
              <a:t> contra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espécies-praga</a:t>
            </a:r>
            <a:r>
              <a:rPr dirty="0"/>
              <a:t> + </a:t>
            </a:r>
            <a:r>
              <a:rPr dirty="0" err="1"/>
              <a:t>formação</a:t>
            </a:r>
            <a:r>
              <a:rPr dirty="0"/>
              <a:t> de </a:t>
            </a:r>
            <a:r>
              <a:rPr dirty="0" err="1"/>
              <a:t>adjuvantes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Calibração da Escada de Scoring (B0.5) — Fechada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6 inibidores reais (BPTI, SFTI-1, SKTI, Bowman-Birk, EcTI, ApTI) + 10 decoys, 2 receptores (tripsina bovina real + S. frugiperda)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Boltz-2 (confidence/pLDDT): separa real de decoy em 10/10 pares — único método validado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RMSD de MD curta (2ns, complexo inteiro): 5/10 — equivalente a acaso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MM-PBSA (GB, trajetória única): 4/10 — PIOR que acaso (decoy vence por até +144,8 kcal/mol)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Decisão do usuário: loop de contrasseleção (B2.7) usa apenas Boltz-2 como scorer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B1.4 — Mapeamento Real dos Subsítios S1-S4/S1'-S3'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Substitui heurística quebrada (offset sistemático +15/16 resíduos em 8/9 espécies)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P1 de BPTI/SFTI-1 achado por geometria real em complexos cristalográficos reais (2PTC, 1SFI)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Transferência para os 9 receptores via foldseek TMalign — equivalência estrutural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Resultado: 18/18 espécie×template aprovados (TMscore ~0,95, RMSD ~1,3Å)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Validação cruzada: 100% de concordância com método independente anterior (offset de sequência)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Pivô: Geração por Difusão contra Lepidoptera (em andamento)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Pausa temporária da linha de contrasseleção (painel negativo/seletividade) — foco em potência ampla contra o painel de 7 pragas-alvo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Trilha A: macrociclo via RFdiffusion cíclico, ancorado nos hotspots reais de B1.4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Piloto técnico validado ponta-a-ponta (fechamento N-C real ~1,3Å, ProteinMPNN funcionando)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Campanha real em andamento: 7 espécies × 5 comprimentos (8-16aa) × 10 designs = 350 backbones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Próximo passo: triagem dos candidatos gerados via Boltz-2 (único scorer validado)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05840"/>
            <a:ext cx="2468880" cy="4572000"/>
          </a:xfrm>
          <a:prstGeom prst="rect">
            <a:avLst/>
          </a:prstGeom>
          <a:solidFill>
            <a:srgbClr val="E6E6E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1350</Words>
  <Application>Microsoft Office PowerPoint</Application>
  <PresentationFormat>Apresentação na tela (4:3)</PresentationFormat>
  <Paragraphs>102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Eulalio Santos</cp:lastModifiedBy>
  <cp:revision>2</cp:revision>
  <dcterms:created xsi:type="dcterms:W3CDTF">2013-01-27T09:14:16Z</dcterms:created>
  <dcterms:modified xsi:type="dcterms:W3CDTF">2026-07-22T00:57:46Z</dcterms:modified>
  <cp:category/>
</cp:coreProperties>
</file>