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B3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B2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74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Design Racional de Inibidores Peptídicos de Tripsinas de</a:t>
            </a:r>
            <a:br/>
            <a:r>
              <a:t>Lepidoptera por IA Generativa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0" i="1">
                <a:solidFill>
                  <a:srgbClr val="E8A33D"/>
                </a:solidFill>
                <a:latin typeface="Calibri"/>
              </a:defRPr>
            </a:pPr>
            <a:r>
              <a:t>Estado do projeto — Universidade Federal de Viçosa (UFV) |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 i="0">
                <a:solidFill>
                  <a:srgbClr val="0B2B3C"/>
                </a:solidFill>
                <a:latin typeface="Calibri"/>
              </a:defRPr>
            </a:pPr>
            <a:r>
              <a:t>Lepidópteros-Praga e o Limite dos Métodos Atuais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Spodoptera frugiperda, Anticarsia gemmatalis e espécies afins causam perdas agrícolas expressivas em culturas de importância econômica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Resistência crescente a toxinas Bt e a inseticidas químicos convencionais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Necessidade real de estratégias complementares de controle, atuando sobre outros alvos fisiológicos do inseto</a:t>
            </a:r>
          </a:p>
        </p:txBody>
      </p:sp>
      <p:pic>
        <p:nvPicPr>
          <p:cNvPr id="5" name="Picture 4" descr="02_contexto_problema.png"/>
          <p:cNvPicPr>
            <a:picLocks noChangeAspect="1"/>
          </p:cNvPicPr>
          <p:nvPr/>
        </p:nvPicPr>
        <p:blipFill>
          <a:blip r:embed="rId2"/>
          <a:srcRect l="17978" r="17978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6400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 i="0">
                <a:solidFill>
                  <a:srgbClr val="0B2B3C"/>
                </a:solidFill>
                <a:latin typeface="Calibri"/>
              </a:defRPr>
            </a:pPr>
            <a:r>
              <a:t>Inibidores de Tripsina como Alvo Terapêutico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9659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Tripsinas digestivas: enzimas centrais na digestão proteica de larvas de Lepidoptera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Inibidores naturais tipo Kunitz/BPTI já têm efeito real documentado sobre sobrevivência larval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Limitações recorrentes: suscetibilidade à autoclivagem e falta de especificidade real frente a organismos não-alvo</a:t>
            </a:r>
          </a:p>
        </p:txBody>
      </p:sp>
      <p:pic>
        <p:nvPicPr>
          <p:cNvPr id="5" name="Picture 4" descr="03_contexto_estrategia.png"/>
          <p:cNvPicPr>
            <a:picLocks noChangeAspect="1"/>
          </p:cNvPicPr>
          <p:nvPr/>
        </p:nvPicPr>
        <p:blipFill>
          <a:blip r:embed="rId2"/>
          <a:srcRect l="17978" r="17978"/>
          <a:stretch>
            <a:fillRect/>
          </a:stretch>
        </p:blipFill>
        <p:spPr>
          <a:xfrm>
            <a:off x="0" y="0"/>
            <a:ext cx="588233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Objetivo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2200" b="0" i="0">
                <a:solidFill>
                  <a:srgbClr val="E7F0EF"/>
                </a:solidFill>
                <a:latin typeface="Calibri"/>
              </a:defRPr>
            </a:pPr>
            <a:r>
              <a:t>Desenvolver, por um pipeline computacional multiagente, peptídeos inibidores de tripsinas de Lepidoptera-praga — com validação real em cada etapa, não apenas escore de docking estático — evoluindo de um design linear inicial para geração generativa por difusão estrutural, ancorada em geometria real do sítio catalítico.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E7F0EF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E7F0E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 i="0">
                <a:solidFill>
                  <a:srgbClr val="0B2B3C"/>
                </a:solidFill>
                <a:latin typeface="Calibri"/>
              </a:defRPr>
            </a:pPr>
            <a:r>
              <a:t>Pipeline Computacional Multiagente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Geração estrutural de backbones peptídicos (RFdiffusion)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Desenho de sequência sobre o backbone (ProteinMPNN)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Refinamento de interface (Rosetta) e docking/scoring (Vina, Boltz-2)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Validação: dinâmica molecular real, especificidade vs. não-alvos, resistência proteolítica in silico</a:t>
            </a:r>
          </a:p>
        </p:txBody>
      </p:sp>
      <p:pic>
        <p:nvPicPr>
          <p:cNvPr id="5" name="Picture 4" descr="04_metodologia_pipeline.png"/>
          <p:cNvPicPr>
            <a:picLocks noChangeAspect="1"/>
          </p:cNvPicPr>
          <p:nvPr/>
        </p:nvPicPr>
        <p:blipFill>
          <a:blip r:embed="rId2"/>
          <a:srcRect l="26063" r="26063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6400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000" b="1" i="0">
                <a:solidFill>
                  <a:srgbClr val="0B2B3C"/>
                </a:solidFill>
                <a:latin typeface="Calibri"/>
              </a:defRPr>
            </a:pPr>
            <a:r>
              <a:t>Painel de Alvos &amp; Calibração da Escada de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9659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7 espécies-alvo com especificidade tripsina confirmada por geometria estrutural real (S. frugiperda, S. litura, O. nubilalis, D. saccharalis, C. includens, H. virescens, P. xylostella)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Escada de scoring calibrada contra 6 inibidores reais bem caracterizados (BPTI, SFTI-1, SKTI, Bowman-Birk, EcTI, ApTI) + decoys pareados</a:t>
            </a:r>
          </a:p>
        </p:txBody>
      </p:sp>
      <p:pic>
        <p:nvPicPr>
          <p:cNvPr id="5" name="Picture 4" descr="05_painel_alvos.png"/>
          <p:cNvPicPr>
            <a:picLocks noChangeAspect="1"/>
          </p:cNvPicPr>
          <p:nvPr/>
        </p:nvPicPr>
        <p:blipFill>
          <a:blip r:embed="rId2"/>
          <a:srcRect l="26063" r="26063"/>
          <a:stretch>
            <a:fillRect/>
          </a:stretch>
        </p:blipFill>
        <p:spPr>
          <a:xfrm>
            <a:off x="0" y="0"/>
            <a:ext cx="588233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700" b="1" i="0">
                <a:solidFill>
                  <a:srgbClr val="0B2B3C"/>
                </a:solidFill>
                <a:latin typeface="Calibri"/>
              </a:defRPr>
            </a:pPr>
            <a:r>
              <a:t>Qual Método Realmente Discrimina Inibidor Real de Decoy?</a:t>
            </a:r>
          </a:p>
        </p:txBody>
      </p:sp>
      <p:pic>
        <p:nvPicPr>
          <p:cNvPr id="4" name="Picture 3" descr="figA_calibracao_b05_esc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93744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53912"/>
            <a:ext cx="49374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1">
                <a:solidFill>
                  <a:srgbClr val="555F61"/>
                </a:solidFill>
                <a:latin typeface="Calibri"/>
              </a:defRPr>
            </a:pPr>
            <a:r>
              <a:t>Figura: dado real do projeto (não gerado por IA).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1843" y="1737360"/>
            <a:ext cx="57912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0B2B3C"/>
                </a:solidFill>
              </a:defRPr>
            </a:pPr>
            <a:r>
              <a:t>›  Boltz-2 (confidence/pLDDT): 10/10 — único método validado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0B2B3C"/>
                </a:solidFill>
              </a:defRPr>
            </a:pPr>
            <a:r>
              <a:t>›  RMSD de MD curta (2ns, complexo inteiro): 5/10 — equivalente a acaso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0B2B3C"/>
                </a:solidFill>
              </a:defRPr>
            </a:pPr>
            <a:r>
              <a:t>›  MM-PBSA (trajetória única): 4/10 — pior que acaso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0B2B3C"/>
                </a:solidFill>
              </a:defRPr>
            </a:pPr>
            <a:r>
              <a:t>›  Decisão: o loop de geração usa apenas Boltz-2 como scorer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700" b="1" i="0">
                <a:solidFill>
                  <a:srgbClr val="0B2B3C"/>
                </a:solidFill>
                <a:latin typeface="Calibri"/>
              </a:defRPr>
            </a:pPr>
            <a:r>
              <a:t>Substituindo Heurística por Geometria Estrutural Real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3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2483"/>
                <a:gridCol w="7191756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0B2B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B2B3C"/>
                          </a:solidFill>
                        </a:defRPr>
                      </a:pPr>
                      <a:r>
                        <a:t>Método anterior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B2B3C"/>
                          </a:solidFill>
                        </a:defRPr>
                      </a:pPr>
                      <a:r>
                        <a:t>Heurística de sequência (offset), com bug sistemático em 8/9 espécies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B2B3C"/>
                          </a:solidFill>
                        </a:defRPr>
                      </a:pPr>
                      <a:r>
                        <a:t>Método novo (B1.4)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B2B3C"/>
                          </a:solidFill>
                        </a:defRPr>
                      </a:pPr>
                      <a:r>
                        <a:t>Contato real em complexos cristalográficos (2PTC, 1SFI) + equivalência estrutural (foldseek TMalign)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B2B3C"/>
                          </a:solidFill>
                        </a:defRPr>
                      </a:pPr>
                      <a:r>
                        <a:t>Combinações espécie×template aprovadas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B2B3C"/>
                          </a:solidFill>
                        </a:defRPr>
                      </a:pPr>
                      <a:r>
                        <a:t>18/18 (TMscore 0,946–0,957; RMSD 1,18–1,41 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B2B3C"/>
                          </a:solidFill>
                        </a:defRPr>
                      </a:pPr>
                      <a:r>
                        <a:t>Resíduos de subsítio transferidos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B2B3C"/>
                          </a:solidFill>
                        </a:defRPr>
                      </a:pPr>
                      <a:r>
                        <a:t>100% em todas as espécies</a:t>
                      </a:r>
                    </a:p>
                  </a:txBody>
                  <a:tcPr>
                    <a:solidFill>
                      <a:srgbClr val="E7F0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B2B3C"/>
                          </a:solidFill>
                        </a:defRPr>
                      </a:pPr>
                      <a:r>
                        <a:t>Validação cruzada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B2B3C"/>
                          </a:solidFill>
                        </a:defRPr>
                      </a:pPr>
                      <a:r>
                        <a:t>100% de concordância com método independente anterior (offset de sequência)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400" b="0" i="1">
                <a:solidFill>
                  <a:srgbClr val="555F61"/>
                </a:solidFill>
                <a:latin typeface="Calibri"/>
              </a:defRPr>
            </a:pPr>
            <a:r>
              <a:t>Fonte: docs/bench/b14_subsites_reais.md — dado real, dois métodos totalmente independentes convergindo no mesmo resultado.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RESULTADOS — ACHADO CRÍTICO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700" b="1" i="0">
                <a:solidFill>
                  <a:srgbClr val="0B2B3C"/>
                </a:solidFill>
                <a:latin typeface="Calibri"/>
              </a:defRPr>
            </a:pPr>
            <a:r>
              <a:t>Especificidade Real: A Lacuna Mais Importante</a:t>
            </a:r>
          </a:p>
        </p:txBody>
      </p:sp>
      <p:pic>
        <p:nvPicPr>
          <p:cNvPr id="4" name="Picture 3" descr="fig5_especificidade_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43153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53912"/>
            <a:ext cx="5431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1">
                <a:solidFill>
                  <a:srgbClr val="555F61"/>
                </a:solidFill>
                <a:latin typeface="Calibri"/>
              </a:defRPr>
            </a:pPr>
            <a:r>
              <a:t>Figura: dado real do projeto (não gerado por IA).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5936" y="1737360"/>
            <a:ext cx="529711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0B2B3C"/>
                </a:solidFill>
              </a:defRPr>
            </a:pPr>
            <a:r>
              <a:t>›  0/35 candidatos atingem margem de seletividade real (SI ≥ 2,0 kcal/mol) frente a tripsina humana e Apis mellifera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0B2B3C"/>
                </a:solidFill>
              </a:defRPr>
            </a:pPr>
            <a:r>
              <a:t>›  Vários candidatos têm SI negativo — ligam-se de fato melhor ao não-alvo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0B2B3C"/>
                </a:solidFill>
              </a:defRPr>
            </a:pPr>
            <a:r>
              <a:t>›  O bolso S1 da tripsina é estruturalmente conservado entre espécies — problema estrutural, não apenas de otimização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700" b="1" i="0">
                <a:solidFill>
                  <a:srgbClr val="0B2B3C"/>
                </a:solidFill>
                <a:latin typeface="Calibri"/>
              </a:defRPr>
            </a:pPr>
            <a:r>
              <a:t>Reprodutibilidade Importa: Réplicas Reais de Dinâmica Molecular</a:t>
            </a:r>
          </a:p>
        </p:txBody>
      </p:sp>
      <p:pic>
        <p:nvPicPr>
          <p:cNvPr id="4" name="Picture 3" descr="fig1_replicas_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217920" cy="449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1835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000" b="0" i="1">
                <a:solidFill>
                  <a:srgbClr val="555F61"/>
                </a:solidFill>
                <a:latin typeface="Calibri"/>
              </a:defRPr>
            </a:pPr>
            <a:r>
              <a:t>Figura: dado real do projeto (não gerado por IA).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737360"/>
            <a:ext cx="45107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0B2B3C"/>
                </a:solidFill>
              </a:defRPr>
            </a:pPr>
            <a:r>
              <a:t>›  Candidatos "mais estáveis" por réplica única não se confirmam em réplicas independentes (n=3)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0B2B3C"/>
                </a:solidFill>
              </a:defRPr>
            </a:pPr>
            <a:r>
              <a:t>›  Apenas 4 candidatos confirmaram estabilidade reprodutível: SRTRR, VRYRR, VRRPR, HRPRRPR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0B2B3C"/>
                </a:solidFill>
              </a:defRPr>
            </a:pPr>
            <a:r>
              <a:t>›  Lição metodológica central do projeto: réplica única pode enganar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700" b="1" i="0">
                <a:solidFill>
                  <a:srgbClr val="0B2B3C"/>
                </a:solidFill>
                <a:latin typeface="Calibri"/>
              </a:defRPr>
            </a:pPr>
            <a:r>
              <a:t>Pivô Atual — Geração por Difusão (RFdiffusion Cíclico)</a:t>
            </a:r>
          </a:p>
        </p:txBody>
      </p:sp>
      <p:sp>
        <p:nvSpPr>
          <p:cNvPr id="4" name="Rectangle 3"/>
          <p:cNvSpPr/>
          <p:nvPr/>
        </p:nvSpPr>
        <p:spPr>
          <a:xfrm>
            <a:off x="9692640" y="685800"/>
            <a:ext cx="1920240" cy="5029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2B3C"/>
                </a:solidFill>
              </a:defRPr>
            </a:pPr>
            <a:r>
              <a:t>EM ANDAMENTO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Pausa temporária da linha de contrasseleção — foco agora em potência ampla contra o painel de Lepidoptera-praga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Trilha A: macrociclo via RFdiffusion cíclico, ancorado nos hotspots reais de B1.4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Piloto técnico validado ponta a ponta — fechamento N-C real confirmado (~1,3 Å)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Campanha real em execução: 7 espécies × 5 comprimentos (8–16 aa) × 10 designs = 350 backbones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Próximo passo: triagem dos candidatos gerados via Boltz-2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DISCUSSÃO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700" b="1" i="0">
                <a:solidFill>
                  <a:srgbClr val="0B2B3C"/>
                </a:solidFill>
                <a:latin typeface="Calibri"/>
              </a:defRPr>
            </a:pPr>
            <a:r>
              <a:t>O Que Este Projeto Ensina Sobre Rigor Computacional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Escore de docking isolado não basta — precisa de calibração contra controles reais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Réplica única de dinâmica molecular pode enganar; variância real muda conclusões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Heurísticas geométricas podem ter bugs sistemáticos — sempre validar contra estrutura/literatura real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Especificidade deve ser objetivo desde o início do design, não filtro pós-hoc</a:t>
            </a:r>
          </a:p>
        </p:txBody>
      </p:sp>
      <p:pic>
        <p:nvPicPr>
          <p:cNvPr id="5" name="Picture 4" descr="04_metodologia_pipeline.png"/>
          <p:cNvPicPr>
            <a:picLocks noChangeAspect="1"/>
          </p:cNvPicPr>
          <p:nvPr/>
        </p:nvPicPr>
        <p:blipFill>
          <a:blip r:embed="rId2"/>
          <a:srcRect l="26063" r="26063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700" b="1" i="0">
                <a:solidFill>
                  <a:srgbClr val="0B2B3C"/>
                </a:solidFill>
                <a:latin typeface="Calibri"/>
              </a:defRPr>
            </a:pPr>
            <a:r>
              <a:t>Estado Atual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Escada de scoring calibrada: Boltz-2 é o único critério validado até aqui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Geometria real dos subsítios mapeada para todo o painel (B1.4, 18/18 aprovados)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Especificidade real segue como lacuna aberta (0/35 aprovados) — não resolvida, não escondida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Campanha de geração por difusão em andamento, primeiro resultado amplo do V2</a:t>
            </a:r>
          </a:p>
        </p:txBody>
      </p:sp>
      <p:pic>
        <p:nvPicPr>
          <p:cNvPr id="5" name="Picture 4" descr="06_conclusao_futuro.png"/>
          <p:cNvPicPr>
            <a:picLocks noChangeAspect="1"/>
          </p:cNvPicPr>
          <p:nvPr/>
        </p:nvPicPr>
        <p:blipFill>
          <a:blip r:embed="rId2"/>
          <a:srcRect l="26063" r="26063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300" b="1" i="0">
                <a:solidFill>
                  <a:srgbClr val="E8A33D"/>
                </a:solidFill>
                <a:latin typeface="Calibri"/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6400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700" b="1" i="0">
                <a:solidFill>
                  <a:srgbClr val="0B2B3C"/>
                </a:solidFill>
                <a:latin typeface="Calibri"/>
              </a:defRPr>
            </a:pPr>
            <a: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9659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Triar os candidatos da campanha de difusão via Boltz-2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Retomar, em módulo separado, a linha de contrasseleção (painel negativo ampliado)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Avaliar resistência proteolítica dos candidatos mais promissores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700">
                <a:solidFill>
                  <a:srgbClr val="0B2B3C"/>
                </a:solidFill>
              </a:defRPr>
            </a:pPr>
            <a:r>
              <a:t>›  Contato: eulalio.santos@ufv.br — Universidade Federal de Viçosa (UFV)</a:t>
            </a:r>
          </a:p>
        </p:txBody>
      </p:sp>
      <p:pic>
        <p:nvPicPr>
          <p:cNvPr id="5" name="Picture 4" descr="06_conclusao_futuro.png"/>
          <p:cNvPicPr>
            <a:picLocks noChangeAspect="1"/>
          </p:cNvPicPr>
          <p:nvPr/>
        </p:nvPicPr>
        <p:blipFill>
          <a:blip r:embed="rId2"/>
          <a:srcRect l="26063" r="26063"/>
          <a:stretch>
            <a:fillRect/>
          </a:stretch>
        </p:blipFill>
        <p:spPr>
          <a:xfrm>
            <a:off x="0" y="0"/>
            <a:ext cx="588233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Design Racional de Inibidores de Tripsina de Lepidoptera — UFV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defRPr sz="900" b="0" i="0">
                <a:solidFill>
                  <a:srgbClr val="555F61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